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68" r:id="rId2"/>
    <p:sldId id="300" r:id="rId3"/>
    <p:sldId id="324" r:id="rId4"/>
    <p:sldId id="301" r:id="rId5"/>
    <p:sldId id="302" r:id="rId6"/>
    <p:sldId id="325" r:id="rId7"/>
    <p:sldId id="308" r:id="rId8"/>
    <p:sldId id="311" r:id="rId9"/>
    <p:sldId id="326" r:id="rId10"/>
    <p:sldId id="312" r:id="rId11"/>
    <p:sldId id="313" r:id="rId12"/>
    <p:sldId id="315" r:id="rId13"/>
    <p:sldId id="314" r:id="rId14"/>
    <p:sldId id="332" r:id="rId15"/>
    <p:sldId id="333" r:id="rId16"/>
    <p:sldId id="334" r:id="rId17"/>
    <p:sldId id="335" r:id="rId18"/>
    <p:sldId id="336" r:id="rId19"/>
    <p:sldId id="319" r:id="rId20"/>
    <p:sldId id="338" r:id="rId21"/>
    <p:sldId id="320" r:id="rId22"/>
    <p:sldId id="331" r:id="rId23"/>
    <p:sldId id="327" r:id="rId24"/>
    <p:sldId id="337" r:id="rId25"/>
    <p:sldId id="328" r:id="rId26"/>
    <p:sldId id="329" r:id="rId27"/>
    <p:sldId id="330" r:id="rId28"/>
    <p:sldId id="27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61709"/>
            <a:ext cx="5459371" cy="5918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IAM &amp; secret handling</a:t>
            </a:r>
            <a:endParaRPr lang="en-US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7704" y="3767857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- 1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2DE2B3-F441-BAF6-241C-E08CC055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5D87C-909A-3426-0049-8BB604E79CD0}"/>
              </a:ext>
            </a:extLst>
          </p:cNvPr>
          <p:cNvSpPr txBox="1"/>
          <p:nvPr/>
        </p:nvSpPr>
        <p:spPr>
          <a:xfrm>
            <a:off x="450752" y="1342324"/>
            <a:ext cx="11290493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IAM (Identity and Access Management) is Critical: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is critical because it controls who can access what in your system. Without IAM, anyone could potentially access sensitive resources, leading to security breaches.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IAM is not properly configured: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might get access to sensitive systems or data (like financial records).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Mistakes in permissions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could lead to accidental changes or data leaks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9DC16-6ECB-BFD7-8943-5CEF10C47C96}"/>
              </a:ext>
            </a:extLst>
          </p:cNvPr>
          <p:cNvSpPr txBox="1"/>
          <p:nvPr/>
        </p:nvSpPr>
        <p:spPr>
          <a:xfrm>
            <a:off x="3152717" y="514304"/>
            <a:ext cx="6536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IAM &amp; Secret Handling Introduction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368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1DE11A-4A2E-C9DC-FB90-1ED18790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86D74-E4B3-64F5-1721-9481748106B7}"/>
              </a:ext>
            </a:extLst>
          </p:cNvPr>
          <p:cNvSpPr txBox="1"/>
          <p:nvPr/>
        </p:nvSpPr>
        <p:spPr>
          <a:xfrm>
            <a:off x="478789" y="539095"/>
            <a:ext cx="1123442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Secret Handling is Critical: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Secret Handling protects sensitive information (like passwords, API keys, and database credentials) that your system needs to function. Exposing these secrets can result in major security risks.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secrets are mishandled: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could gain access to your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database, APIs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other sensitive systems using exposed credentials.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data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details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passwords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could be compromised.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IAM and Secret Handling are essential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your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ensuring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trusted 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apps can access.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375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B7FC-B919-3151-2812-DDF81088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63DE1-9EBA-004E-DF76-E8F4CD00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79379-A518-533D-24D9-4E07E9A50D60}"/>
              </a:ext>
            </a:extLst>
          </p:cNvPr>
          <p:cNvSpPr txBox="1"/>
          <p:nvPr/>
        </p:nvSpPr>
        <p:spPr>
          <a:xfrm>
            <a:off x="538542" y="947767"/>
            <a:ext cx="11197193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is a framework that defines who can access which resources and what actions they are allowed to perform.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structured way to manage identities and permissions in complex 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verifies the identity of a user or service requesting access.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determines whether the authenticated identity has permission to perform a requested action.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 enforces the principle of least privilege, allowing only the minimum permissions required.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5706E-F63D-A48C-C3C2-D0C83B494CEA}"/>
              </a:ext>
            </a:extLst>
          </p:cNvPr>
          <p:cNvSpPr txBox="1"/>
          <p:nvPr/>
        </p:nvSpPr>
        <p:spPr>
          <a:xfrm>
            <a:off x="2473929" y="175544"/>
            <a:ext cx="7842523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IAM (Identity and Access Management)?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10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1265-F74F-115F-2D86-D8AB8850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9AFEFD-DF7A-06DD-0977-5831827E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B0FEE-21F8-4509-F76F-996E2A60D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4122" b="26548"/>
          <a:stretch>
            <a:fillRect/>
          </a:stretch>
        </p:blipFill>
        <p:spPr>
          <a:xfrm>
            <a:off x="277581" y="2185708"/>
            <a:ext cx="11636837" cy="2872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4A5289-4CF6-8F4F-58F0-31E4950A2F54}"/>
              </a:ext>
            </a:extLst>
          </p:cNvPr>
          <p:cNvSpPr txBox="1"/>
          <p:nvPr/>
        </p:nvSpPr>
        <p:spPr>
          <a:xfrm>
            <a:off x="2473929" y="175544"/>
            <a:ext cx="7842523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IAM Architecture in Kubernetes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42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D2DD7F-7704-6EF4-117F-4769E13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F8DD9-26A7-CA05-DBEC-09805B9F7932}"/>
              </a:ext>
            </a:extLst>
          </p:cNvPr>
          <p:cNvSpPr txBox="1"/>
          <p:nvPr/>
        </p:nvSpPr>
        <p:spPr>
          <a:xfrm>
            <a:off x="400428" y="657781"/>
            <a:ext cx="11242931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Flow: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 user sends a request.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 Kubernetes API Server verifies the user's identity.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 (RBAC)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 system checks if the user has permission to access the requested resource.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Admission controllers enforce additional policies before allowing access.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Resource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 user gains access to the desired Kubernetes resource (Pod, Service, Secret, etc.).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flow ensures that only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right permissions can access or modify Kubernetes resources in a secure and controlled way.</a:t>
            </a:r>
          </a:p>
        </p:txBody>
      </p:sp>
    </p:spTree>
    <p:extLst>
      <p:ext uri="{BB962C8B-B14F-4D97-AF65-F5344CB8AC3E}">
        <p14:creationId xmlns:p14="http://schemas.microsoft.com/office/powerpoint/2010/main" val="3366860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79F9-6F95-1DA6-C0C4-586AB8D9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EBA5C-F1E0-B719-5EC8-AEBA7D9D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605A8-8A94-8AA1-7FAB-AC383E5DC306}"/>
              </a:ext>
            </a:extLst>
          </p:cNvPr>
          <p:cNvSpPr txBox="1"/>
          <p:nvPr/>
        </p:nvSpPr>
        <p:spPr>
          <a:xfrm>
            <a:off x="554435" y="1732382"/>
            <a:ext cx="1108312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answers the question: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“What is the requester allowed to do?”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authentication, Kubernetes evaluates permissions using authorization policies.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supports multiple authorization modes, including RBAC and ABAC.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is the most commonly used and recommended approach.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ensures that users and pods cannot perform unauthorized actions.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5CCCF-0C72-2757-C83F-FF22E484EE02}"/>
              </a:ext>
            </a:extLst>
          </p:cNvPr>
          <p:cNvSpPr txBox="1"/>
          <p:nvPr/>
        </p:nvSpPr>
        <p:spPr>
          <a:xfrm>
            <a:off x="1094663" y="717512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in Kubernetes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278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A4A35-F4AE-A1CC-82B6-0D9C33D3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99D622-AF22-6955-FA3A-7DF33C9D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C0264-A1E2-AB9C-7659-DC86EF1BE9EE}"/>
              </a:ext>
            </a:extLst>
          </p:cNvPr>
          <p:cNvSpPr txBox="1"/>
          <p:nvPr/>
        </p:nvSpPr>
        <p:spPr>
          <a:xfrm>
            <a:off x="1105135" y="63283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RBAC Permission Flow in Kubernetes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4B7F19-5F87-5EC0-AC69-3F4C0C21B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601" b="20328"/>
          <a:stretch>
            <a:fillRect/>
          </a:stretch>
        </p:blipFill>
        <p:spPr>
          <a:xfrm>
            <a:off x="185353" y="1550367"/>
            <a:ext cx="11477350" cy="326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8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A1D0B4-ADDE-C346-FFFA-28696CCEE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F9C27-BAA4-A9A2-5438-29D1DF1A3B84}"/>
              </a:ext>
            </a:extLst>
          </p:cNvPr>
          <p:cNvSpPr txBox="1"/>
          <p:nvPr/>
        </p:nvSpPr>
        <p:spPr>
          <a:xfrm>
            <a:off x="139698" y="247640"/>
            <a:ext cx="11912601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flow :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ServiceAccount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a request.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is matched with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RoleBinding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binds the user/service account to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ClusterRole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ClusterRole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what actions are allowed on specific Kubernetes resources.</a:t>
            </a:r>
          </a:p>
          <a:p>
            <a:pPr lvl="1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or service account is granted access to perform those actions on resources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process ensures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services can access and manipulate resources within the Kubernetes cluster, following the principles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 of duties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2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E7FE-028C-7C87-368E-84818132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3A73CF-1160-E9FC-CC09-C8F6A2E0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80552-20B9-D96C-F446-54D85E4EBE11}"/>
              </a:ext>
            </a:extLst>
          </p:cNvPr>
          <p:cNvSpPr txBox="1"/>
          <p:nvPr/>
        </p:nvSpPr>
        <p:spPr>
          <a:xfrm>
            <a:off x="554435" y="1559817"/>
            <a:ext cx="11083127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applications require sensitive configuration data to function correctly.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database credentials, API keys, and TLS certificates.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such data in plain text configuration files is insecure.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Secrets provide a safer way to store and manage sensitive information.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 help reduce accidental exposure in application manifests.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C4CD5-9E97-4268-57FB-638BF0598784}"/>
              </a:ext>
            </a:extLst>
          </p:cNvPr>
          <p:cNvSpPr txBox="1"/>
          <p:nvPr/>
        </p:nvSpPr>
        <p:spPr>
          <a:xfrm>
            <a:off x="1104823" y="687032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Secrets in Kubernetes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126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DD3F-D660-61E8-FF9C-1BB68FA18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B026E3-D7ED-DBFA-17B3-2FFF90C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53320-45DE-14B7-D44F-82C86DE74054}"/>
              </a:ext>
            </a:extLst>
          </p:cNvPr>
          <p:cNvSpPr txBox="1"/>
          <p:nvPr/>
        </p:nvSpPr>
        <p:spPr>
          <a:xfrm>
            <a:off x="653979" y="1742697"/>
            <a:ext cx="11083127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Secrets are specialized objects designed to hold confidential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stored in Base64-encoded format within the cluster.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 can be referenced by pods without embedding sensitive values in YAML files.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separation improves security and maintainability.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 are still protected by Kubernetes access control mechanisms.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83567-5CB1-7D96-8856-610E4E1F55F5}"/>
              </a:ext>
            </a:extLst>
          </p:cNvPr>
          <p:cNvSpPr txBox="1"/>
          <p:nvPr/>
        </p:nvSpPr>
        <p:spPr>
          <a:xfrm>
            <a:off x="1155623" y="778472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Kubernetes Secrets?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86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D6BEB-CCB9-0F03-A690-D77935E1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6C7BD2-1282-EB2F-F2F7-1202F348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BB246-E9EC-4185-23E9-710EA8EABCE7}"/>
              </a:ext>
            </a:extLst>
          </p:cNvPr>
          <p:cNvSpPr txBox="1"/>
          <p:nvPr/>
        </p:nvSpPr>
        <p:spPr>
          <a:xfrm>
            <a:off x="1155623" y="77432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 Secret Lifecycle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70815-A35A-A8A8-481F-C43A3623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192" b="30715"/>
          <a:stretch>
            <a:fillRect/>
          </a:stretch>
        </p:blipFill>
        <p:spPr>
          <a:xfrm>
            <a:off x="990763" y="729276"/>
            <a:ext cx="10287000" cy="24066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DF8E2C-9579-36C1-A6BD-55BBD3EBCAF4}"/>
              </a:ext>
            </a:extLst>
          </p:cNvPr>
          <p:cNvSpPr txBox="1"/>
          <p:nvPr/>
        </p:nvSpPr>
        <p:spPr>
          <a:xfrm>
            <a:off x="1323917" y="3486587"/>
            <a:ext cx="10170398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 are stored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Kubernetes’ backing data store.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scoped to namespaces for isolation.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 access secrets only if permitted by RBAC.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consumes the secret at runtime.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88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6C7E1-F81A-E350-4B22-480A7F687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36B2-9650-A83D-4D95-A73C2970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CEFE1-EACA-E2AE-1332-1F5C6B165B65}"/>
              </a:ext>
            </a:extLst>
          </p:cNvPr>
          <p:cNvSpPr txBox="1"/>
          <p:nvPr/>
        </p:nvSpPr>
        <p:spPr>
          <a:xfrm>
            <a:off x="613339" y="767337"/>
            <a:ext cx="11083127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Opaque Secrets: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arbitrary key-value pairs, typically used for storing sensitive information like passwords, tokens, or configuration values.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need to store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secrets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application passwords, API tokens, or configuration data) that don't fit into other categories.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there’s no specific structure required for the secret, and it’s just simple key-value pairs.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Storing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password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 tokens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47246-87AB-BAB6-9FC9-2F910D3115F5}"/>
              </a:ext>
            </a:extLst>
          </p:cNvPr>
          <p:cNvSpPr txBox="1"/>
          <p:nvPr/>
        </p:nvSpPr>
        <p:spPr>
          <a:xfrm>
            <a:off x="1155623" y="77432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Kubernetes Secrets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5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01C451-854C-5702-824C-BE259C1D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DF96B-04E1-7524-97A0-F1431FE7DFFA}"/>
              </a:ext>
            </a:extLst>
          </p:cNvPr>
          <p:cNvSpPr txBox="1"/>
          <p:nvPr/>
        </p:nvSpPr>
        <p:spPr>
          <a:xfrm>
            <a:off x="612140" y="650855"/>
            <a:ext cx="110109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application needs to authenticate with an external service, and you store the API key as an opaque secret.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C04B6C-CC35-D611-FEA0-428770D2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33" y="2035336"/>
            <a:ext cx="11630822" cy="345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8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861345-6509-68F1-7A77-34DD2B06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CE44F-BC9A-2540-B5D6-CBBC539D5D62}"/>
              </a:ext>
            </a:extLst>
          </p:cNvPr>
          <p:cNvSpPr txBox="1"/>
          <p:nvPr/>
        </p:nvSpPr>
        <p:spPr>
          <a:xfrm>
            <a:off x="416560" y="498961"/>
            <a:ext cx="1120648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TLS Secrets: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Specifically stores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TLS (Transport Layer Security)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certificates and their corresponding private keys for securing communication (e.g., HTTPS,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need to securely manage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SSL/TLS certificates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private keys for encryption of communication between services or external clients.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cases where Kubernetes components (like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Controllers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need to 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TLS certificates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HTTP connections.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Storing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and 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communication between your application and clients, or between services in your Kubernetes cluster.</a:t>
            </a:r>
          </a:p>
        </p:txBody>
      </p:sp>
    </p:spTree>
    <p:extLst>
      <p:ext uri="{BB962C8B-B14F-4D97-AF65-F5344CB8AC3E}">
        <p14:creationId xmlns:p14="http://schemas.microsoft.com/office/powerpoint/2010/main" val="256976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4DC9E-E372-0550-CF7E-4F56934B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2EB85-EC1A-6F1F-9FB4-F24E7A495CB4}"/>
              </a:ext>
            </a:extLst>
          </p:cNvPr>
          <p:cNvSpPr txBox="1"/>
          <p:nvPr/>
        </p:nvSpPr>
        <p:spPr>
          <a:xfrm>
            <a:off x="400428" y="624116"/>
            <a:ext cx="111616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application that requires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communication, so you store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 certificate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TLS secret.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93EFF-EA44-DE67-6C72-7212B710D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41" y="2228682"/>
            <a:ext cx="8636853" cy="33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24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20FD0-ADFA-F113-0118-DE956C05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42664-DAA1-A5B6-815E-1A5B1C54EB86}"/>
              </a:ext>
            </a:extLst>
          </p:cNvPr>
          <p:cNvSpPr txBox="1"/>
          <p:nvPr/>
        </p:nvSpPr>
        <p:spPr>
          <a:xfrm>
            <a:off x="612140" y="674360"/>
            <a:ext cx="1054354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Docker Registry Secrets: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credentials for accessing private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 image registries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Docker Hub, private container repositories).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need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container images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private registry that requires authentication.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your Kubernetes cluster or its pods need to pull images from private repositories that are not publicly accessible.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Storing Docker Hub login credentials, or credentials for any other private container registry.</a:t>
            </a:r>
          </a:p>
        </p:txBody>
      </p:sp>
    </p:spTree>
    <p:extLst>
      <p:ext uri="{BB962C8B-B14F-4D97-AF65-F5344CB8AC3E}">
        <p14:creationId xmlns:p14="http://schemas.microsoft.com/office/powerpoint/2010/main" val="751255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176355-8893-5477-96A2-05D15F48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16608-9596-A144-FE16-E299E02603E2}"/>
              </a:ext>
            </a:extLst>
          </p:cNvPr>
          <p:cNvSpPr txBox="1"/>
          <p:nvPr/>
        </p:nvSpPr>
        <p:spPr>
          <a:xfrm>
            <a:off x="683260" y="674916"/>
            <a:ext cx="10421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Kubernetes cluster needs to pull a private container image from a Docker registry, so you create a Docker Registry secret with your credentials.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A7DB1-B9DE-F920-7C3C-C59417BB4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98" y="1983501"/>
            <a:ext cx="10072322" cy="3094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BB97B6-F3CD-431B-C3A3-7CF8306246CA}"/>
              </a:ext>
            </a:extLst>
          </p:cNvPr>
          <p:cNvSpPr txBox="1"/>
          <p:nvPr/>
        </p:nvSpPr>
        <p:spPr>
          <a:xfrm>
            <a:off x="1171598" y="5342599"/>
            <a:ext cx="102482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selecting the appropriate </a:t>
            </a:r>
            <a:r>
              <a:rPr lang="en-US" b="1" dirty="0"/>
              <a:t>secret type</a:t>
            </a:r>
            <a:r>
              <a:rPr lang="en-US" dirty="0"/>
              <a:t>, you ensure that the secret is stored securely and in the right format for your use case, improving both </a:t>
            </a:r>
            <a:r>
              <a:rPr lang="en-US" b="1" dirty="0"/>
              <a:t>clarity</a:t>
            </a:r>
            <a:r>
              <a:rPr lang="en-US" dirty="0"/>
              <a:t> and </a:t>
            </a:r>
            <a:r>
              <a:rPr lang="en-US" b="1" dirty="0"/>
              <a:t>security</a:t>
            </a:r>
            <a:r>
              <a:rPr lang="en-US" dirty="0"/>
              <a:t> in managing sensitive data within your Kubernetes cluster.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550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ED38-94AD-EAEF-AD9F-66D9ABE0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724E1-42C7-4E5F-4B03-9D97569C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8FDF2-1017-0FCB-8B73-A862D4DA67B8}"/>
              </a:ext>
            </a:extLst>
          </p:cNvPr>
          <p:cNvSpPr txBox="1"/>
          <p:nvPr/>
        </p:nvSpPr>
        <p:spPr>
          <a:xfrm>
            <a:off x="653979" y="1580137"/>
            <a:ext cx="11083127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Sealed Secrets provide an encrypted way to manage Kubernetes secrets.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 are encrypted using public-key cryptography before storage.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encrypted data can be safely committed to Git repositories.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Sealed Secrets controller inside the cluster can decrypt them.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aligns well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2F41F-2051-7C1B-7C35-81A48DEBFE4D}"/>
              </a:ext>
            </a:extLst>
          </p:cNvPr>
          <p:cNvSpPr txBox="1"/>
          <p:nvPr/>
        </p:nvSpPr>
        <p:spPr>
          <a:xfrm>
            <a:off x="880190" y="652563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Sealed Secrets?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570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6E753-AB3A-8B53-5ACE-C5C9C8F1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30CF8-82A5-0416-B3B8-BB073B87079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6659" y="1019828"/>
            <a:ext cx="10172226" cy="466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50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8C27E-9DB8-5900-EA31-2A7F0770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7E1657-1769-A0CA-8AE8-A116CC6D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63177-3437-6C0C-7EDD-C806B63870A6}"/>
              </a:ext>
            </a:extLst>
          </p:cNvPr>
          <p:cNvSpPr txBox="1"/>
          <p:nvPr/>
        </p:nvSpPr>
        <p:spPr>
          <a:xfrm>
            <a:off x="1155624" y="3701271"/>
            <a:ext cx="8880338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happens outside the cluster.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happens only inside the target cluster.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prevents accidental exposure of sensitive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 remain protected throughout the CI/CD pipeline.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D462F-07A6-555A-1256-F311E2E25B6E}"/>
              </a:ext>
            </a:extLst>
          </p:cNvPr>
          <p:cNvSpPr txBox="1"/>
          <p:nvPr/>
        </p:nvSpPr>
        <p:spPr>
          <a:xfrm>
            <a:off x="1110271" y="220216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Sealed Secrets Architecture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C9CCA-6C3C-8339-B739-CC1AD20A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74" b="33035"/>
          <a:stretch>
            <a:fillRect/>
          </a:stretch>
        </p:blipFill>
        <p:spPr>
          <a:xfrm>
            <a:off x="460439" y="1152899"/>
            <a:ext cx="11271119" cy="24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38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B577C-B211-FAF7-22AE-064E1008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CFF47E-8713-5324-0058-0546F1638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70581"/>
              </p:ext>
            </p:extLst>
          </p:nvPr>
        </p:nvGraphicFramePr>
        <p:xfrm>
          <a:off x="609600" y="583565"/>
          <a:ext cx="10901680" cy="488192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54383">
                  <a:extLst>
                    <a:ext uri="{9D8B030D-6E8A-4147-A177-3AD203B41FA5}">
                      <a16:colId xmlns:a16="http://schemas.microsoft.com/office/drawing/2014/main" val="2939414582"/>
                    </a:ext>
                  </a:extLst>
                </a:gridCol>
                <a:gridCol w="4413404">
                  <a:extLst>
                    <a:ext uri="{9D8B030D-6E8A-4147-A177-3AD203B41FA5}">
                      <a16:colId xmlns:a16="http://schemas.microsoft.com/office/drawing/2014/main" val="4081530094"/>
                    </a:ext>
                  </a:extLst>
                </a:gridCol>
                <a:gridCol w="3633893">
                  <a:extLst>
                    <a:ext uri="{9D8B030D-6E8A-4147-A177-3AD203B41FA5}">
                      <a16:colId xmlns:a16="http://schemas.microsoft.com/office/drawing/2014/main" val="1471690203"/>
                    </a:ext>
                  </a:extLst>
                </a:gridCol>
              </a:tblGrid>
              <a:tr h="328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Secrets</a:t>
                      </a: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Sealed Secrets</a:t>
                      </a:r>
                    </a:p>
                  </a:txBody>
                  <a:tcPr marL="82134" marR="82134" marT="41067" marB="41067" anchor="ctr"/>
                </a:tc>
                <a:extLst>
                  <a:ext uri="{0D108BD9-81ED-4DB2-BD59-A6C34878D82A}">
                    <a16:rowId xmlns:a16="http://schemas.microsoft.com/office/drawing/2014/main" val="3071477245"/>
                  </a:ext>
                </a:extLst>
              </a:tr>
              <a:tr h="574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encryption (Base64 encoded)</a:t>
                      </a: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Encrypted with public key before storage</a:t>
                      </a:r>
                    </a:p>
                  </a:txBody>
                  <a:tcPr marL="82134" marR="82134" marT="41067" marB="41067" anchor="ctr"/>
                </a:tc>
                <a:extLst>
                  <a:ext uri="{0D108BD9-81ED-4DB2-BD59-A6C34878D82A}">
                    <a16:rowId xmlns:a16="http://schemas.microsoft.com/office/drawing/2014/main" val="1151623731"/>
                  </a:ext>
                </a:extLst>
              </a:tr>
              <a:tr h="574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 in plaintext in etcd</a:t>
                      </a: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 in encrypted form in etcd</a:t>
                      </a:r>
                    </a:p>
                  </a:txBody>
                  <a:tcPr marL="82134" marR="82134" marT="41067" marB="41067" anchor="ctr"/>
                </a:tc>
                <a:extLst>
                  <a:ext uri="{0D108BD9-81ED-4DB2-BD59-A6C34878D82A}">
                    <a16:rowId xmlns:a16="http://schemas.microsoft.com/office/drawing/2014/main" val="463951527"/>
                  </a:ext>
                </a:extLst>
              </a:tr>
              <a:tr h="574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Control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by RBAC</a:t>
                      </a: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by RBAC and encryption</a:t>
                      </a:r>
                    </a:p>
                  </a:txBody>
                  <a:tcPr marL="82134" marR="82134" marT="41067" marB="41067" anchor="ctr"/>
                </a:tc>
                <a:extLst>
                  <a:ext uri="{0D108BD9-81ED-4DB2-BD59-A6C34878D82A}">
                    <a16:rowId xmlns:a16="http://schemas.microsoft.com/office/drawing/2014/main" val="1295517795"/>
                  </a:ext>
                </a:extLst>
              </a:tr>
              <a:tr h="574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secure unless encryption is configured at rest</a:t>
                      </a: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secure due to encryption at rest</a:t>
                      </a:r>
                    </a:p>
                  </a:txBody>
                  <a:tcPr marL="82134" marR="82134" marT="41067" marB="41067" anchor="ctr"/>
                </a:tc>
                <a:extLst>
                  <a:ext uri="{0D108BD9-81ED-4DB2-BD59-A6C34878D82A}">
                    <a16:rowId xmlns:a16="http://schemas.microsoft.com/office/drawing/2014/main" val="3208466146"/>
                  </a:ext>
                </a:extLst>
              </a:tr>
              <a:tr h="821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internal, short-term use with proper encryption at rest</a:t>
                      </a:r>
                    </a:p>
                  </a:txBody>
                  <a:tcPr marL="82134" marR="82134" marT="41067" marB="4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long-term, secure storage of sensitive data</a:t>
                      </a:r>
                    </a:p>
                  </a:txBody>
                  <a:tcPr marL="82134" marR="82134" marT="41067" marB="41067" anchor="ctr"/>
                </a:tc>
                <a:extLst>
                  <a:ext uri="{0D108BD9-81ED-4DB2-BD59-A6C34878D82A}">
                    <a16:rowId xmlns:a16="http://schemas.microsoft.com/office/drawing/2014/main" val="3289037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007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0BC1F-A4B0-B915-7A43-CA94BBF1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A377D-8204-DFC9-0DA3-795CD9DBA93C}"/>
              </a:ext>
            </a:extLst>
          </p:cNvPr>
          <p:cNvSpPr txBox="1"/>
          <p:nvPr/>
        </p:nvSpPr>
        <p:spPr>
          <a:xfrm>
            <a:off x="3450969" y="216654"/>
            <a:ext cx="6101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2524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secret in Kubernetes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6A81B-ED95-8406-E4EE-A22EB705B506}"/>
              </a:ext>
            </a:extLst>
          </p:cNvPr>
          <p:cNvSpPr txBox="1"/>
          <p:nvPr/>
        </p:nvSpPr>
        <p:spPr>
          <a:xfrm>
            <a:off x="480060" y="922496"/>
            <a:ext cx="1122426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Encode the secret value in Base64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Before adding a Secret to Kubernetes, the sensitive data must be encoded in Base64. Run the following command to encode your secret value:</a:t>
            </a:r>
          </a:p>
          <a:p>
            <a:pPr algn="just">
              <a:spcAft>
                <a:spcPts val="600"/>
              </a:spcAft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0" i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 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 "value-2" | base64</a:t>
            </a:r>
          </a:p>
          <a:p>
            <a:pPr algn="just"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a secret YAML manifest</a:t>
            </a:r>
          </a:p>
          <a:p>
            <a:pPr algn="just"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Now, define the Secret in a YAML file using the encoded value. Create a new file called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secret.yaml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add the following content:</a:t>
            </a:r>
          </a:p>
          <a:p>
            <a:pPr>
              <a:spcAft>
                <a:spcPts val="600"/>
              </a:spcAft>
            </a:pPr>
            <a:endParaRPr lang="en-US" b="0" i="0" dirty="0">
              <a:solidFill>
                <a:srgbClr val="FF0000"/>
              </a:solidFill>
              <a:effectLst/>
              <a:latin typeface="ui-monospac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E1EBD3-4812-CE39-75B8-140467DD8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513" y="4042846"/>
            <a:ext cx="4867954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88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CE0D44-12AC-EE33-C2E8-D5A654C5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72D84-4D3D-41F7-31B1-750C25F795B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10534" y="410042"/>
            <a:ext cx="7541466" cy="54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34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826BA4-6366-80DB-C093-7B542143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72933-0991-F49D-A978-B65336241D5B}"/>
              </a:ext>
            </a:extLst>
          </p:cNvPr>
          <p:cNvSpPr txBox="1"/>
          <p:nvPr/>
        </p:nvSpPr>
        <p:spPr>
          <a:xfrm>
            <a:off x="551180" y="681335"/>
            <a:ext cx="108178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above file:</a:t>
            </a:r>
          </a:p>
          <a:p>
            <a:pPr algn="just">
              <a:lnSpc>
                <a:spcPct val="150000"/>
              </a:lnSpc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.secret-file key represents the name of the secret file inside the pod, and the corresponding value is the Base64-encoded secret.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Apply the secret to the cluster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apply -f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secret.yaml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confirm that the Secret was created successfully, list all Secrets: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secrets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view the specific Secret in YAML format: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secret file-credential -o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yaml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effectLst/>
              <a:latin typeface="fontSans"/>
            </a:endParaRPr>
          </a:p>
        </p:txBody>
      </p:sp>
    </p:spTree>
    <p:extLst>
      <p:ext uri="{BB962C8B-B14F-4D97-AF65-F5344CB8AC3E}">
        <p14:creationId xmlns:p14="http://schemas.microsoft.com/office/powerpoint/2010/main" val="241067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C898EB-DA6C-8F91-38B6-02F6AC45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506C6-AA85-A4DE-9E64-98292FBDC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643" y="1755840"/>
            <a:ext cx="6016035" cy="4086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01B831-3C03-0860-7485-8012D3BA03C6}"/>
              </a:ext>
            </a:extLst>
          </p:cNvPr>
          <p:cNvSpPr txBox="1"/>
          <p:nvPr/>
        </p:nvSpPr>
        <p:spPr>
          <a:xfrm>
            <a:off x="400428" y="566860"/>
            <a:ext cx="113851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i="0" dirty="0">
                <a:solidFill>
                  <a:srgbClr val="2524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Mount the secret in a pod</a:t>
            </a:r>
          </a:p>
          <a:p>
            <a:pPr algn="just">
              <a:buNone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a pod to use the Secret, you need to define a volume that references it.</a:t>
            </a:r>
          </a:p>
          <a:p>
            <a:pPr algn="just">
              <a:buNone/>
            </a:pPr>
            <a:r>
              <a:rPr lang="en-US" sz="24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ile </a:t>
            </a:r>
            <a:r>
              <a:rPr lang="en-US" sz="2400" b="0" i="0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pod.yaml</a:t>
            </a:r>
            <a:endParaRPr lang="en-US" sz="2400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US" dirty="0">
              <a:solidFill>
                <a:srgbClr val="374151"/>
              </a:solidFill>
              <a:latin typeface="fontSans"/>
            </a:endParaRPr>
          </a:p>
          <a:p>
            <a:pPr algn="l">
              <a:buNone/>
            </a:pPr>
            <a:endParaRPr lang="en-US" b="0" i="0" dirty="0">
              <a:solidFill>
                <a:srgbClr val="374151"/>
              </a:solidFill>
              <a:effectLst/>
              <a:latin typeface="fontSans"/>
            </a:endParaRPr>
          </a:p>
        </p:txBody>
      </p:sp>
    </p:spTree>
    <p:extLst>
      <p:ext uri="{BB962C8B-B14F-4D97-AF65-F5344CB8AC3E}">
        <p14:creationId xmlns:p14="http://schemas.microsoft.com/office/powerpoint/2010/main" val="1056897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219C21-B6B0-7978-799F-8736924B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3150A-66B7-16E9-E8F9-4AAF5A6B5E5C}"/>
              </a:ext>
            </a:extLst>
          </p:cNvPr>
          <p:cNvSpPr txBox="1"/>
          <p:nvPr/>
        </p:nvSpPr>
        <p:spPr>
          <a:xfrm>
            <a:off x="601980" y="606475"/>
            <a:ext cx="1049274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2400" b="1" i="0" dirty="0">
                <a:solidFill>
                  <a:srgbClr val="2524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Deploy the pod and confirm the secret is accessible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the pod configuration to deploy the pod: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apply -f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pod.yaml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the pod is running: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pods</a:t>
            </a:r>
          </a:p>
          <a:p>
            <a:pPr>
              <a:lnSpc>
                <a:spcPct val="150000"/>
              </a:lnSpc>
            </a:pPr>
            <a:endParaRPr lang="en-US" sz="2400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D03CAF-E1BB-5D7D-01C3-C9CADFF1AD96}"/>
              </a:ext>
            </a:extLst>
          </p:cNvPr>
          <p:cNvSpPr txBox="1"/>
          <p:nvPr/>
        </p:nvSpPr>
        <p:spPr>
          <a:xfrm>
            <a:off x="601980" y="4362996"/>
            <a:ext cx="107975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for above process: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process of creating and using a secret in Kubernetes, including encoding the secret in Base64, creating a secret YAML manifest, applying the secret to the cluster, mounting it in a pod, and confirming its accessibility?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698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8218</TotalTime>
  <Words>1622</Words>
  <Application>Microsoft Office PowerPoint</Application>
  <PresentationFormat>Widescreen</PresentationFormat>
  <Paragraphs>179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fontSans</vt:lpstr>
      <vt:lpstr>Gill Sans MT</vt:lpstr>
      <vt:lpstr>Poppins</vt:lpstr>
      <vt:lpstr>Times New Roman</vt:lpstr>
      <vt:lpstr>ui-monospace</vt:lpstr>
      <vt:lpstr>Gallery</vt:lpstr>
      <vt:lpstr>Department of CSIT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berkmans</dc:creator>
  <cp:lastModifiedBy>Lavanya Susanna</cp:lastModifiedBy>
  <cp:revision>379</cp:revision>
  <dcterms:created xsi:type="dcterms:W3CDTF">2023-05-03T05:20:57Z</dcterms:created>
  <dcterms:modified xsi:type="dcterms:W3CDTF">2026-03-03T04:48:25Z</dcterms:modified>
</cp:coreProperties>
</file>