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21"/>
  </p:notesMasterIdLst>
  <p:handoutMasterIdLst>
    <p:handoutMasterId r:id="rId22"/>
  </p:handoutMasterIdLst>
  <p:sldIdLst>
    <p:sldId id="268" r:id="rId2"/>
    <p:sldId id="337" r:id="rId3"/>
    <p:sldId id="338" r:id="rId4"/>
    <p:sldId id="325" r:id="rId5"/>
    <p:sldId id="331" r:id="rId6"/>
    <p:sldId id="339" r:id="rId7"/>
    <p:sldId id="329" r:id="rId8"/>
    <p:sldId id="335" r:id="rId9"/>
    <p:sldId id="330" r:id="rId10"/>
    <p:sldId id="336" r:id="rId11"/>
    <p:sldId id="340" r:id="rId12"/>
    <p:sldId id="341" r:id="rId13"/>
    <p:sldId id="342" r:id="rId14"/>
    <p:sldId id="343" r:id="rId15"/>
    <p:sldId id="344" r:id="rId16"/>
    <p:sldId id="345" r:id="rId17"/>
    <p:sldId id="346" r:id="rId18"/>
    <p:sldId id="332" r:id="rId19"/>
    <p:sldId id="272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60" d="100"/>
          <a:sy n="60" d="100"/>
        </p:scale>
        <p:origin x="908" y="1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CDB74D4-5E76-4C47-E7AA-61E2C648C8D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Course Title, Topic Name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962EDA-0A3B-5C3A-C8DF-7672C339CF9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75D750-AD1D-4C03-A026-1768137CC901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C80489-5F61-FA08-A147-AE43BE9C499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College of Engineering, KONERU LAKSHMAIAH EDUCATION FOUNDATION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2D387C-1469-6716-E148-98BDCB6976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4566E6-FD90-4AE7-9488-620D46A968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4391555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Course Title, Topic Name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26BB4A-8EA9-40D4-95BF-21E04B247614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College of Engineering, KONERU LAKSHMAIAH EDUCATION FOUNDATION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3BDDA1-7BB7-447A-97DE-AE5425C8F2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000788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3982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7521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0948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2286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83727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7466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45871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20374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0776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12674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3640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9" y="379083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690490" y="6291139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ctr">
              <a:defRPr sz="2200">
                <a:solidFill>
                  <a:schemeClr val="accent1"/>
                </a:solidFill>
              </a:defRPr>
            </a:lvl1pPr>
          </a:lstStyle>
          <a:p>
            <a:fld id="{CBABCCC1-BF11-4F37-963E-1BCD5B23FD72}" type="slidenum">
              <a:rPr lang="en-IN" smtClean="0"/>
              <a:pPr/>
              <a:t>‹#›</a:t>
            </a:fld>
            <a:endParaRPr lang="en-IN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Icon&#10;&#10;Description automatically generated with medium confidence">
            <a:extLst>
              <a:ext uri="{FF2B5EF4-FFF2-40B4-BE49-F238E27FC236}">
                <a16:creationId xmlns:a16="http://schemas.microsoft.com/office/drawing/2014/main" id="{D33DD7EC-6054-A5D7-0F93-3916702EC90E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44" y="32699"/>
            <a:ext cx="1218935" cy="50098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B6D7A70-9470-38A5-6785-933F5C0892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0" t="18054" b="50110"/>
          <a:stretch/>
        </p:blipFill>
        <p:spPr>
          <a:xfrm>
            <a:off x="1451579" y="6373097"/>
            <a:ext cx="2912198" cy="351077"/>
          </a:xfrm>
          <a:prstGeom prst="rect">
            <a:avLst/>
          </a:prstGeom>
        </p:spPr>
      </p:pic>
      <p:pic>
        <p:nvPicPr>
          <p:cNvPr id="14" name="Picture 13" descr="Text&#10;&#10;Description automatically generated with medium confidence">
            <a:extLst>
              <a:ext uri="{FF2B5EF4-FFF2-40B4-BE49-F238E27FC236}">
                <a16:creationId xmlns:a16="http://schemas.microsoft.com/office/drawing/2014/main" id="{A51BE3ED-273E-B0A1-FC3A-EE01E1A92D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957" r="20929" b="13232"/>
          <a:stretch/>
        </p:blipFill>
        <p:spPr>
          <a:xfrm>
            <a:off x="8825503" y="6373097"/>
            <a:ext cx="2229351" cy="335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380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464;p16"/>
          <p:cNvPicPr preferRelativeResize="0"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27" y="61709"/>
            <a:ext cx="5459371" cy="5918356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475;p16"/>
          <p:cNvSpPr txBox="1">
            <a:spLocks noGrp="1"/>
          </p:cNvSpPr>
          <p:nvPr>
            <p:ph type="ctrTitle"/>
          </p:nvPr>
        </p:nvSpPr>
        <p:spPr>
          <a:xfrm>
            <a:off x="4039419" y="557484"/>
            <a:ext cx="8637073" cy="480091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CSIT</a:t>
            </a:r>
          </a:p>
        </p:txBody>
      </p:sp>
      <p:sp>
        <p:nvSpPr>
          <p:cNvPr id="6" name="Google Shape;476;p16"/>
          <p:cNvSpPr txBox="1"/>
          <p:nvPr/>
        </p:nvSpPr>
        <p:spPr>
          <a:xfrm>
            <a:off x="4819387" y="1203208"/>
            <a:ext cx="7077136" cy="4893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2400" b="1" cap="all" dirty="0">
                <a:ln/>
                <a:latin typeface="Times New Roman" panose="02020603050405020304" pitchFamily="18" charset="0"/>
                <a:cs typeface="Times New Roman" panose="02020603050405020304" pitchFamily="18" charset="0"/>
                <a:sym typeface="BioRhyme ExtraBold"/>
              </a:rPr>
              <a:t>COURSE NAME </a:t>
            </a:r>
            <a:endParaRPr lang="en-IN" dirty="0"/>
          </a:p>
          <a:p>
            <a:pPr algn="ctr"/>
            <a:r>
              <a:rPr lang="en-US" dirty="0"/>
              <a:t> </a:t>
            </a: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FOUNDATIONS OF CLOUD-NATIVE COMPUTING &amp; DEVOPS</a:t>
            </a:r>
            <a:r>
              <a:rPr lang="en-US" dirty="0"/>
              <a:t>	</a:t>
            </a:r>
          </a:p>
          <a:p>
            <a:pPr marR="0" lvl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400" b="1" cap="all" dirty="0">
              <a:ln/>
              <a:latin typeface="Times New Roman" panose="02020603050405020304" pitchFamily="18" charset="0"/>
              <a:cs typeface="Times New Roman" panose="02020603050405020304" pitchFamily="18" charset="0"/>
              <a:sym typeface="BioRhyme ExtraBold"/>
            </a:endParaRPr>
          </a:p>
          <a:p>
            <a:pPr algn="ctr"/>
            <a:r>
              <a:rPr lang="en-US" sz="2400" b="1" cap="all" dirty="0">
                <a:ln/>
                <a:latin typeface="Times New Roman" panose="02020603050405020304" pitchFamily="18" charset="0"/>
                <a:cs typeface="Times New Roman" panose="02020603050405020304" pitchFamily="18" charset="0"/>
                <a:sym typeface="BioRhyme ExtraBold"/>
              </a:rPr>
              <a:t>COURSE CODE </a:t>
            </a:r>
            <a:r>
              <a:rPr lang="en-US" sz="2400" b="1" cap="all" dirty="0">
                <a:ln/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BioRhyme ExtraBold"/>
              </a:rPr>
              <a:t>–</a:t>
            </a:r>
            <a:r>
              <a:rPr lang="en-I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24CS2260F</a:t>
            </a:r>
            <a:r>
              <a:rPr lang="en-IN" dirty="0"/>
              <a:t>	</a:t>
            </a:r>
          </a:p>
          <a:p>
            <a:pPr marR="0" lvl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400" b="1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400" b="1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ea typeface="BioRhyme ExtraBold"/>
              <a:cs typeface="Times New Roman" panose="02020603050405020304" pitchFamily="18" charset="0"/>
              <a:sym typeface="BioRhyme ExtraBold"/>
            </a:endParaRPr>
          </a:p>
          <a:p>
            <a:pPr marR="0" lvl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BioRhyme ExtraBold"/>
                <a:cs typeface="Times New Roman" panose="02020603050405020304" pitchFamily="18" charset="0"/>
                <a:sym typeface="BioRhyme ExtraBold"/>
              </a:rPr>
              <a:t>Topic: 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cap="all" dirty="0">
                <a:ln/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lightweight observability: </a:t>
            </a:r>
            <a:r>
              <a:rPr lang="en-US" sz="2400" b="1" cap="all" dirty="0" err="1">
                <a:ln/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kubectl</a:t>
            </a:r>
            <a:r>
              <a:rPr lang="en-US" sz="2400" b="1" cap="all" dirty="0">
                <a:ln/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logs, container logs, </a:t>
            </a:r>
            <a:r>
              <a:rPr lang="en-US" sz="2400" b="1" cap="all" dirty="0" err="1">
                <a:ln/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nodemetrics</a:t>
            </a:r>
            <a:endParaRPr lang="en-US" sz="2400" b="1" dirty="0">
              <a:solidFill>
                <a:srgbClr val="C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Google Shape;502;p17">
            <a:extLst>
              <a:ext uri="{FF2B5EF4-FFF2-40B4-BE49-F238E27FC236}">
                <a16:creationId xmlns:a16="http://schemas.microsoft.com/office/drawing/2014/main" id="{7153E61F-4441-DBE3-3DFF-6E9EF6C48D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87704" y="3767857"/>
            <a:ext cx="2161309" cy="544625"/>
          </a:xfrm>
          <a:prstGeom prst="roundRect">
            <a:avLst>
              <a:gd name="adj" fmla="val 35613"/>
            </a:avLst>
          </a:prstGeom>
          <a:solidFill>
            <a:srgbClr val="C000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lt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Session - </a:t>
            </a:r>
            <a:endParaRPr sz="2400" b="1" dirty="0">
              <a:solidFill>
                <a:schemeClr val="lt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205133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4A6B7A3-C495-24F8-578C-C0AE1AFA7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2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4112B5-B0A4-12CA-2A93-25F8529119BE}"/>
              </a:ext>
            </a:extLst>
          </p:cNvPr>
          <p:cNvSpPr txBox="1"/>
          <p:nvPr/>
        </p:nvSpPr>
        <p:spPr>
          <a:xfrm>
            <a:off x="683260" y="510739"/>
            <a:ext cx="11082020" cy="51042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Observability?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Observability means understanding what is happening inside your application and cluster.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In Kubernetes, applications run across many pods and nodes, so it becomes difficult to find issues.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Observability helps us: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errors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performance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Debug problems quickly </a:t>
            </a:r>
          </a:p>
        </p:txBody>
      </p:sp>
    </p:spTree>
    <p:extLst>
      <p:ext uri="{BB962C8B-B14F-4D97-AF65-F5344CB8AC3E}">
        <p14:creationId xmlns:p14="http://schemas.microsoft.com/office/powerpoint/2010/main" val="28820356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62DF94B-E3A2-1769-209E-0AA070B27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3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DE02E2-2A49-7FD5-CB68-BC20282EF0B6}"/>
              </a:ext>
            </a:extLst>
          </p:cNvPr>
          <p:cNvSpPr txBox="1"/>
          <p:nvPr/>
        </p:nvSpPr>
        <p:spPr>
          <a:xfrm>
            <a:off x="703580" y="639078"/>
            <a:ext cx="11183620" cy="5273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Lightweight Observability?</a:t>
            </a:r>
          </a:p>
          <a:p>
            <a:pPr>
              <a:lnSpc>
                <a:spcPct val="200000"/>
              </a:lnSpc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Lightweight observability means:</a:t>
            </a:r>
          </a:p>
          <a:p>
            <a:pPr>
              <a:lnSpc>
                <a:spcPct val="200000"/>
              </a:lnSpc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Using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built-in Kubernetes tools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(like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kubectl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to monitor and </a:t>
            </a: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debug, without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heavy tools like Prometheus or Grafana.</a:t>
            </a:r>
          </a:p>
          <a:p>
            <a:pPr lvl="1">
              <a:lnSpc>
                <a:spcPct val="2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No complex setup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Fast debugging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Suitable for small clusters or development environment</a:t>
            </a:r>
          </a:p>
        </p:txBody>
      </p:sp>
    </p:spTree>
    <p:extLst>
      <p:ext uri="{BB962C8B-B14F-4D97-AF65-F5344CB8AC3E}">
        <p14:creationId xmlns:p14="http://schemas.microsoft.com/office/powerpoint/2010/main" val="8659084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C4AFA-495C-DA9C-53B5-DFA1E70B3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A54126B-899B-CF41-4612-532817D1A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4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A39BBA-8836-B36E-4282-5C112B5EA6C8}"/>
              </a:ext>
            </a:extLst>
          </p:cNvPr>
          <p:cNvSpPr txBox="1"/>
          <p:nvPr/>
        </p:nvSpPr>
        <p:spPr>
          <a:xfrm>
            <a:off x="1789531" y="175544"/>
            <a:ext cx="9828398" cy="66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Observability Signals in Kubernetes</a:t>
            </a:r>
            <a:endParaRPr lang="en-US" sz="2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D45092-2EBD-F287-E30C-0E9F0F6721CC}"/>
              </a:ext>
            </a:extLst>
          </p:cNvPr>
          <p:cNvSpPr txBox="1"/>
          <p:nvPr/>
        </p:nvSpPr>
        <p:spPr>
          <a:xfrm>
            <a:off x="465613" y="1087851"/>
            <a:ext cx="11410367" cy="44117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Kubernetes observability is based on three key signals:</a:t>
            </a:r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Logs: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Application and container output</a:t>
            </a:r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Metrics: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CPU and memory usage</a:t>
            </a:r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Events: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System-generated state changes</a:t>
            </a:r>
          </a:p>
          <a:p>
            <a:pPr algn="just">
              <a:lnSpc>
                <a:spcPct val="2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Lightweight observability mainly uses logs, basic metrics, and events accessed via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kubectl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monitor applications</a:t>
            </a:r>
          </a:p>
        </p:txBody>
      </p:sp>
    </p:spTree>
    <p:extLst>
      <p:ext uri="{BB962C8B-B14F-4D97-AF65-F5344CB8AC3E}">
        <p14:creationId xmlns:p14="http://schemas.microsoft.com/office/powerpoint/2010/main" val="19878677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01F10-77E0-0E26-A156-D05B7338D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87EA2F4-6155-87EE-0DCF-9B622C69D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5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1A7E6C-7555-F7F3-64A0-3252611CD338}"/>
              </a:ext>
            </a:extLst>
          </p:cNvPr>
          <p:cNvSpPr txBox="1"/>
          <p:nvPr/>
        </p:nvSpPr>
        <p:spPr>
          <a:xfrm>
            <a:off x="554435" y="4043469"/>
            <a:ext cx="11083127" cy="16879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Operators use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kubectl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collect logs, metrics, and events. Based on this information, they diagnose issues, adjust configurations, or trigger corrective actions such as restarts or rollbacks.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62B3D8-CB42-69F6-F27D-DE68FBE6090D}"/>
              </a:ext>
            </a:extLst>
          </p:cNvPr>
          <p:cNvSpPr txBox="1"/>
          <p:nvPr/>
        </p:nvSpPr>
        <p:spPr>
          <a:xfrm>
            <a:off x="1155623" y="237187"/>
            <a:ext cx="1024873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Lightweight Observability Workflow</a:t>
            </a:r>
            <a:endParaRPr lang="en-US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E4DA31F-3D60-CB74-7E7D-2194BC78E2B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0757" b="27852"/>
          <a:stretch>
            <a:fillRect/>
          </a:stretch>
        </p:blipFill>
        <p:spPr>
          <a:xfrm>
            <a:off x="1002988" y="1126568"/>
            <a:ext cx="10287000" cy="2838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6757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DB5AA6F-5A50-7D59-01FF-D95DB71F0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6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A7F1F5-444C-0474-5BEA-804467EEBA21}"/>
              </a:ext>
            </a:extLst>
          </p:cNvPr>
          <p:cNvSpPr txBox="1"/>
          <p:nvPr/>
        </p:nvSpPr>
        <p:spPr>
          <a:xfrm>
            <a:off x="510540" y="490419"/>
            <a:ext cx="10736580" cy="55659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Logs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what the application is doing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 identify errors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Debug application failure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Command:</a:t>
            </a:r>
          </a:p>
          <a:p>
            <a:pPr lvl="1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kubectl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logs &lt;pod-name&gt;</a:t>
            </a:r>
          </a:p>
          <a:p>
            <a:pPr lvl="1"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lvl="1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kubectl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logs webapp-pod</a:t>
            </a:r>
          </a:p>
          <a:p>
            <a:pPr lvl="1"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pPr lvl="1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Error: Database connection failed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A742DF-A580-2A4E-3FFC-3081A918A747}"/>
              </a:ext>
            </a:extLst>
          </p:cNvPr>
          <p:cNvSpPr txBox="1"/>
          <p:nvPr/>
        </p:nvSpPr>
        <p:spPr>
          <a:xfrm>
            <a:off x="2969260" y="143996"/>
            <a:ext cx="6101080" cy="66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Observability Signals in Kubernetes</a:t>
            </a:r>
          </a:p>
        </p:txBody>
      </p:sp>
    </p:spTree>
    <p:extLst>
      <p:ext uri="{BB962C8B-B14F-4D97-AF65-F5344CB8AC3E}">
        <p14:creationId xmlns:p14="http://schemas.microsoft.com/office/powerpoint/2010/main" val="21114298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776B4-D9FA-C87E-602A-8508E4D1C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F29F621-BBAA-54D5-72E9-C0CEEFF2F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7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246AC9-77AD-D24B-157B-0981E1348CC5}"/>
              </a:ext>
            </a:extLst>
          </p:cNvPr>
          <p:cNvSpPr txBox="1"/>
          <p:nvPr/>
        </p:nvSpPr>
        <p:spPr>
          <a:xfrm>
            <a:off x="502816" y="4291509"/>
            <a:ext cx="11083127" cy="1133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Containers write logs to standard output. Kubernetes stores these logs on the node, and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kubectl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logs retrieves them through the API Server.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316FCC-9FC1-63D0-74AC-B29CD9BB5891}"/>
              </a:ext>
            </a:extLst>
          </p:cNvPr>
          <p:cNvSpPr txBox="1"/>
          <p:nvPr/>
        </p:nvSpPr>
        <p:spPr>
          <a:xfrm>
            <a:off x="1138792" y="267990"/>
            <a:ext cx="1024873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Container Logs Architecture</a:t>
            </a:r>
            <a:endParaRPr lang="en-US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3B32C81-1583-743F-1CD6-D81F407267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0893" b="34315"/>
          <a:stretch>
            <a:fillRect/>
          </a:stretch>
        </p:blipFill>
        <p:spPr>
          <a:xfrm>
            <a:off x="293226" y="1160283"/>
            <a:ext cx="11605547" cy="2691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3057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3EE4E-FE01-1E06-8CE0-8C21A2302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48B9631-C992-7361-8F55-A5486C78B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8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4C5D9C-9EC2-6C3F-A31B-C1B284D7EA2E}"/>
              </a:ext>
            </a:extLst>
          </p:cNvPr>
          <p:cNvSpPr txBox="1"/>
          <p:nvPr/>
        </p:nvSpPr>
        <p:spPr>
          <a:xfrm>
            <a:off x="503798" y="1065866"/>
            <a:ext cx="11184401" cy="39039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Kubernetes Events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Events provide contextual information about what is happening in the cluster, such as scheduling decisions, restarts, and failures.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Events are useful for understanding why pods fail or are delayed.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events: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en-US" sz="24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kubectl</a:t>
            </a: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get events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Events complement logs by explaining system-level behavior.</a:t>
            </a:r>
          </a:p>
        </p:txBody>
      </p:sp>
    </p:spTree>
    <p:extLst>
      <p:ext uri="{BB962C8B-B14F-4D97-AF65-F5344CB8AC3E}">
        <p14:creationId xmlns:p14="http://schemas.microsoft.com/office/powerpoint/2010/main" val="40316379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DF0456-3C6F-7EBF-ED08-AFA9812B9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07CD0DE-48C0-F0B3-9C6F-5B55682A9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9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DE9EFE-0026-38F5-5045-44A5E906C3D9}"/>
              </a:ext>
            </a:extLst>
          </p:cNvPr>
          <p:cNvSpPr txBox="1"/>
          <p:nvPr/>
        </p:nvSpPr>
        <p:spPr>
          <a:xfrm>
            <a:off x="435226" y="646026"/>
            <a:ext cx="11321545" cy="55659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Node and Pod Metrics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Metrics provide quantitative information about resource usage. 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Lightweight observability relies on metrics-server to collect basic CPU and memory metrics from nodes and pods. 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Metrics help identify overloaded nodes or inefficient workloads.</a:t>
            </a:r>
          </a:p>
          <a:p>
            <a:pPr algn="just">
              <a:lnSpc>
                <a:spcPct val="150000"/>
              </a:lnSpc>
            </a:pP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Viewing Node Metrics: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Node-level metrics show how much CPU and memory each node is using.</a:t>
            </a:r>
          </a:p>
          <a:p>
            <a:pPr algn="just"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Command: </a:t>
            </a:r>
          </a:p>
          <a:p>
            <a:pPr algn="ctr">
              <a:lnSpc>
                <a:spcPct val="150000"/>
              </a:lnSpc>
            </a:pPr>
            <a:r>
              <a:rPr lang="en-US" sz="24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kubectl</a:t>
            </a: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top node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command helps detect resource pressure and capacity issues at the node level.</a:t>
            </a:r>
          </a:p>
        </p:txBody>
      </p:sp>
    </p:spTree>
    <p:extLst>
      <p:ext uri="{BB962C8B-B14F-4D97-AF65-F5344CB8AC3E}">
        <p14:creationId xmlns:p14="http://schemas.microsoft.com/office/powerpoint/2010/main" val="20430034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3B25F-D001-F966-36FC-EEAA3F391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1812412-6EF3-F5E8-723A-8C72E8BA0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10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35FE9C-0E61-B16B-6CBC-98F77E939440}"/>
              </a:ext>
            </a:extLst>
          </p:cNvPr>
          <p:cNvSpPr txBox="1"/>
          <p:nvPr/>
        </p:nvSpPr>
        <p:spPr>
          <a:xfrm>
            <a:off x="649803" y="1014169"/>
            <a:ext cx="10805442" cy="4457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Viewing Pod Metrics -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Pod-level metrics provide insight into resource usage by individual applications.</a:t>
            </a:r>
          </a:p>
          <a:p>
            <a:pPr algn="just"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Command: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en-US" sz="24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kubectl</a:t>
            </a: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top pod</a:t>
            </a:r>
          </a:p>
          <a:p>
            <a:pPr>
              <a:lnSpc>
                <a:spcPct val="150000"/>
              </a:lnSpc>
            </a:pPr>
            <a:r>
              <a:rPr lang="pl-PL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webapp-pod   CPU: 80%   Memory: 500Mi</a:t>
            </a:r>
            <a:endParaRPr lang="en-US" sz="2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useful for tuning resource requests and limits and identifying resource-hungry pods.</a:t>
            </a:r>
          </a:p>
        </p:txBody>
      </p:sp>
    </p:spTree>
    <p:extLst>
      <p:ext uri="{BB962C8B-B14F-4D97-AF65-F5344CB8AC3E}">
        <p14:creationId xmlns:p14="http://schemas.microsoft.com/office/powerpoint/2010/main" val="40184749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9B8974F-B351-4D97-70AD-BF58FBE78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11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84A230-0036-B5A1-0BF2-6C4D3C580845}"/>
              </a:ext>
            </a:extLst>
          </p:cNvPr>
          <p:cNvSpPr txBox="1"/>
          <p:nvPr/>
        </p:nvSpPr>
        <p:spPr>
          <a:xfrm>
            <a:off x="400428" y="836414"/>
            <a:ext cx="9749412" cy="5598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spcAft>
                <a:spcPts val="600"/>
              </a:spcAft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Scenario 1: Application Not Working (Check Logs)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600"/>
              </a:spcAft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Situation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60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A developer deploys an app, but it is not responding.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600"/>
              </a:spcAft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Step-by-Step Process</a:t>
            </a:r>
          </a:p>
          <a:p>
            <a:pPr lvl="1">
              <a:lnSpc>
                <a:spcPct val="150000"/>
              </a:lnSpc>
              <a:spcBef>
                <a:spcPts val="400"/>
              </a:spcBef>
              <a:spcAft>
                <a:spcPts val="600"/>
              </a:spcAft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1: Check running pods</a:t>
            </a:r>
          </a:p>
          <a:p>
            <a:pPr lvl="1">
              <a:lnSpc>
                <a:spcPct val="150000"/>
              </a:lnSpc>
              <a:spcBef>
                <a:spcPts val="400"/>
              </a:spcBef>
              <a:spcAft>
                <a:spcPts val="60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kubectl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get pods</a:t>
            </a:r>
          </a:p>
          <a:p>
            <a:pPr lvl="1">
              <a:lnSpc>
                <a:spcPct val="150000"/>
              </a:lnSpc>
              <a:spcBef>
                <a:spcPts val="400"/>
              </a:spcBef>
              <a:spcAft>
                <a:spcPts val="60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your pod name (example: webapp-pod)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BE87E2-C3BA-F7EC-4DEF-8B19991B026B}"/>
              </a:ext>
            </a:extLst>
          </p:cNvPr>
          <p:cNvSpPr txBox="1"/>
          <p:nvPr/>
        </p:nvSpPr>
        <p:spPr>
          <a:xfrm>
            <a:off x="5577840" y="325120"/>
            <a:ext cx="16802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</a:p>
        </p:txBody>
      </p:sp>
    </p:spTree>
    <p:extLst>
      <p:ext uri="{BB962C8B-B14F-4D97-AF65-F5344CB8AC3E}">
        <p14:creationId xmlns:p14="http://schemas.microsoft.com/office/powerpoint/2010/main" val="20659004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7BA6E1D-6C8F-40BE-7F6B-F176CEFCB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12</a:t>
            </a:fld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0070DC-FA9A-DE1F-B9C6-F512D6F461AA}"/>
              </a:ext>
            </a:extLst>
          </p:cNvPr>
          <p:cNvSpPr txBox="1"/>
          <p:nvPr/>
        </p:nvSpPr>
        <p:spPr>
          <a:xfrm>
            <a:off x="1116709" y="895486"/>
            <a:ext cx="9876411" cy="4919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  <a:spcBef>
                <a:spcPts val="400"/>
              </a:spcBef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2: View logs</a:t>
            </a:r>
          </a:p>
          <a:p>
            <a:pPr lvl="1">
              <a:lnSpc>
                <a:spcPct val="150000"/>
              </a:lnSpc>
              <a:spcBef>
                <a:spcPts val="40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kubectl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logs webapp-pod</a:t>
            </a:r>
          </a:p>
          <a:p>
            <a:pPr lvl="1">
              <a:lnSpc>
                <a:spcPct val="150000"/>
              </a:lnSpc>
              <a:spcBef>
                <a:spcPts val="40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may see error like:</a:t>
            </a:r>
          </a:p>
          <a:p>
            <a:pPr lvl="1">
              <a:lnSpc>
                <a:spcPct val="150000"/>
              </a:lnSpc>
              <a:spcBef>
                <a:spcPts val="40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Error: Port already in use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3: Fix the issue</a:t>
            </a: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 port in YAML file</a:t>
            </a: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Redeploy application</a:t>
            </a: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kubectl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apply -f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deployment.yaml</a:t>
            </a: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16117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4B58E41-ECAE-A48F-4D2A-F226017D9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13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4380DF-48AA-2500-D5C2-4BD12216A258}"/>
              </a:ext>
            </a:extLst>
          </p:cNvPr>
          <p:cNvSpPr txBox="1"/>
          <p:nvPr/>
        </p:nvSpPr>
        <p:spPr>
          <a:xfrm>
            <a:off x="571500" y="752455"/>
            <a:ext cx="8013700" cy="5011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Scenario 2: Pod Crashing (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CrashLoopBackOff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50000"/>
              </a:lnSpc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Situation</a:t>
            </a:r>
          </a:p>
          <a:p>
            <a:pPr>
              <a:lnSpc>
                <a:spcPct val="15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Pod is continuously restarting.</a:t>
            </a:r>
          </a:p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Step-by-Step Process</a:t>
            </a:r>
          </a:p>
          <a:p>
            <a:pPr lvl="1"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1: Check pod status</a:t>
            </a:r>
          </a:p>
          <a:p>
            <a:pPr lvl="1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kubectl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get pods</a:t>
            </a:r>
          </a:p>
          <a:p>
            <a:pPr lvl="1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pPr lvl="1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webapp-pod  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CrashLoopBackOff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92885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A0FC752-E6D5-D4F4-A4D6-7FE92EEFB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14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BF91D9-B31F-98FB-1FB6-DDB50BA2130B}"/>
              </a:ext>
            </a:extLst>
          </p:cNvPr>
          <p:cNvSpPr txBox="1"/>
          <p:nvPr/>
        </p:nvSpPr>
        <p:spPr>
          <a:xfrm>
            <a:off x="876300" y="766356"/>
            <a:ext cx="6101080" cy="5011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2: Check previous logs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kubectl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logs  webapp-pod  --previous</a:t>
            </a:r>
          </a:p>
          <a:p>
            <a:pPr>
              <a:lnSpc>
                <a:spcPct val="15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error: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Database connection failed</a:t>
            </a:r>
          </a:p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3: Fix issue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database config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environment variables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kubectl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apply -f </a:t>
            </a:r>
            <a:r>
              <a:rPr lang="en-IN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deployment.yaml</a:t>
            </a:r>
            <a:endParaRPr lang="en-IN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lnSpc>
                <a:spcPct val="150000"/>
              </a:lnSpc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62359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239290B-EA18-7010-4CDD-8680FE7BF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15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5F94B2-E4FA-1FBE-C46D-DD829315620A}"/>
              </a:ext>
            </a:extLst>
          </p:cNvPr>
          <p:cNvSpPr txBox="1"/>
          <p:nvPr/>
        </p:nvSpPr>
        <p:spPr>
          <a:xfrm>
            <a:off x="400428" y="629980"/>
            <a:ext cx="6101081" cy="5011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Scenario 3: High CPU Usage (Node Metrics)</a:t>
            </a:r>
          </a:p>
          <a:p>
            <a:pPr>
              <a:lnSpc>
                <a:spcPct val="150000"/>
              </a:lnSpc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Situation</a:t>
            </a:r>
          </a:p>
          <a:p>
            <a:pPr>
              <a:lnSpc>
                <a:spcPct val="150000"/>
              </a:lnSpc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Cluster becomes slow.</a:t>
            </a:r>
          </a:p>
          <a:p>
            <a:pPr>
              <a:lnSpc>
                <a:spcPct val="150000"/>
              </a:lnSpc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Step-by-Step Process</a:t>
            </a:r>
          </a:p>
          <a:p>
            <a:pPr>
              <a:lnSpc>
                <a:spcPct val="150000"/>
              </a:lnSpc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1: Check node usage</a:t>
            </a:r>
          </a:p>
          <a:p>
            <a:pPr rtl="0">
              <a:lnSpc>
                <a:spcPct val="150000"/>
              </a:lnSpc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IN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kubectl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top node</a:t>
            </a:r>
          </a:p>
          <a:p>
            <a:pPr>
              <a:lnSpc>
                <a:spcPct val="150000"/>
              </a:lnSpc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Output shows: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 usage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usage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ED0094-8D58-4AF4-08A6-D8956A34DCA4}"/>
              </a:ext>
            </a:extLst>
          </p:cNvPr>
          <p:cNvSpPr txBox="1"/>
          <p:nvPr/>
        </p:nvSpPr>
        <p:spPr>
          <a:xfrm>
            <a:off x="6501509" y="2878064"/>
            <a:ext cx="5070731" cy="3349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2: Identify overloaded node</a:t>
            </a:r>
          </a:p>
          <a:p>
            <a:pPr>
              <a:lnSpc>
                <a:spcPct val="15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node1   CPU: 95%</a:t>
            </a:r>
          </a:p>
          <a:p>
            <a:pPr>
              <a:lnSpc>
                <a:spcPct val="150000"/>
              </a:lnSpc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3: Take action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Move workload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Scale cluster</a:t>
            </a:r>
          </a:p>
        </p:txBody>
      </p:sp>
    </p:spTree>
    <p:extLst>
      <p:ext uri="{BB962C8B-B14F-4D97-AF65-F5344CB8AC3E}">
        <p14:creationId xmlns:p14="http://schemas.microsoft.com/office/powerpoint/2010/main" val="2706419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A46E60B-113B-23FC-9804-116299356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16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93522D-7B2E-3DD1-F814-6FE9858EE7F2}"/>
              </a:ext>
            </a:extLst>
          </p:cNvPr>
          <p:cNvSpPr txBox="1"/>
          <p:nvPr/>
        </p:nvSpPr>
        <p:spPr>
          <a:xfrm>
            <a:off x="764540" y="720358"/>
            <a:ext cx="9893300" cy="55659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Scenario 4: Which Pod is Using More Resources</a:t>
            </a:r>
          </a:p>
          <a:p>
            <a:pPr>
              <a:lnSpc>
                <a:spcPct val="150000"/>
              </a:lnSpc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Situation</a:t>
            </a:r>
          </a:p>
          <a:p>
            <a:pPr>
              <a:lnSpc>
                <a:spcPct val="15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One application is consuming too much memory.</a:t>
            </a:r>
          </a:p>
          <a:p>
            <a:pPr>
              <a:lnSpc>
                <a:spcPct val="150000"/>
              </a:lnSpc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Step-by-Step Process</a:t>
            </a:r>
          </a:p>
          <a:p>
            <a:pPr lvl="1"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1: Check pod metrics</a:t>
            </a:r>
          </a:p>
          <a:p>
            <a:pPr lvl="1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kubectl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top pod</a:t>
            </a:r>
          </a:p>
          <a:p>
            <a:pPr lvl="1"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2: Identify heavy pod</a:t>
            </a:r>
          </a:p>
          <a:p>
            <a:pPr lvl="1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lvl="1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webapp-pod   CPU: 80%   Memory: 700Mi</a:t>
            </a:r>
          </a:p>
          <a:p>
            <a:pPr rtl="0">
              <a:lnSpc>
                <a:spcPct val="150000"/>
              </a:lnSpc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97578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CEDCE3E-5353-7F3E-2797-CA747F21A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17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C8E4A0-8A5C-72D4-D944-6BD604F3E119}"/>
              </a:ext>
            </a:extLst>
          </p:cNvPr>
          <p:cNvSpPr txBox="1"/>
          <p:nvPr/>
        </p:nvSpPr>
        <p:spPr>
          <a:xfrm>
            <a:off x="1169581" y="1078428"/>
            <a:ext cx="6103088" cy="224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3: Fix issue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 code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limits in YAML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6343CBC-903C-F671-5114-51BCCE6D44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303" y="3506982"/>
            <a:ext cx="3843366" cy="2410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39957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D26D3A-9BEB-43DB-C667-517C9441B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08441D9-5476-5EB0-3B62-5FC2D7D71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18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A2713F-2C73-EAEB-2CD6-3725EB164D31}"/>
              </a:ext>
            </a:extLst>
          </p:cNvPr>
          <p:cNvSpPr txBox="1"/>
          <p:nvPr/>
        </p:nvSpPr>
        <p:spPr>
          <a:xfrm>
            <a:off x="409517" y="788390"/>
            <a:ext cx="11444024" cy="5011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Lightweight observability does not provide long-term storage or advanced analytics. 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Logs and metrics may be lost when pods restart or nodes fail.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practices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include combining logs, metrics, and events, and using lightweight observability for quick debugging while adopting full monitoring stacks for large production environments.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Lightweight observability uses built-in Kubernetes tools such as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kubectl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logs, events, and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kubectl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top to provide essential visibility into cluster behavior and application health, supporting production-ready operations.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A5C568-672B-BD34-9EF8-C8E2A2EFBC29}"/>
              </a:ext>
            </a:extLst>
          </p:cNvPr>
          <p:cNvSpPr txBox="1"/>
          <p:nvPr/>
        </p:nvSpPr>
        <p:spPr>
          <a:xfrm>
            <a:off x="1228551" y="160167"/>
            <a:ext cx="1087743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Limitations, Best Practices, and Summary</a:t>
            </a:r>
            <a:endParaRPr lang="en-US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25068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792BE84-3448-2348-B352-CD5BC083E5FD}"/>
              </a:ext>
            </a:extLst>
          </p:cNvPr>
          <p:cNvSpPr/>
          <p:nvPr/>
        </p:nvSpPr>
        <p:spPr>
          <a:xfrm>
            <a:off x="2524146" y="1595121"/>
            <a:ext cx="7920111" cy="3158754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b="1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2400" b="1" dirty="0">
                <a:latin typeface="Poppins" pitchFamily="2" charset="77"/>
                <a:cs typeface="Poppins" pitchFamily="2" charset="77"/>
              </a:rPr>
              <a:t>THANK YOU</a:t>
            </a:r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b="1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2400" b="1" dirty="0">
                <a:latin typeface="Poppins" pitchFamily="2" charset="77"/>
                <a:cs typeface="Poppins" pitchFamily="2" charset="77"/>
              </a:rPr>
              <a:t>Team –</a:t>
            </a: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Foundations Of Cloud-native Computing &amp; </a:t>
            </a:r>
            <a:r>
              <a:rPr lang="en-US" sz="2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Devops</a:t>
            </a:r>
            <a:r>
              <a:rPr lang="en-US" sz="2800" dirty="0">
                <a:solidFill>
                  <a:schemeClr val="bg1"/>
                </a:solidFill>
              </a:rPr>
              <a:t>	</a:t>
            </a: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6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92614" y="2235201"/>
            <a:ext cx="3235570" cy="108321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91384277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24598BE9-BD78-4C1A-902E-0BA786164A9D}" vid="{1551CBD6-114D-4A17-981D-82FBB9D5494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PPT Template</Template>
  <TotalTime>8148</TotalTime>
  <Words>863</Words>
  <Application>Microsoft Office PowerPoint</Application>
  <PresentationFormat>Widescreen</PresentationFormat>
  <Paragraphs>153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Gill Sans MT</vt:lpstr>
      <vt:lpstr>Poppins</vt:lpstr>
      <vt:lpstr>Times New Roman</vt:lpstr>
      <vt:lpstr>Gallery</vt:lpstr>
      <vt:lpstr>Department of CSIT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john berkmans</dc:creator>
  <cp:lastModifiedBy>Lavanya Susanna</cp:lastModifiedBy>
  <cp:revision>467</cp:revision>
  <dcterms:created xsi:type="dcterms:W3CDTF">2023-05-03T05:20:57Z</dcterms:created>
  <dcterms:modified xsi:type="dcterms:W3CDTF">2026-03-18T09:34:07Z</dcterms:modified>
</cp:coreProperties>
</file>