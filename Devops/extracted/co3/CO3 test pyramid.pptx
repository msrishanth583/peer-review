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8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958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6358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" y="356260"/>
            <a:ext cx="5545776" cy="56840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pyramid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6108" y="3791480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18347-99A5-7DD6-B3A7-355B3B9E9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BFBD7-376A-9090-81DD-6C6F3F425286}"/>
              </a:ext>
            </a:extLst>
          </p:cNvPr>
          <p:cNvSpPr txBox="1"/>
          <p:nvPr/>
        </p:nvSpPr>
        <p:spPr>
          <a:xfrm>
            <a:off x="400429" y="1081316"/>
            <a:ext cx="418173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pyramid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way to organize and plan how to test different parts of a software project. It shows the best balance of three main types of tests: unit tests, integration tests, and end-to-end (E2E) tests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CEA09-07C1-F7AD-9F8D-09308899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929" y="533344"/>
            <a:ext cx="6925642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885EC7-785A-B0DD-137C-0F036ECF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C0BA5-F74B-F8F5-1DC3-4188944329BF}"/>
              </a:ext>
            </a:extLst>
          </p:cNvPr>
          <p:cNvSpPr txBox="1"/>
          <p:nvPr/>
        </p:nvSpPr>
        <p:spPr>
          <a:xfrm>
            <a:off x="447040" y="505381"/>
            <a:ext cx="11125200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say you're working on an online shopping website:</a:t>
            </a:r>
          </a:p>
          <a:p>
            <a:pPr marL="742950" lvl="1" indent="-28575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if the function that calculates the total price of items in a cart works correctly.</a:t>
            </a:r>
          </a:p>
          <a:p>
            <a:pPr marL="742950" lvl="1" indent="-28575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if the checkout process works by connecting the cart with the payment system and confirming the payment goes through.</a:t>
            </a:r>
          </a:p>
          <a:p>
            <a:pPr marL="742950" lvl="1" indent="-28575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the entire shopping experience, from browsing items to completing a purchase and receiving a confirmation email.</a:t>
            </a:r>
          </a:p>
          <a:p>
            <a:pPr marL="742950" lvl="1" indent="-28575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pyramid, you’d have many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fewer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only a few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top. This helps balance speed, cost, and coverage to keep the project efficient.</a:t>
            </a:r>
          </a:p>
        </p:txBody>
      </p:sp>
    </p:spTree>
    <p:extLst>
      <p:ext uri="{BB962C8B-B14F-4D97-AF65-F5344CB8AC3E}">
        <p14:creationId xmlns:p14="http://schemas.microsoft.com/office/powerpoint/2010/main" val="105337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8CBACF-8EA2-F977-2589-8D930C49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30080-2368-B192-8844-299558902DBD}"/>
              </a:ext>
            </a:extLst>
          </p:cNvPr>
          <p:cNvSpPr txBox="1"/>
          <p:nvPr/>
        </p:nvSpPr>
        <p:spPr>
          <a:xfrm>
            <a:off x="0" y="541285"/>
            <a:ext cx="1202944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Tests: The Base of the Pyramid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individual parts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Unit tests check small parts of code (like functions or classes) in isolation.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feedback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run fast, giving developers immediate feedback to catch bugs early.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Unit tests are cheap to run and help detect bugs early, preventing expensive fixes later.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design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encourage developers to write code that’s easier to test and maintain.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Unit Testing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Unit tests run in milliseconds, speeding up development.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Test-driven development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help write tests before code, ensuring the code is testable.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bug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Bugs are caught early when they're easiest and cheapest to fix.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ownership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Developers write and maintain their own unit tests, improving quality.</a:t>
            </a:r>
          </a:p>
        </p:txBody>
      </p:sp>
    </p:spTree>
    <p:extLst>
      <p:ext uri="{BB962C8B-B14F-4D97-AF65-F5344CB8AC3E}">
        <p14:creationId xmlns:p14="http://schemas.microsoft.com/office/powerpoint/2010/main" val="999175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887A7A-B8A4-0B2B-65F2-270F58EB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F4581-E729-1CEF-AF99-5DE1AB436CCE}"/>
              </a:ext>
            </a:extLst>
          </p:cNvPr>
          <p:cNvSpPr txBox="1"/>
          <p:nvPr/>
        </p:nvSpPr>
        <p:spPr>
          <a:xfrm>
            <a:off x="126999" y="503764"/>
            <a:ext cx="11938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Unit Testing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Mocking dependencies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Creating fake versions of services like databases can be complex.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issues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Unit tests can’t catch problems when parts of the system interact.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maintenance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 codebases or refactoring can make maintaining tests harder.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code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Older code that wasn’t designed for testing requires a lot of work to test effectively.</a:t>
            </a:r>
          </a:p>
          <a:p>
            <a:pPr algn="just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for Unit Tests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tests independent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test should run without affecting others.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clear names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names should describe what’s being tested and the expected outcome.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behavior, not implementation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testing what the code does, not how it does it.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for quality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Well-designed tests that catch real bugs are more valuable than many low-quality tests.</a:t>
            </a:r>
          </a:p>
        </p:txBody>
      </p:sp>
    </p:spTree>
    <p:extLst>
      <p:ext uri="{BB962C8B-B14F-4D97-AF65-F5344CB8AC3E}">
        <p14:creationId xmlns:p14="http://schemas.microsoft.com/office/powerpoint/2010/main" val="38959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35C430-4601-4740-1020-5C398D34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9AF2A-BD1A-0341-3706-4F63100B0536}"/>
              </a:ext>
            </a:extLst>
          </p:cNvPr>
          <p:cNvSpPr txBox="1"/>
          <p:nvPr/>
        </p:nvSpPr>
        <p:spPr>
          <a:xfrm>
            <a:off x="81280" y="335663"/>
            <a:ext cx="11775440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Tests: The Middle Layer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interactions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tests check how different parts of the system work together.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interface issues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catch problems like mismatched data formats and API issues.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E2E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are faster and more stable than full system tests.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the gap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offer a balance between unit tests and full system tests.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Integration Testing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interface issues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detect problems that unit tests miss, like data format mismatches.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 data moves correctly between different services or components.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without full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Catch most issues without the overhead of full system testing.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Faster than end-to-end tests while still testing critical paths.</a:t>
            </a:r>
          </a:p>
        </p:txBody>
      </p:sp>
    </p:spTree>
    <p:extLst>
      <p:ext uri="{BB962C8B-B14F-4D97-AF65-F5344CB8AC3E}">
        <p14:creationId xmlns:p14="http://schemas.microsoft.com/office/powerpoint/2010/main" val="330196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267DE6-66AD-E009-9D50-8443406A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6ABFC-929D-C693-4911-F033422A89BD}"/>
              </a:ext>
            </a:extLst>
          </p:cNvPr>
          <p:cNvSpPr txBox="1"/>
          <p:nvPr/>
        </p:nvSpPr>
        <p:spPr>
          <a:xfrm>
            <a:off x="121920" y="335663"/>
            <a:ext cx="11694160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Integration Testing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setup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Requires setting up databases and external services, which can be time-consuming.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Flaky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Dependencies like network issues or database locks can cause tests to fail intermittently.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to maintain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Keeping the test environment consistent can be challenging.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complexity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More complex systems can introduce more potential points of failure.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for Integration Testing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contract testing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 services' APIs work together without needing all services running.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Stub external services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Mock third-party services to avoid dependencies on them.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both happy and edge cases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Make sure to test both success and failure scenarios.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tests isolated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Minimize dependencies between services to make tests more stable</a:t>
            </a:r>
          </a:p>
        </p:txBody>
      </p:sp>
    </p:spTree>
    <p:extLst>
      <p:ext uri="{BB962C8B-B14F-4D97-AF65-F5344CB8AC3E}">
        <p14:creationId xmlns:p14="http://schemas.microsoft.com/office/powerpoint/2010/main" val="510852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7B9C73-818C-F308-E771-A057BF5C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34DE3-4C87-8883-5856-84D8B1E2E49E}"/>
              </a:ext>
            </a:extLst>
          </p:cNvPr>
          <p:cNvSpPr txBox="1"/>
          <p:nvPr/>
        </p:nvSpPr>
        <p:spPr>
          <a:xfrm>
            <a:off x="0" y="541285"/>
            <a:ext cx="121107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(E2E) Tests: The Top of the Pyramid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user journeys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E2E tests simulate real user actions, ensuring the full app works together.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confidence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validate that everything, from the UI to the database, works as expected.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real-world issues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identify issues only visible when everything runs together (e.g., performance or UI bugs).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are useful just before deployment to ensure everything functions correctly.</a:t>
            </a:r>
          </a:p>
          <a:p>
            <a:pPr algn="just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E2E Testing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system validation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Confirms the entire application works, including user interface and backend.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User-focused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the app functions correctly from a user’s perspective.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complex issues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Identifies problems that only arise when the whole system interacts.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confidence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confidence that the system will work for end users.</a:t>
            </a:r>
          </a:p>
        </p:txBody>
      </p:sp>
    </p:spTree>
    <p:extLst>
      <p:ext uri="{BB962C8B-B14F-4D97-AF65-F5344CB8AC3E}">
        <p14:creationId xmlns:p14="http://schemas.microsoft.com/office/powerpoint/2010/main" val="79508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8772AB-FCEE-3CEF-6C1C-C26DA057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9C62B-F445-07A0-1457-E0D91A42BE48}"/>
              </a:ext>
            </a:extLst>
          </p:cNvPr>
          <p:cNvSpPr txBox="1"/>
          <p:nvPr/>
        </p:nvSpPr>
        <p:spPr>
          <a:xfrm>
            <a:off x="259079" y="451262"/>
            <a:ext cx="11673840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E2E Testing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Fragile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Small UI changes can break E2E tests, requiring frequent updates.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execution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E2E tests take longer to run compared to unit and integration tests.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Running E2E tests in full environments can be expensive.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burden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Keeping tests up-to-date with UI changes can be resource-intensive.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for E2E Testing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key journeys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only the most important user actions that impact business outcomes.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self-healing tools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 maintenance by using tools that automatically adapt to UI changes.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selectively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Don’t run full E2E tests on every commit, but focus on key scenarios.</a:t>
            </a:r>
          </a:p>
          <a:p>
            <a:pPr lvl="1" algn="just"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codeless automation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 business users to create and maintain tests with minimal coding.</a:t>
            </a:r>
          </a:p>
        </p:txBody>
      </p:sp>
    </p:spTree>
    <p:extLst>
      <p:ext uri="{BB962C8B-B14F-4D97-AF65-F5344CB8AC3E}">
        <p14:creationId xmlns:p14="http://schemas.microsoft.com/office/powerpoint/2010/main" val="3174515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E1C37A-89EE-8C94-625F-EFF949B5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7D3D4-7CE7-FBE0-DF0E-3ACEBA62B212}"/>
              </a:ext>
            </a:extLst>
          </p:cNvPr>
          <p:cNvSpPr txBox="1"/>
          <p:nvPr/>
        </p:nvSpPr>
        <p:spPr>
          <a:xfrm>
            <a:off x="3721100" y="138499"/>
            <a:ext cx="610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Testing Pyramid Matters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60B8C-5725-82A2-D921-AE3946040629}"/>
              </a:ext>
            </a:extLst>
          </p:cNvPr>
          <p:cNvSpPr txBox="1"/>
          <p:nvPr/>
        </p:nvSpPr>
        <p:spPr>
          <a:xfrm>
            <a:off x="12700" y="579358"/>
            <a:ext cx="1206754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Bug Detection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bugs early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layer of the pyramid catches bugs at different stages of development.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fixes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Bugs caught early are cheaper to fix.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safety nets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test layer catches different types of bugs, reducing the risk of undetected issues.</a:t>
            </a:r>
          </a:p>
          <a:p>
            <a:pPr lvl="1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Rapid feedback at each level keeps development moving smoothly.</a:t>
            </a:r>
          </a:p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Agile &amp; DevOps Practices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Quick-running unit and integration tests fit well in agile workflows.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testing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Automated tests increase confidence without slowing down delivery.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Shift-left approach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Tests early in the process catch issues before they grow.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Agile-friendly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pyramid structure fits well with agile and DevOps practices, ensuring quality without slowing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2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Session-2</Template>
  <TotalTime>915</TotalTime>
  <Words>1159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Poppins</vt:lpstr>
      <vt:lpstr>Times New Roman</vt:lpstr>
      <vt:lpstr>Gallery</vt:lpstr>
      <vt:lpstr>Department of CSIT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Abhishek Guru</dc:creator>
  <cp:lastModifiedBy>Lavanya Susanna</cp:lastModifiedBy>
  <cp:revision>141</cp:revision>
  <dcterms:created xsi:type="dcterms:W3CDTF">2023-05-02T16:26:00Z</dcterms:created>
  <dcterms:modified xsi:type="dcterms:W3CDTF">2026-02-20T09:27:48Z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9D92E8B3CCDD4F159E81FC5DAC5EB7AA_13</vt:lpwstr>
  </property>
  <property fmtid="{D5CDD505-2E9C-101B-9397-08002B2CF9AE}" pid="3" name="KSOProductBuildVer">
    <vt:lpwstr>1033-12.2.0.17119</vt:lpwstr>
  </property>
</Properties>
</file>