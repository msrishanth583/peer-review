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handoutMasterIdLst>
    <p:handoutMasterId r:id="rId13"/>
  </p:handoutMasterIdLst>
  <p:sldIdLst>
    <p:sldId id="268" r:id="rId2"/>
    <p:sldId id="274" r:id="rId3"/>
    <p:sldId id="275" r:id="rId4"/>
    <p:sldId id="276" r:id="rId5"/>
    <p:sldId id="277" r:id="rId6"/>
    <p:sldId id="280" r:id="rId7"/>
    <p:sldId id="278" r:id="rId8"/>
    <p:sldId id="279" r:id="rId9"/>
    <p:sldId id="273" r:id="rId10"/>
    <p:sldId id="27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17-02-2026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36457958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75263589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464;p16"/>
          <p:cNvPicPr preferRelativeResize="0"/>
          <p:nvPr/>
        </p:nvPicPr>
        <p:blipFill>
          <a:blip r:embed="rId2">
            <a:extLst>
              <a:ext uri="{28A0092B-C50C-407E-A947-70E740481C1C}">
                <a14:useLocalDpi xmlns:a14="http://schemas.microsoft.com/office/drawing/2010/main" val="0"/>
              </a:ext>
            </a:extLst>
          </a:blip>
          <a:stretch>
            <a:fillRect/>
          </a:stretch>
        </p:blipFill>
        <p:spPr>
          <a:xfrm>
            <a:off x="83128" y="356260"/>
            <a:ext cx="5545776" cy="5684061"/>
          </a:xfrm>
          <a:prstGeom prst="rect">
            <a:avLst/>
          </a:prstGeom>
          <a:noFill/>
          <a:ln>
            <a:noFill/>
          </a:ln>
        </p:spPr>
      </p:pic>
      <p:sp>
        <p:nvSpPr>
          <p:cNvPr id="5" name="Google Shape;475;p16"/>
          <p:cNvSpPr txBox="1">
            <a:spLocks noGrp="1"/>
          </p:cNvSpPr>
          <p:nvPr>
            <p:ph type="ctrTitle"/>
          </p:nvPr>
        </p:nvSpPr>
        <p:spPr>
          <a:xfrm>
            <a:off x="4039419" y="557484"/>
            <a:ext cx="8637073" cy="480091"/>
          </a:xfrm>
          <a:prstGeom prst="rect">
            <a:avLst/>
          </a:prstGeom>
          <a:noFill/>
          <a:ln>
            <a:noFill/>
          </a:ln>
          <a:effectLst/>
        </p:spPr>
        <p:txBody>
          <a:bodyPr spcFirstLastPara="1" wrap="square" lIns="91425" tIns="45700" rIns="91425" bIns="45700" anchor="t" anchorCtr="0">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CSIT</a:t>
            </a:r>
          </a:p>
        </p:txBody>
      </p:sp>
      <p:sp>
        <p:nvSpPr>
          <p:cNvPr id="6" name="Google Shape;476;p16"/>
          <p:cNvSpPr txBox="1"/>
          <p:nvPr/>
        </p:nvSpPr>
        <p:spPr>
          <a:xfrm>
            <a:off x="4819387" y="1203208"/>
            <a:ext cx="7077136" cy="4001055"/>
          </a:xfrm>
          <a:prstGeom prst="rect">
            <a:avLst/>
          </a:prstGeom>
          <a:noFill/>
          <a:ln>
            <a:noFill/>
          </a:ln>
        </p:spPr>
        <p:txBody>
          <a:bodyPr spcFirstLastPara="1" wrap="square" lIns="91425" tIns="45700" rIns="91425" bIns="45700" anchor="t" anchorCtr="0">
            <a:spAutoFit/>
          </a:bodyPr>
          <a:lstStyle/>
          <a:p>
            <a:pPr algn="ctr"/>
            <a:r>
              <a:rPr lang="en-US" sz="2400" b="1" cap="all" dirty="0">
                <a:ln/>
                <a:latin typeface="Times New Roman" panose="02020603050405020304" pitchFamily="18" charset="0"/>
                <a:cs typeface="Times New Roman" panose="02020603050405020304" pitchFamily="18" charset="0"/>
                <a:sym typeface="BioRhyme ExtraBold"/>
              </a:rPr>
              <a:t>COURSE NAME </a:t>
            </a:r>
            <a:endParaRPr lang="en-IN" dirty="0"/>
          </a:p>
          <a:p>
            <a:pPr algn="ctr"/>
            <a:r>
              <a:rPr lang="en-US" dirty="0"/>
              <a:t> </a:t>
            </a:r>
            <a:r>
              <a:rPr lang="en-US" sz="2400" b="1" dirty="0">
                <a:solidFill>
                  <a:srgbClr val="C00000"/>
                </a:solidFill>
                <a:latin typeface="Times New Roman" panose="02020603050405020304" pitchFamily="18" charset="0"/>
                <a:cs typeface="Times New Roman" panose="02020603050405020304" pitchFamily="18" charset="0"/>
              </a:rPr>
              <a:t>FOUNDATIONS OF CLOUD-NATIVE COMPUTING &amp; DEVOPS</a:t>
            </a:r>
            <a:r>
              <a:rPr lang="en-US" dirty="0"/>
              <a:t>	</a:t>
            </a:r>
          </a:p>
          <a:p>
            <a:pPr marR="0" lvl="0" indent="0" algn="ctr">
              <a:lnSpc>
                <a:spcPct val="150000"/>
              </a:lnSpc>
              <a:spcBef>
                <a:spcPts val="0"/>
              </a:spcBef>
              <a:spcAft>
                <a:spcPts val="0"/>
              </a:spcAft>
              <a:buNone/>
            </a:pPr>
            <a:endParaRPr lang="en-US" sz="2400" b="1" cap="all" dirty="0">
              <a:ln/>
              <a:latin typeface="Times New Roman" panose="02020603050405020304" pitchFamily="18" charset="0"/>
              <a:cs typeface="Times New Roman" panose="02020603050405020304" pitchFamily="18" charset="0"/>
              <a:sym typeface="BioRhyme ExtraBold"/>
            </a:endParaRPr>
          </a:p>
          <a:p>
            <a:pPr algn="ctr"/>
            <a:r>
              <a:rPr lang="en-US" sz="2400" b="1" cap="all" dirty="0">
                <a:ln/>
                <a:latin typeface="Times New Roman" panose="02020603050405020304" pitchFamily="18" charset="0"/>
                <a:cs typeface="Times New Roman" panose="02020603050405020304" pitchFamily="18" charset="0"/>
                <a:sym typeface="BioRhyme ExtraBold"/>
              </a:rPr>
              <a:t>COURSE CODE </a:t>
            </a:r>
            <a:r>
              <a:rPr lang="en-US" sz="2400" b="1" cap="all" dirty="0">
                <a:ln/>
                <a:solidFill>
                  <a:srgbClr val="C00000"/>
                </a:solidFill>
                <a:latin typeface="Times New Roman" panose="02020603050405020304" pitchFamily="18" charset="0"/>
                <a:cs typeface="Times New Roman" panose="02020603050405020304" pitchFamily="18" charset="0"/>
                <a:sym typeface="BioRhyme ExtraBold"/>
              </a:rPr>
              <a:t>–</a:t>
            </a:r>
            <a:r>
              <a:rPr lang="en-IN" sz="2400" b="1" dirty="0">
                <a:solidFill>
                  <a:srgbClr val="C00000"/>
                </a:solidFill>
                <a:latin typeface="Times New Roman" panose="02020603050405020304" pitchFamily="18" charset="0"/>
                <a:cs typeface="Times New Roman" panose="02020603050405020304" pitchFamily="18" charset="0"/>
              </a:rPr>
              <a:t>24CS2260F</a:t>
            </a:r>
            <a:r>
              <a:rPr lang="en-IN" dirty="0"/>
              <a:t>	</a:t>
            </a:r>
          </a:p>
          <a:p>
            <a:pPr marR="0" lvl="0" indent="0" algn="ctr">
              <a:lnSpc>
                <a:spcPct val="150000"/>
              </a:lnSpc>
              <a:spcBef>
                <a:spcPts val="0"/>
              </a:spcBef>
              <a:spcAft>
                <a:spcPts val="0"/>
              </a:spcAft>
              <a:buNone/>
            </a:pPr>
            <a:endParaRPr lang="en-IN"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indent="0" algn="ctr">
              <a:lnSpc>
                <a:spcPct val="150000"/>
              </a:lnSpc>
              <a:spcBef>
                <a:spcPts val="0"/>
              </a:spcBef>
              <a:spcAft>
                <a:spcPts val="0"/>
              </a:spcAft>
              <a:buNone/>
            </a:pPr>
            <a:r>
              <a:rPr lang="en-US" sz="24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endParaRPr lang="en-IN" dirty="0"/>
          </a:p>
          <a:p>
            <a:pPr algn="ctr"/>
            <a:r>
              <a:rPr lang="en-IN" sz="3200" b="1" dirty="0">
                <a:solidFill>
                  <a:srgbClr val="C00000"/>
                </a:solidFill>
                <a:latin typeface="Times New Roman" panose="02020603050405020304" pitchFamily="18" charset="0"/>
                <a:cs typeface="Times New Roman" panose="02020603050405020304" pitchFamily="18" charset="0"/>
              </a:rPr>
              <a:t> Unit &amp; Container build stages </a:t>
            </a:r>
            <a:r>
              <a:rPr lang="en-IN" dirty="0"/>
              <a:t>	</a:t>
            </a:r>
          </a:p>
        </p:txBody>
      </p:sp>
      <p:sp>
        <p:nvSpPr>
          <p:cNvPr id="7" name="Google Shape;502;p17">
            <a:extLst>
              <a:ext uri="{FF2B5EF4-FFF2-40B4-BE49-F238E27FC236}">
                <a16:creationId xmlns:a16="http://schemas.microsoft.com/office/drawing/2014/main" id="{7153E61F-4441-DBE3-3DFF-6E9EF6C48D23}"/>
              </a:ext>
            </a:extLst>
          </p:cNvPr>
          <p:cNvSpPr>
            <a:spLocks noGrp="1"/>
          </p:cNvSpPr>
          <p:nvPr>
            <p:ph type="subTitle" idx="1"/>
          </p:nvPr>
        </p:nvSpPr>
        <p:spPr>
          <a:xfrm>
            <a:off x="7546108" y="3791480"/>
            <a:ext cx="2161309" cy="54462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latin typeface="Times New Roman" panose="02020603050405020304" pitchFamily="18" charset="0"/>
                <a:ea typeface="Calibri"/>
                <a:cs typeface="Times New Roman" panose="02020603050405020304" pitchFamily="18" charset="0"/>
                <a:sym typeface="Calibri"/>
              </a:rPr>
              <a:t>Session - </a:t>
            </a:r>
            <a:endParaRPr sz="240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920513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CA117C-9253-0BCB-0294-A0C0D371E10B}"/>
              </a:ext>
            </a:extLst>
          </p:cNvPr>
          <p:cNvSpPr>
            <a:spLocks noGrp="1"/>
          </p:cNvSpPr>
          <p:nvPr>
            <p:ph type="sldNum" sz="quarter" idx="12"/>
          </p:nvPr>
        </p:nvSpPr>
        <p:spPr/>
        <p:txBody>
          <a:bodyPr/>
          <a:lstStyle/>
          <a:p>
            <a:fld id="{CBABCCC1-BF11-4F37-963E-1BCD5B23FD72}" type="slidenum">
              <a:rPr lang="en-IN" smtClean="0"/>
              <a:t>2</a:t>
            </a:fld>
            <a:endParaRPr lang="en-IN"/>
          </a:p>
        </p:txBody>
      </p:sp>
      <p:sp>
        <p:nvSpPr>
          <p:cNvPr id="4" name="TextBox 3">
            <a:extLst>
              <a:ext uri="{FF2B5EF4-FFF2-40B4-BE49-F238E27FC236}">
                <a16:creationId xmlns:a16="http://schemas.microsoft.com/office/drawing/2014/main" id="{E21259D3-BEC6-D31E-B666-46BA06B86BEA}"/>
              </a:ext>
            </a:extLst>
          </p:cNvPr>
          <p:cNvSpPr txBox="1"/>
          <p:nvPr/>
        </p:nvSpPr>
        <p:spPr>
          <a:xfrm>
            <a:off x="355600" y="874375"/>
            <a:ext cx="11358880" cy="5278368"/>
          </a:xfrm>
          <a:prstGeom prst="rect">
            <a:avLst/>
          </a:prstGeom>
          <a:noFill/>
        </p:spPr>
        <p:txBody>
          <a:bodyPr wrap="square">
            <a:spAutoFit/>
          </a:bodyPr>
          <a:lstStyle/>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	Both the </a:t>
            </a:r>
            <a:r>
              <a:rPr lang="en-US" sz="2400" b="1" dirty="0">
                <a:latin typeface="Times New Roman" panose="02020603050405020304" pitchFamily="18" charset="0"/>
                <a:cs typeface="Times New Roman" panose="02020603050405020304" pitchFamily="18" charset="0"/>
              </a:rPr>
              <a:t>unit build stage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container build stage</a:t>
            </a:r>
            <a:r>
              <a:rPr lang="en-US" sz="2400" dirty="0">
                <a:latin typeface="Times New Roman" panose="02020603050405020304" pitchFamily="18" charset="0"/>
                <a:cs typeface="Times New Roman" panose="02020603050405020304" pitchFamily="18" charset="0"/>
              </a:rPr>
              <a:t> are important parts of the software development and deployment process, but they address different concern</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1. Unit Build Stage</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What it is:</a:t>
            </a:r>
          </a:p>
          <a:p>
            <a:pPr marL="800100" lvl="1"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unit build stage refers to the process where individual unit tests are run on isolated pieces of code to ensure they work as expected. These tests are typically executed in the development or continuous integration pipeline.</a:t>
            </a:r>
          </a:p>
          <a:p>
            <a:pPr marL="800100" lvl="1"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Unit tests are designed to verify the functionality of small, isolated units of code—usually individual functions or methods.</a:t>
            </a:r>
          </a:p>
          <a:p>
            <a:pPr marL="800100" lvl="1"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goal is to catch bugs or issues in small code segments before integrating them with larger components or systems.</a:t>
            </a:r>
          </a:p>
          <a:p>
            <a:endParaRPr lang="en-IN" dirty="0"/>
          </a:p>
        </p:txBody>
      </p:sp>
    </p:spTree>
    <p:extLst>
      <p:ext uri="{BB962C8B-B14F-4D97-AF65-F5344CB8AC3E}">
        <p14:creationId xmlns:p14="http://schemas.microsoft.com/office/powerpoint/2010/main" val="268481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C1FAE3-A708-99DE-EF0B-9B2119BAA331}"/>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4" name="TextBox 3">
            <a:extLst>
              <a:ext uri="{FF2B5EF4-FFF2-40B4-BE49-F238E27FC236}">
                <a16:creationId xmlns:a16="http://schemas.microsoft.com/office/drawing/2014/main" id="{4437A7D5-79FB-ABD1-6024-E18C6E4FD986}"/>
              </a:ext>
            </a:extLst>
          </p:cNvPr>
          <p:cNvSpPr txBox="1"/>
          <p:nvPr/>
        </p:nvSpPr>
        <p:spPr>
          <a:xfrm>
            <a:off x="591820" y="920879"/>
            <a:ext cx="10736580" cy="4185761"/>
          </a:xfrm>
          <a:prstGeom prst="rect">
            <a:avLst/>
          </a:prstGeom>
          <a:noFill/>
        </p:spPr>
        <p:txBody>
          <a:bodyPr wrap="square">
            <a:spAutoFit/>
          </a:bodyPr>
          <a:lstStyle/>
          <a:p>
            <a:pPr>
              <a:spcBef>
                <a:spcPts val="600"/>
              </a:spcBef>
              <a:spcAft>
                <a:spcPts val="600"/>
              </a:spcAft>
              <a:buNone/>
            </a:pPr>
            <a:r>
              <a:rPr lang="en-US" sz="2400" b="1" dirty="0">
                <a:latin typeface="Times New Roman" panose="02020603050405020304" pitchFamily="18" charset="0"/>
                <a:cs typeface="Times New Roman" panose="02020603050405020304" pitchFamily="18" charset="0"/>
              </a:rPr>
              <a:t>How it Works:</a:t>
            </a:r>
          </a:p>
          <a:p>
            <a:pPr marL="742950" lvl="1" indent="-28575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Code is written</a:t>
            </a:r>
            <a:r>
              <a:rPr lang="en-US" sz="2400" dirty="0">
                <a:latin typeface="Times New Roman" panose="02020603050405020304" pitchFamily="18" charset="0"/>
                <a:cs typeface="Times New Roman" panose="02020603050405020304" pitchFamily="18" charset="0"/>
              </a:rPr>
              <a:t> (e.g., a function to calculate a user's age).</a:t>
            </a:r>
          </a:p>
          <a:p>
            <a:pPr marL="742950" lvl="1" indent="-28575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Unit tests</a:t>
            </a:r>
            <a:r>
              <a:rPr lang="en-US" sz="2400" dirty="0">
                <a:latin typeface="Times New Roman" panose="02020603050405020304" pitchFamily="18" charset="0"/>
                <a:cs typeface="Times New Roman" panose="02020603050405020304" pitchFamily="18" charset="0"/>
              </a:rPr>
              <a:t> are created for that code (e.g., a test to ensure the function returns the correct age).</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a:t>
            </a:r>
            <a:r>
              <a:rPr lang="en-US" sz="2400" b="1" dirty="0">
                <a:latin typeface="Times New Roman" panose="02020603050405020304" pitchFamily="18" charset="0"/>
                <a:cs typeface="Times New Roman" panose="02020603050405020304" pitchFamily="18" charset="0"/>
              </a:rPr>
              <a:t>unit build stage</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unit tests</a:t>
            </a:r>
            <a:r>
              <a:rPr lang="en-US" sz="2400" dirty="0">
                <a:latin typeface="Times New Roman" panose="02020603050405020304" pitchFamily="18" charset="0"/>
                <a:cs typeface="Times New Roman" panose="02020603050405020304" pitchFamily="18" charset="0"/>
              </a:rPr>
              <a:t> are run to make sure that the function behaves as expected.</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tests </a:t>
            </a:r>
            <a:r>
              <a:rPr lang="en-US" sz="2400" b="1" dirty="0">
                <a:latin typeface="Times New Roman" panose="02020603050405020304" pitchFamily="18" charset="0"/>
                <a:cs typeface="Times New Roman" panose="02020603050405020304" pitchFamily="18" charset="0"/>
              </a:rPr>
              <a:t>pass</a:t>
            </a:r>
            <a:r>
              <a:rPr lang="en-US" sz="2400" dirty="0">
                <a:latin typeface="Times New Roman" panose="02020603050405020304" pitchFamily="18" charset="0"/>
                <a:cs typeface="Times New Roman" panose="02020603050405020304" pitchFamily="18" charset="0"/>
              </a:rPr>
              <a:t>, the code is considered "safe" and ready to be merged into the larger application.</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tests </a:t>
            </a:r>
            <a:r>
              <a:rPr lang="en-US" sz="2400" b="1" dirty="0">
                <a:latin typeface="Times New Roman" panose="02020603050405020304" pitchFamily="18" charset="0"/>
                <a:cs typeface="Times New Roman" panose="02020603050405020304" pitchFamily="18" charset="0"/>
              </a:rPr>
              <a:t>fail</a:t>
            </a:r>
            <a:r>
              <a:rPr lang="en-US" sz="2400" dirty="0">
                <a:latin typeface="Times New Roman" panose="02020603050405020304" pitchFamily="18" charset="0"/>
                <a:cs typeface="Times New Roman" panose="02020603050405020304" pitchFamily="18" charset="0"/>
              </a:rPr>
              <a:t>, the code is rejected, and the developer must fix the issue.</a:t>
            </a:r>
          </a:p>
        </p:txBody>
      </p:sp>
    </p:spTree>
    <p:extLst>
      <p:ext uri="{BB962C8B-B14F-4D97-AF65-F5344CB8AC3E}">
        <p14:creationId xmlns:p14="http://schemas.microsoft.com/office/powerpoint/2010/main" val="2462227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517896-EDFF-CD76-65D2-EBF783643E84}"/>
              </a:ext>
            </a:extLst>
          </p:cNvPr>
          <p:cNvSpPr>
            <a:spLocks noGrp="1"/>
          </p:cNvSpPr>
          <p:nvPr>
            <p:ph type="sldNum" sz="quarter" idx="12"/>
          </p:nvPr>
        </p:nvSpPr>
        <p:spPr/>
        <p:txBody>
          <a:bodyPr/>
          <a:lstStyle/>
          <a:p>
            <a:fld id="{CBABCCC1-BF11-4F37-963E-1BCD5B23FD72}" type="slidenum">
              <a:rPr lang="en-IN" smtClean="0"/>
              <a:t>4</a:t>
            </a:fld>
            <a:endParaRPr lang="en-IN"/>
          </a:p>
        </p:txBody>
      </p:sp>
      <p:sp>
        <p:nvSpPr>
          <p:cNvPr id="4" name="TextBox 3">
            <a:extLst>
              <a:ext uri="{FF2B5EF4-FFF2-40B4-BE49-F238E27FC236}">
                <a16:creationId xmlns:a16="http://schemas.microsoft.com/office/drawing/2014/main" id="{EF031AF5-2664-190F-7BBE-B8B433E1B3B0}"/>
              </a:ext>
            </a:extLst>
          </p:cNvPr>
          <p:cNvSpPr txBox="1"/>
          <p:nvPr/>
        </p:nvSpPr>
        <p:spPr>
          <a:xfrm>
            <a:off x="480060" y="612844"/>
            <a:ext cx="5097780" cy="4647426"/>
          </a:xfrm>
          <a:prstGeom prst="rect">
            <a:avLst/>
          </a:prstGeom>
          <a:noFill/>
        </p:spPr>
        <p:txBody>
          <a:bodyPr wrap="square">
            <a:spAutoFit/>
          </a:bodyPr>
          <a:lstStyle/>
          <a:p>
            <a:pPr>
              <a:spcBef>
                <a:spcPts val="600"/>
              </a:spcBef>
              <a:spcAft>
                <a:spcPts val="600"/>
              </a:spcAft>
            </a:pPr>
            <a:r>
              <a:rPr lang="en-IN" sz="2400" b="1" dirty="0">
                <a:latin typeface="Times New Roman" panose="02020603050405020304" pitchFamily="18" charset="0"/>
                <a:cs typeface="Times New Roman" panose="02020603050405020304" pitchFamily="18" charset="0"/>
              </a:rPr>
              <a:t>Example of Unit Test:</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Addition.java</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public class Addition</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public int </a:t>
            </a:r>
            <a:r>
              <a:rPr lang="en-US" sz="2400" dirty="0" err="1">
                <a:latin typeface="Times New Roman" panose="02020603050405020304" pitchFamily="18" charset="0"/>
                <a:cs typeface="Times New Roman" panose="02020603050405020304" pitchFamily="18" charset="0"/>
              </a:rPr>
              <a:t>add_numbers</a:t>
            </a:r>
            <a:r>
              <a:rPr lang="en-US" sz="2400" dirty="0">
                <a:latin typeface="Times New Roman" panose="02020603050405020304" pitchFamily="18" charset="0"/>
                <a:cs typeface="Times New Roman" panose="02020603050405020304" pitchFamily="18" charset="0"/>
              </a:rPr>
              <a:t>(int a, int b)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return a + b;</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EB262827-B62D-DAC5-D86C-6B4A3B11532E}"/>
              </a:ext>
            </a:extLst>
          </p:cNvPr>
          <p:cNvSpPr txBox="1"/>
          <p:nvPr/>
        </p:nvSpPr>
        <p:spPr>
          <a:xfrm>
            <a:off x="5880102" y="895757"/>
            <a:ext cx="6101080" cy="4124206"/>
          </a:xfrm>
          <a:prstGeom prst="rect">
            <a:avLst/>
          </a:prstGeom>
          <a:noFill/>
        </p:spPr>
        <p:txBody>
          <a:bodyPr wrap="square">
            <a:spAutoFit/>
          </a:bodyPr>
          <a:lstStyle/>
          <a:p>
            <a:pPr algn="ctr">
              <a:spcBef>
                <a:spcPts val="600"/>
              </a:spcBef>
              <a:spcAft>
                <a:spcPts val="600"/>
              </a:spcAft>
            </a:pPr>
            <a:r>
              <a:rPr lang="en-US" sz="2400" b="1" dirty="0">
                <a:latin typeface="Times New Roman" panose="02020603050405020304" pitchFamily="18" charset="0"/>
                <a:cs typeface="Times New Roman" panose="02020603050405020304" pitchFamily="18" charset="0"/>
              </a:rPr>
              <a:t>Create test case</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@Test</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public void </a:t>
            </a:r>
            <a:r>
              <a:rPr lang="en-US" sz="2400" dirty="0" err="1">
                <a:latin typeface="Times New Roman" panose="02020603050405020304" pitchFamily="18" charset="0"/>
                <a:cs typeface="Times New Roman" panose="02020603050405020304" pitchFamily="18" charset="0"/>
              </a:rPr>
              <a:t>testAddTwoPositiveNumbers</a:t>
            </a:r>
            <a:r>
              <a:rPr lang="en-US" sz="2400" dirty="0">
                <a:latin typeface="Times New Roman" panose="02020603050405020304" pitchFamily="18" charset="0"/>
                <a:cs typeface="Times New Roman" panose="02020603050405020304" pitchFamily="18" charset="0"/>
              </a:rPr>
              <a:t>()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Addition a = new Addition();</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actual_result</a:t>
            </a:r>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add_numbers</a:t>
            </a:r>
            <a:r>
              <a:rPr lang="en-US" sz="2400" dirty="0">
                <a:latin typeface="Times New Roman" panose="02020603050405020304" pitchFamily="18" charset="0"/>
                <a:cs typeface="Times New Roman" panose="02020603050405020304" pitchFamily="18" charset="0"/>
              </a:rPr>
              <a:t>(2,3);</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Assert.assertEquals</a:t>
            </a:r>
            <a:r>
              <a:rPr lang="en-US" sz="2400" dirty="0">
                <a:latin typeface="Times New Roman" panose="02020603050405020304" pitchFamily="18" charset="0"/>
                <a:cs typeface="Times New Roman" panose="02020603050405020304" pitchFamily="18" charset="0"/>
              </a:rPr>
              <a:t>(5, </a:t>
            </a:r>
            <a:r>
              <a:rPr lang="en-US" sz="2400" dirty="0" err="1">
                <a:latin typeface="Times New Roman" panose="02020603050405020304" pitchFamily="18" charset="0"/>
                <a:cs typeface="Times New Roman" panose="02020603050405020304" pitchFamily="18" charset="0"/>
              </a:rPr>
              <a:t>actual_result</a:t>
            </a:r>
            <a:r>
              <a:rPr lang="en-US" sz="2400" dirty="0">
                <a:latin typeface="Times New Roman" panose="02020603050405020304" pitchFamily="18" charset="0"/>
                <a:cs typeface="Times New Roman" panose="02020603050405020304" pitchFamily="18" charset="0"/>
              </a:rPr>
              <a:t> );</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FFF536CA-13C4-6A0A-06F6-35B1047AD7E8}"/>
              </a:ext>
            </a:extLst>
          </p:cNvPr>
          <p:cNvSpPr txBox="1"/>
          <p:nvPr/>
        </p:nvSpPr>
        <p:spPr>
          <a:xfrm>
            <a:off x="0" y="5315912"/>
            <a:ext cx="11981182" cy="830997"/>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If the test passes, everything is fine. If it fails (e.g., due to a wrong calculation), the code will need to be fixed.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664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027015-E1B9-A7C2-BCAA-A25CF741D66F}"/>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4" name="TextBox 3">
            <a:extLst>
              <a:ext uri="{FF2B5EF4-FFF2-40B4-BE49-F238E27FC236}">
                <a16:creationId xmlns:a16="http://schemas.microsoft.com/office/drawing/2014/main" id="{354C45FD-DBC7-AC53-E0CB-5AD1ED233133}"/>
              </a:ext>
            </a:extLst>
          </p:cNvPr>
          <p:cNvSpPr txBox="1"/>
          <p:nvPr/>
        </p:nvSpPr>
        <p:spPr>
          <a:xfrm>
            <a:off x="330200" y="621387"/>
            <a:ext cx="11531600" cy="4924425"/>
          </a:xfrm>
          <a:prstGeom prst="rect">
            <a:avLst/>
          </a:prstGeom>
          <a:noFill/>
        </p:spPr>
        <p:txBody>
          <a:bodyPr wrap="square">
            <a:spAutoFit/>
          </a:bodyPr>
          <a:lstStyle/>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2. Container Build Stage</a:t>
            </a:r>
          </a:p>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What it is:</a:t>
            </a:r>
          </a:p>
          <a:p>
            <a:pPr algn="just">
              <a:spcBef>
                <a:spcPts val="600"/>
              </a:spcBef>
              <a:spcAft>
                <a:spcPts val="600"/>
              </a:spcAft>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container build stage</a:t>
            </a:r>
            <a:r>
              <a:rPr lang="en-US" sz="2400" dirty="0">
                <a:latin typeface="Times New Roman" panose="02020603050405020304" pitchFamily="18" charset="0"/>
                <a:cs typeface="Times New Roman" panose="02020603050405020304" pitchFamily="18" charset="0"/>
              </a:rPr>
              <a:t> refers to the process of </a:t>
            </a:r>
            <a:r>
              <a:rPr lang="en-US" sz="2400" b="1" dirty="0">
                <a:latin typeface="Times New Roman" panose="02020603050405020304" pitchFamily="18" charset="0"/>
                <a:cs typeface="Times New Roman" panose="02020603050405020304" pitchFamily="18" charset="0"/>
              </a:rPr>
              <a:t>building a Docker container image</a:t>
            </a:r>
            <a:r>
              <a:rPr lang="en-US" sz="2400" dirty="0">
                <a:latin typeface="Times New Roman" panose="02020603050405020304" pitchFamily="18" charset="0"/>
                <a:cs typeface="Times New Roman" panose="02020603050405020304" pitchFamily="18" charset="0"/>
              </a:rPr>
              <a:t> for an application. Containers provide a consistent environment to run applications across different systems by packaging the application code along with its dependencies.</a:t>
            </a:r>
          </a:p>
          <a:p>
            <a:pPr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Containers</a:t>
            </a:r>
            <a:r>
              <a:rPr lang="en-US" sz="2400" dirty="0">
                <a:latin typeface="Times New Roman" panose="02020603050405020304" pitchFamily="18" charset="0"/>
                <a:cs typeface="Times New Roman" panose="02020603050405020304" pitchFamily="18" charset="0"/>
              </a:rPr>
              <a:t> (like Docker) make sure that the application works the same way regardless of where it runs, whether it's on a developer's laptop, a test environment, or in production.</a:t>
            </a:r>
          </a:p>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How it Works:</a:t>
            </a:r>
          </a:p>
          <a:p>
            <a:pPr algn="just">
              <a:spcBef>
                <a:spcPts val="600"/>
              </a:spcBef>
              <a:spcAft>
                <a:spcPts val="600"/>
              </a:spcAft>
              <a:buFont typeface="+mj-lt"/>
              <a:buAutoNum type="arabicPeriod"/>
            </a:pPr>
            <a:r>
              <a:rPr lang="en-US" sz="2400" b="1"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defines the steps to create a container image for an application. It typically specifies which base image to use (like an official Python or Node.js image), copies code into the container, installs dependencies, and defines how the app should run.</a:t>
            </a:r>
          </a:p>
        </p:txBody>
      </p:sp>
    </p:spTree>
    <p:extLst>
      <p:ext uri="{BB962C8B-B14F-4D97-AF65-F5344CB8AC3E}">
        <p14:creationId xmlns:p14="http://schemas.microsoft.com/office/powerpoint/2010/main" val="528421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D0C3A9-9E6F-1141-6EC0-8AD2E3B3DF14}"/>
              </a:ext>
            </a:extLst>
          </p:cNvPr>
          <p:cNvSpPr>
            <a:spLocks noGrp="1"/>
          </p:cNvSpPr>
          <p:nvPr>
            <p:ph type="sldNum" sz="quarter" idx="12"/>
          </p:nvPr>
        </p:nvSpPr>
        <p:spPr/>
        <p:txBody>
          <a:bodyPr/>
          <a:lstStyle/>
          <a:p>
            <a:fld id="{CBABCCC1-BF11-4F37-963E-1BCD5B23FD72}" type="slidenum">
              <a:rPr lang="en-IN" smtClean="0"/>
              <a:t>6</a:t>
            </a:fld>
            <a:endParaRPr lang="en-IN"/>
          </a:p>
        </p:txBody>
      </p:sp>
      <p:sp>
        <p:nvSpPr>
          <p:cNvPr id="4" name="TextBox 3">
            <a:extLst>
              <a:ext uri="{FF2B5EF4-FFF2-40B4-BE49-F238E27FC236}">
                <a16:creationId xmlns:a16="http://schemas.microsoft.com/office/drawing/2014/main" id="{986D2F0B-58E0-282D-2977-EE679D9C5E6F}"/>
              </a:ext>
            </a:extLst>
          </p:cNvPr>
          <p:cNvSpPr txBox="1"/>
          <p:nvPr/>
        </p:nvSpPr>
        <p:spPr>
          <a:xfrm>
            <a:off x="927100" y="744419"/>
            <a:ext cx="10685780" cy="3903954"/>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2.Building the Container</a:t>
            </a:r>
            <a:r>
              <a:rPr lang="en-US" sz="2400" dirty="0">
                <a:latin typeface="Times New Roman" panose="02020603050405020304" pitchFamily="18" charset="0"/>
                <a:cs typeface="Times New Roman" panose="02020603050405020304" pitchFamily="18" charset="0"/>
              </a:rPr>
              <a:t>: During the container build stage, the </a:t>
            </a:r>
            <a:r>
              <a:rPr lang="en-US" sz="2400" b="1"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is executed by Docker (or another containerization tool). It creates a container image that contains everything needed to run the application (code, libraries, environment variables, etc.).</a:t>
            </a:r>
          </a:p>
          <a:p>
            <a:pPr algn="just">
              <a:lnSpc>
                <a:spcPct val="150000"/>
              </a:lnSpc>
            </a:pPr>
            <a:r>
              <a:rPr lang="en-US" sz="2400" dirty="0">
                <a:latin typeface="Times New Roman" panose="02020603050405020304" pitchFamily="18" charset="0"/>
                <a:cs typeface="Times New Roman" panose="02020603050405020304" pitchFamily="18" charset="0"/>
              </a:rPr>
              <a:t>3.Once the </a:t>
            </a:r>
            <a:r>
              <a:rPr lang="en-US" sz="2400" b="1" dirty="0">
                <a:latin typeface="Times New Roman" panose="02020603050405020304" pitchFamily="18" charset="0"/>
                <a:cs typeface="Times New Roman" panose="02020603050405020304" pitchFamily="18" charset="0"/>
              </a:rPr>
              <a:t>container image</a:t>
            </a:r>
            <a:r>
              <a:rPr lang="en-US" sz="2400" dirty="0">
                <a:latin typeface="Times New Roman" panose="02020603050405020304" pitchFamily="18" charset="0"/>
                <a:cs typeface="Times New Roman" panose="02020603050405020304" pitchFamily="18" charset="0"/>
              </a:rPr>
              <a:t> is built, it can be pushed to a container registry (like </a:t>
            </a:r>
            <a:r>
              <a:rPr lang="en-US" sz="2400" b="1" dirty="0">
                <a:latin typeface="Times New Roman" panose="02020603050405020304" pitchFamily="18" charset="0"/>
                <a:cs typeface="Times New Roman" panose="02020603050405020304" pitchFamily="18" charset="0"/>
              </a:rPr>
              <a:t>Docker Hub</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AWS ECR</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Google Container Registry</a:t>
            </a:r>
            <a:r>
              <a:rPr lang="en-US" sz="2400" dirty="0">
                <a:latin typeface="Times New Roman" panose="02020603050405020304" pitchFamily="18" charset="0"/>
                <a:cs typeface="Times New Roman" panose="02020603050405020304" pitchFamily="18" charset="0"/>
              </a:rPr>
              <a:t>) and later deployed to any machine or cloud platform that supports containers.</a:t>
            </a:r>
          </a:p>
        </p:txBody>
      </p:sp>
    </p:spTree>
    <p:extLst>
      <p:ext uri="{BB962C8B-B14F-4D97-AF65-F5344CB8AC3E}">
        <p14:creationId xmlns:p14="http://schemas.microsoft.com/office/powerpoint/2010/main" val="308891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107B51-A60C-D452-3193-E80B02C6C6AF}"/>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4" name="TextBox 3">
            <a:extLst>
              <a:ext uri="{FF2B5EF4-FFF2-40B4-BE49-F238E27FC236}">
                <a16:creationId xmlns:a16="http://schemas.microsoft.com/office/drawing/2014/main" id="{4399AA4F-F667-7CFC-0699-A5D40EC0E9C0}"/>
              </a:ext>
            </a:extLst>
          </p:cNvPr>
          <p:cNvSpPr txBox="1"/>
          <p:nvPr/>
        </p:nvSpPr>
        <p:spPr>
          <a:xfrm>
            <a:off x="1859280" y="202731"/>
            <a:ext cx="7424420" cy="6340197"/>
          </a:xfrm>
          <a:prstGeom prst="rect">
            <a:avLst/>
          </a:prstGeom>
          <a:noFill/>
        </p:spPr>
        <p:txBody>
          <a:bodyPr wrap="square">
            <a:spAutoFit/>
          </a:bodyPr>
          <a:lstStyle/>
          <a:p>
            <a:pPr>
              <a:spcBef>
                <a:spcPts val="600"/>
              </a:spcBef>
              <a:spcAft>
                <a:spcPts val="600"/>
              </a:spcAft>
            </a:pPr>
            <a:r>
              <a:rPr lang="en-US" sz="2400" dirty="0">
                <a:latin typeface="Times New Roman" panose="02020603050405020304" pitchFamily="18" charset="0"/>
                <a:cs typeface="Times New Roman" panose="02020603050405020304" pitchFamily="18" charset="0"/>
              </a:rPr>
              <a:t>simple </a:t>
            </a:r>
            <a:r>
              <a:rPr lang="en-US" sz="2400" b="1"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for a Node.js application:</a:t>
            </a:r>
          </a:p>
          <a:p>
            <a:pPr lvl="1">
              <a:spcAft>
                <a:spcPts val="600"/>
              </a:spcAft>
            </a:pPr>
            <a:r>
              <a:rPr lang="en-US" sz="2400" dirty="0">
                <a:latin typeface="Times New Roman" panose="02020603050405020304" pitchFamily="18" charset="0"/>
                <a:cs typeface="Times New Roman" panose="02020603050405020304" pitchFamily="18" charset="0"/>
              </a:rPr>
              <a:t># Use official Node.js image as base</a:t>
            </a:r>
          </a:p>
          <a:p>
            <a:pPr lvl="1">
              <a:spcAft>
                <a:spcPts val="600"/>
              </a:spcAft>
            </a:pPr>
            <a:r>
              <a:rPr lang="en-US" sz="2400" dirty="0">
                <a:latin typeface="Times New Roman" panose="02020603050405020304" pitchFamily="18" charset="0"/>
                <a:cs typeface="Times New Roman" panose="02020603050405020304" pitchFamily="18" charset="0"/>
              </a:rPr>
              <a:t>FROM node:14</a:t>
            </a:r>
          </a:p>
          <a:p>
            <a:pPr lvl="1">
              <a:spcAft>
                <a:spcPts val="600"/>
              </a:spcAft>
            </a:pPr>
            <a:r>
              <a:rPr lang="en-US" sz="2400" dirty="0">
                <a:latin typeface="Times New Roman" panose="02020603050405020304" pitchFamily="18" charset="0"/>
                <a:cs typeface="Times New Roman" panose="02020603050405020304" pitchFamily="18" charset="0"/>
              </a:rPr>
              <a:t># Set the working directory inside the container</a:t>
            </a:r>
          </a:p>
          <a:p>
            <a:pPr lvl="1">
              <a:spcAft>
                <a:spcPts val="600"/>
              </a:spcAft>
            </a:pPr>
            <a:r>
              <a:rPr lang="en-US" sz="2400" dirty="0">
                <a:latin typeface="Times New Roman" panose="02020603050405020304" pitchFamily="18" charset="0"/>
                <a:cs typeface="Times New Roman" panose="02020603050405020304" pitchFamily="18" charset="0"/>
              </a:rPr>
              <a:t>WORKDIR /app</a:t>
            </a:r>
          </a:p>
          <a:p>
            <a:pPr lvl="1">
              <a:spcAft>
                <a:spcPts val="600"/>
              </a:spcAft>
            </a:pPr>
            <a:r>
              <a:rPr lang="en-US" sz="2400" dirty="0">
                <a:latin typeface="Times New Roman" panose="02020603050405020304" pitchFamily="18" charset="0"/>
                <a:cs typeface="Times New Roman" panose="02020603050405020304" pitchFamily="18" charset="0"/>
              </a:rPr>
              <a:t># Copy the application code into the container</a:t>
            </a:r>
          </a:p>
          <a:p>
            <a:pPr lvl="1">
              <a:spcAft>
                <a:spcPts val="600"/>
              </a:spcAft>
            </a:pPr>
            <a:r>
              <a:rPr lang="en-US" sz="2400" dirty="0">
                <a:latin typeface="Times New Roman" panose="02020603050405020304" pitchFamily="18" charset="0"/>
                <a:cs typeface="Times New Roman" panose="02020603050405020304" pitchFamily="18" charset="0"/>
              </a:rPr>
              <a:t>COPY . .</a:t>
            </a:r>
          </a:p>
          <a:p>
            <a:pPr lvl="1">
              <a:spcAft>
                <a:spcPts val="600"/>
              </a:spcAft>
            </a:pPr>
            <a:r>
              <a:rPr lang="en-US" sz="2400" dirty="0">
                <a:latin typeface="Times New Roman" panose="02020603050405020304" pitchFamily="18" charset="0"/>
                <a:cs typeface="Times New Roman" panose="02020603050405020304" pitchFamily="18" charset="0"/>
              </a:rPr>
              <a:t># Install dependencies</a:t>
            </a:r>
          </a:p>
          <a:p>
            <a:pPr lvl="1">
              <a:spcAft>
                <a:spcPts val="600"/>
              </a:spcAft>
            </a:pPr>
            <a:r>
              <a:rPr lang="en-US" sz="2400" dirty="0">
                <a:latin typeface="Times New Roman" panose="02020603050405020304" pitchFamily="18" charset="0"/>
                <a:cs typeface="Times New Roman" panose="02020603050405020304" pitchFamily="18" charset="0"/>
              </a:rPr>
              <a:t>RUN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a:t>
            </a:r>
          </a:p>
          <a:p>
            <a:pPr lvl="1">
              <a:spcAft>
                <a:spcPts val="600"/>
              </a:spcAft>
            </a:pPr>
            <a:r>
              <a:rPr lang="en-US" sz="2400" dirty="0">
                <a:latin typeface="Times New Roman" panose="02020603050405020304" pitchFamily="18" charset="0"/>
                <a:cs typeface="Times New Roman" panose="02020603050405020304" pitchFamily="18" charset="0"/>
              </a:rPr>
              <a:t># Expose the application port</a:t>
            </a:r>
          </a:p>
          <a:p>
            <a:pPr lvl="1">
              <a:spcAft>
                <a:spcPts val="600"/>
              </a:spcAft>
            </a:pPr>
            <a:r>
              <a:rPr lang="en-US" sz="2400" dirty="0">
                <a:latin typeface="Times New Roman" panose="02020603050405020304" pitchFamily="18" charset="0"/>
                <a:cs typeface="Times New Roman" panose="02020603050405020304" pitchFamily="18" charset="0"/>
              </a:rPr>
              <a:t>EXPOSE 3000</a:t>
            </a:r>
          </a:p>
          <a:p>
            <a:pPr lvl="1">
              <a:spcAft>
                <a:spcPts val="600"/>
              </a:spcAft>
            </a:pPr>
            <a:r>
              <a:rPr lang="en-US" sz="2400" dirty="0">
                <a:latin typeface="Times New Roman" panose="02020603050405020304" pitchFamily="18" charset="0"/>
                <a:cs typeface="Times New Roman" panose="02020603050405020304" pitchFamily="18" charset="0"/>
              </a:rPr>
              <a:t># Command to run the application</a:t>
            </a:r>
          </a:p>
          <a:p>
            <a:pPr lvl="1">
              <a:spcAft>
                <a:spcPts val="600"/>
              </a:spcAft>
            </a:pPr>
            <a:r>
              <a:rPr lang="en-US" sz="2400" dirty="0">
                <a:latin typeface="Times New Roman" panose="02020603050405020304" pitchFamily="18" charset="0"/>
                <a:cs typeface="Times New Roman" panose="02020603050405020304" pitchFamily="18" charset="0"/>
              </a:rPr>
              <a:t>CMD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"start"]</a:t>
            </a:r>
          </a:p>
          <a:p>
            <a:pPr>
              <a:spcBef>
                <a:spcPts val="600"/>
              </a:spcBef>
              <a:spcAft>
                <a:spcPts val="600"/>
              </a:spcAft>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428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A3A78C-73DF-5C70-8BA6-2E9FE0E9195F}"/>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4" name="TextBox 3">
            <a:extLst>
              <a:ext uri="{FF2B5EF4-FFF2-40B4-BE49-F238E27FC236}">
                <a16:creationId xmlns:a16="http://schemas.microsoft.com/office/drawing/2014/main" id="{11BF8988-262B-2F8E-01BE-D4BB57F80880}"/>
              </a:ext>
            </a:extLst>
          </p:cNvPr>
          <p:cNvSpPr txBox="1"/>
          <p:nvPr/>
        </p:nvSpPr>
        <p:spPr>
          <a:xfrm>
            <a:off x="1282700" y="769541"/>
            <a:ext cx="10126980" cy="5011949"/>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Steps for the Container Build:</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FROM node:14</a:t>
            </a:r>
            <a:r>
              <a:rPr lang="en-US" sz="2400" dirty="0">
                <a:latin typeface="Times New Roman" panose="02020603050405020304" pitchFamily="18" charset="0"/>
                <a:cs typeface="Times New Roman" panose="02020603050405020304" pitchFamily="18" charset="0"/>
              </a:rPr>
              <a:t>: Specifies the base image for the container (in this case, Node.js).</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WORKDIR /app</a:t>
            </a:r>
            <a:r>
              <a:rPr lang="en-US" sz="2400" dirty="0">
                <a:latin typeface="Times New Roman" panose="02020603050405020304" pitchFamily="18" charset="0"/>
                <a:cs typeface="Times New Roman" panose="02020603050405020304" pitchFamily="18" charset="0"/>
              </a:rPr>
              <a:t>: Sets the working directory inside the container.</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COPY . .</a:t>
            </a:r>
            <a:r>
              <a:rPr lang="en-US" sz="2400" dirty="0">
                <a:latin typeface="Times New Roman" panose="02020603050405020304" pitchFamily="18" charset="0"/>
                <a:cs typeface="Times New Roman" panose="02020603050405020304" pitchFamily="18" charset="0"/>
              </a:rPr>
              <a:t>: Copies all the local files (application code) into the container.</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RUN </a:t>
            </a:r>
            <a:r>
              <a:rPr lang="en-US" sz="2400" b="1" dirty="0" err="1">
                <a:latin typeface="Times New Roman" panose="02020603050405020304" pitchFamily="18" charset="0"/>
                <a:cs typeface="Times New Roman" panose="02020603050405020304" pitchFamily="18" charset="0"/>
              </a:rPr>
              <a:t>npm</a:t>
            </a:r>
            <a:r>
              <a:rPr lang="en-US" sz="2400" b="1" dirty="0">
                <a:latin typeface="Times New Roman" panose="02020603050405020304" pitchFamily="18" charset="0"/>
                <a:cs typeface="Times New Roman" panose="02020603050405020304" pitchFamily="18" charset="0"/>
              </a:rPr>
              <a:t> install</a:t>
            </a:r>
            <a:r>
              <a:rPr lang="en-US" sz="2400" dirty="0">
                <a:latin typeface="Times New Roman" panose="02020603050405020304" pitchFamily="18" charset="0"/>
                <a:cs typeface="Times New Roman" panose="02020603050405020304" pitchFamily="18" charset="0"/>
              </a:rPr>
              <a:t>: Installs the dependencies inside the container.</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EXPOSE 3000</a:t>
            </a:r>
            <a:r>
              <a:rPr lang="en-US" sz="2400" dirty="0">
                <a:latin typeface="Times New Roman" panose="02020603050405020304" pitchFamily="18" charset="0"/>
                <a:cs typeface="Times New Roman" panose="02020603050405020304" pitchFamily="18" charset="0"/>
              </a:rPr>
              <a:t>: Tells Docker to expose port 3000 for the application.</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CMD ["</a:t>
            </a:r>
            <a:r>
              <a:rPr lang="en-US" sz="2400" b="1" dirty="0" err="1">
                <a:latin typeface="Times New Roman" panose="02020603050405020304" pitchFamily="18" charset="0"/>
                <a:cs typeface="Times New Roman" panose="02020603050405020304" pitchFamily="18" charset="0"/>
              </a:rPr>
              <a:t>npm</a:t>
            </a:r>
            <a:r>
              <a:rPr lang="en-US" sz="2400" b="1" dirty="0">
                <a:latin typeface="Times New Roman" panose="02020603050405020304" pitchFamily="18" charset="0"/>
                <a:cs typeface="Times New Roman" panose="02020603050405020304" pitchFamily="18" charset="0"/>
              </a:rPr>
              <a:t>", "start"]</a:t>
            </a:r>
            <a:r>
              <a:rPr lang="en-US" sz="2400" dirty="0">
                <a:latin typeface="Times New Roman" panose="02020603050405020304" pitchFamily="18" charset="0"/>
                <a:cs typeface="Times New Roman" panose="02020603050405020304" pitchFamily="18" charset="0"/>
              </a:rPr>
              <a:t>: Specifies the command to run when the container starts</a:t>
            </a:r>
            <a:r>
              <a:rPr lang="en-US" dirty="0"/>
              <a:t>.</a:t>
            </a:r>
          </a:p>
        </p:txBody>
      </p:sp>
    </p:spTree>
    <p:extLst>
      <p:ext uri="{BB962C8B-B14F-4D97-AF65-F5344CB8AC3E}">
        <p14:creationId xmlns:p14="http://schemas.microsoft.com/office/powerpoint/2010/main" val="172753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1F6B72-4E80-C628-BCC4-BDD77B2DECF1}"/>
              </a:ext>
            </a:extLst>
          </p:cNvPr>
          <p:cNvSpPr>
            <a:spLocks noGrp="1"/>
          </p:cNvSpPr>
          <p:nvPr>
            <p:ph type="sldNum" sz="quarter" idx="12"/>
          </p:nvPr>
        </p:nvSpPr>
        <p:spPr/>
        <p:txBody>
          <a:bodyPr/>
          <a:lstStyle/>
          <a:p>
            <a:fld id="{CBABCCC1-BF11-4F37-963E-1BCD5B23FD72}" type="slidenum">
              <a:rPr lang="en-IN" smtClean="0"/>
              <a:t>9</a:t>
            </a:fld>
            <a:endParaRPr lang="en-IN"/>
          </a:p>
        </p:txBody>
      </p:sp>
      <p:graphicFrame>
        <p:nvGraphicFramePr>
          <p:cNvPr id="3" name="Table 2">
            <a:extLst>
              <a:ext uri="{FF2B5EF4-FFF2-40B4-BE49-F238E27FC236}">
                <a16:creationId xmlns:a16="http://schemas.microsoft.com/office/drawing/2014/main" id="{21381FB8-C697-AD9F-7A4F-85464E7A1BDC}"/>
              </a:ext>
            </a:extLst>
          </p:cNvPr>
          <p:cNvGraphicFramePr>
            <a:graphicFrameLocks noGrp="1"/>
          </p:cNvGraphicFramePr>
          <p:nvPr>
            <p:extLst>
              <p:ext uri="{D42A27DB-BD31-4B8C-83A1-F6EECF244321}">
                <p14:modId xmlns:p14="http://schemas.microsoft.com/office/powerpoint/2010/main" val="2378086639"/>
              </p:ext>
            </p:extLst>
          </p:nvPr>
        </p:nvGraphicFramePr>
        <p:xfrm>
          <a:off x="528320" y="835638"/>
          <a:ext cx="11328399" cy="4881924"/>
        </p:xfrm>
        <a:graphic>
          <a:graphicData uri="http://schemas.openxmlformats.org/drawingml/2006/table">
            <a:tbl>
              <a:tblPr>
                <a:tableStyleId>{8799B23B-EC83-4686-B30A-512413B5E67A}</a:tableStyleId>
              </a:tblPr>
              <a:tblGrid>
                <a:gridCol w="2377440">
                  <a:extLst>
                    <a:ext uri="{9D8B030D-6E8A-4147-A177-3AD203B41FA5}">
                      <a16:colId xmlns:a16="http://schemas.microsoft.com/office/drawing/2014/main" val="3862692725"/>
                    </a:ext>
                  </a:extLst>
                </a:gridCol>
                <a:gridCol w="4592320">
                  <a:extLst>
                    <a:ext uri="{9D8B030D-6E8A-4147-A177-3AD203B41FA5}">
                      <a16:colId xmlns:a16="http://schemas.microsoft.com/office/drawing/2014/main" val="2994476266"/>
                    </a:ext>
                  </a:extLst>
                </a:gridCol>
                <a:gridCol w="4358639">
                  <a:extLst>
                    <a:ext uri="{9D8B030D-6E8A-4147-A177-3AD203B41FA5}">
                      <a16:colId xmlns:a16="http://schemas.microsoft.com/office/drawing/2014/main" val="4222685986"/>
                    </a:ext>
                  </a:extLst>
                </a:gridCol>
              </a:tblGrid>
              <a:tr h="328537">
                <a:tc>
                  <a:txBody>
                    <a:bodyPr/>
                    <a:lstStyle/>
                    <a:p>
                      <a:pPr algn="ctr">
                        <a:buNone/>
                      </a:pPr>
                      <a:r>
                        <a:rPr lang="en-IN" sz="2400" b="1">
                          <a:latin typeface="Times New Roman" panose="02020603050405020304" pitchFamily="18" charset="0"/>
                          <a:cs typeface="Times New Roman" panose="02020603050405020304" pitchFamily="18" charset="0"/>
                        </a:rPr>
                        <a:t>Aspect</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lgn="ctr">
                        <a:buNone/>
                      </a:pPr>
                      <a:r>
                        <a:rPr lang="en-IN" sz="2400" b="1">
                          <a:latin typeface="Times New Roman" panose="02020603050405020304" pitchFamily="18" charset="0"/>
                          <a:cs typeface="Times New Roman" panose="02020603050405020304" pitchFamily="18" charset="0"/>
                        </a:rPr>
                        <a:t>Unit Build Stage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lgn="ctr">
                        <a:buNone/>
                      </a:pPr>
                      <a:r>
                        <a:rPr lang="en-IN" sz="2400" b="1" dirty="0">
                          <a:latin typeface="Times New Roman" panose="02020603050405020304" pitchFamily="18" charset="0"/>
                          <a:cs typeface="Times New Roman" panose="02020603050405020304" pitchFamily="18" charset="0"/>
                        </a:rPr>
                        <a:t>Container Build Stage</a:t>
                      </a:r>
                      <a:endParaRPr lang="en-IN" sz="2400" dirty="0">
                        <a:latin typeface="Times New Roman" panose="02020603050405020304" pitchFamily="18" charset="0"/>
                        <a:cs typeface="Times New Roman" panose="02020603050405020304" pitchFamily="18" charset="0"/>
                      </a:endParaRPr>
                    </a:p>
                  </a:txBody>
                  <a:tcPr marL="82134" marR="82134" marT="41067" marB="41067" anchor="ctr"/>
                </a:tc>
                <a:extLst>
                  <a:ext uri="{0D108BD9-81ED-4DB2-BD59-A6C34878D82A}">
                    <a16:rowId xmlns:a16="http://schemas.microsoft.com/office/drawing/2014/main" val="3037410912"/>
                  </a:ext>
                </a:extLst>
              </a:tr>
              <a:tr h="821342">
                <a:tc>
                  <a:txBody>
                    <a:bodyPr/>
                    <a:lstStyle/>
                    <a:p>
                      <a:pPr>
                        <a:buNone/>
                      </a:pPr>
                      <a:r>
                        <a:rPr lang="en-IN" sz="2400" b="1">
                          <a:latin typeface="Times New Roman" panose="02020603050405020304" pitchFamily="18" charset="0"/>
                          <a:cs typeface="Times New Roman" panose="02020603050405020304" pitchFamily="18" charset="0"/>
                        </a:rPr>
                        <a:t>Purpose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To test individual units of code (e.g., functions, methods).</a:t>
                      </a:r>
                    </a:p>
                  </a:txBody>
                  <a:tcPr marL="82134" marR="82134" marT="41067" marB="41067" anchor="ctr"/>
                </a:tc>
                <a:tc>
                  <a:txBody>
                    <a:bodyPr/>
                    <a:lstStyle/>
                    <a:p>
                      <a:pPr>
                        <a:buNone/>
                      </a:pPr>
                      <a:r>
                        <a:rPr lang="en-US" sz="2400" dirty="0">
                          <a:latin typeface="Times New Roman" panose="02020603050405020304" pitchFamily="18" charset="0"/>
                          <a:cs typeface="Times New Roman" panose="02020603050405020304" pitchFamily="18" charset="0"/>
                        </a:rPr>
                        <a:t>To create a container image that contains the application and its dependencies.</a:t>
                      </a:r>
                    </a:p>
                  </a:txBody>
                  <a:tcPr marL="82134" marR="82134" marT="41067" marB="41067" anchor="ctr"/>
                </a:tc>
                <a:extLst>
                  <a:ext uri="{0D108BD9-81ED-4DB2-BD59-A6C34878D82A}">
                    <a16:rowId xmlns:a16="http://schemas.microsoft.com/office/drawing/2014/main" val="620671779"/>
                  </a:ext>
                </a:extLst>
              </a:tr>
              <a:tr h="574940">
                <a:tc>
                  <a:txBody>
                    <a:bodyPr/>
                    <a:lstStyle/>
                    <a:p>
                      <a:pPr>
                        <a:buNone/>
                      </a:pPr>
                      <a:r>
                        <a:rPr lang="en-IN" sz="2400" b="1" dirty="0">
                          <a:latin typeface="Times New Roman" panose="02020603050405020304" pitchFamily="18" charset="0"/>
                          <a:cs typeface="Times New Roman" panose="02020603050405020304" pitchFamily="18" charset="0"/>
                        </a:rPr>
                        <a:t>Focus</a:t>
                      </a:r>
                      <a:endParaRPr lang="en-IN" sz="2400" dirty="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b="1">
                          <a:latin typeface="Times New Roman" panose="02020603050405020304" pitchFamily="18" charset="0"/>
                          <a:cs typeface="Times New Roman" panose="02020603050405020304" pitchFamily="18" charset="0"/>
                        </a:rPr>
                        <a:t>Testing</a:t>
                      </a:r>
                      <a:r>
                        <a:rPr lang="en-US" sz="2400">
                          <a:latin typeface="Times New Roman" panose="02020603050405020304" pitchFamily="18" charset="0"/>
                          <a:cs typeface="Times New Roman" panose="02020603050405020304" pitchFamily="18" charset="0"/>
                        </a:rPr>
                        <a:t> isolated parts of the code for correctness.</a:t>
                      </a:r>
                    </a:p>
                  </a:txBody>
                  <a:tcPr marL="82134" marR="82134" marT="41067" marB="41067" anchor="ctr"/>
                </a:tc>
                <a:tc>
                  <a:txBody>
                    <a:bodyPr/>
                    <a:lstStyle/>
                    <a:p>
                      <a:pPr>
                        <a:buNone/>
                      </a:pPr>
                      <a:r>
                        <a:rPr lang="en-US" sz="2400" b="1">
                          <a:latin typeface="Times New Roman" panose="02020603050405020304" pitchFamily="18" charset="0"/>
                          <a:cs typeface="Times New Roman" panose="02020603050405020304" pitchFamily="18" charset="0"/>
                        </a:rPr>
                        <a:t>Packaging</a:t>
                      </a:r>
                      <a:r>
                        <a:rPr lang="en-US" sz="2400">
                          <a:latin typeface="Times New Roman" panose="02020603050405020304" pitchFamily="18" charset="0"/>
                          <a:cs typeface="Times New Roman" panose="02020603050405020304" pitchFamily="18" charset="0"/>
                        </a:rPr>
                        <a:t> the application with all dependencies in a container.</a:t>
                      </a:r>
                    </a:p>
                  </a:txBody>
                  <a:tcPr marL="82134" marR="82134" marT="41067" marB="41067" anchor="ctr"/>
                </a:tc>
                <a:extLst>
                  <a:ext uri="{0D108BD9-81ED-4DB2-BD59-A6C34878D82A}">
                    <a16:rowId xmlns:a16="http://schemas.microsoft.com/office/drawing/2014/main" val="2900786098"/>
                  </a:ext>
                </a:extLst>
              </a:tr>
              <a:tr h="574940">
                <a:tc>
                  <a:txBody>
                    <a:bodyPr/>
                    <a:lstStyle/>
                    <a:p>
                      <a:pPr>
                        <a:buNone/>
                      </a:pPr>
                      <a:r>
                        <a:rPr lang="en-IN" sz="2400" b="1">
                          <a:latin typeface="Times New Roman" panose="02020603050405020304" pitchFamily="18" charset="0"/>
                          <a:cs typeface="Times New Roman" panose="02020603050405020304" pitchFamily="18" charset="0"/>
                        </a:rPr>
                        <a:t>Tools Used</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Testing frameworks like </a:t>
                      </a:r>
                      <a:r>
                        <a:rPr lang="en-US" sz="2400" b="1">
                          <a:latin typeface="Times New Roman" panose="02020603050405020304" pitchFamily="18" charset="0"/>
                          <a:cs typeface="Times New Roman" panose="02020603050405020304" pitchFamily="18" charset="0"/>
                        </a:rPr>
                        <a:t>Mocha</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Jest</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JUnit</a:t>
                      </a:r>
                      <a:r>
                        <a:rPr lang="en-US" sz="2400">
                          <a:latin typeface="Times New Roman" panose="02020603050405020304" pitchFamily="18" charset="0"/>
                          <a:cs typeface="Times New Roman" panose="02020603050405020304" pitchFamily="18" charset="0"/>
                        </a:rPr>
                        <a:t>.</a:t>
                      </a:r>
                    </a:p>
                  </a:txBody>
                  <a:tcPr marL="82134" marR="82134" marT="41067" marB="41067" anchor="ctr"/>
                </a:tc>
                <a:tc>
                  <a:txBody>
                    <a:bodyPr/>
                    <a:lstStyle/>
                    <a:p>
                      <a:pPr>
                        <a:buNone/>
                      </a:pPr>
                      <a:r>
                        <a:rPr lang="en-US" sz="2400" b="1">
                          <a:latin typeface="Times New Roman" panose="02020603050405020304" pitchFamily="18" charset="0"/>
                          <a:cs typeface="Times New Roman" panose="02020603050405020304" pitchFamily="18" charset="0"/>
                        </a:rPr>
                        <a:t>Docker</a:t>
                      </a:r>
                      <a:r>
                        <a:rPr lang="en-US" sz="2400">
                          <a:latin typeface="Times New Roman" panose="02020603050405020304" pitchFamily="18" charset="0"/>
                          <a:cs typeface="Times New Roman" panose="02020603050405020304" pitchFamily="18" charset="0"/>
                        </a:rPr>
                        <a:t> or other containerization tools.</a:t>
                      </a:r>
                    </a:p>
                  </a:txBody>
                  <a:tcPr marL="82134" marR="82134" marT="41067" marB="41067" anchor="ctr"/>
                </a:tc>
                <a:extLst>
                  <a:ext uri="{0D108BD9-81ED-4DB2-BD59-A6C34878D82A}">
                    <a16:rowId xmlns:a16="http://schemas.microsoft.com/office/drawing/2014/main" val="320150146"/>
                  </a:ext>
                </a:extLst>
              </a:tr>
              <a:tr h="574940">
                <a:tc>
                  <a:txBody>
                    <a:bodyPr/>
                    <a:lstStyle/>
                    <a:p>
                      <a:pPr>
                        <a:buNone/>
                      </a:pPr>
                      <a:r>
                        <a:rPr lang="en-IN" sz="2400" b="1">
                          <a:latin typeface="Times New Roman" panose="02020603050405020304" pitchFamily="18" charset="0"/>
                          <a:cs typeface="Times New Roman" panose="02020603050405020304" pitchFamily="18" charset="0"/>
                        </a:rPr>
                        <a:t>Outcome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Passing tests indicate code is correct.</a:t>
                      </a: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A </a:t>
                      </a:r>
                      <a:r>
                        <a:rPr lang="en-US" sz="2400" b="1">
                          <a:latin typeface="Times New Roman" panose="02020603050405020304" pitchFamily="18" charset="0"/>
                          <a:cs typeface="Times New Roman" panose="02020603050405020304" pitchFamily="18" charset="0"/>
                        </a:rPr>
                        <a:t>container image</a:t>
                      </a:r>
                      <a:r>
                        <a:rPr lang="en-US" sz="2400">
                          <a:latin typeface="Times New Roman" panose="02020603050405020304" pitchFamily="18" charset="0"/>
                          <a:cs typeface="Times New Roman" panose="02020603050405020304" pitchFamily="18" charset="0"/>
                        </a:rPr>
                        <a:t> ready for deployment.</a:t>
                      </a:r>
                    </a:p>
                  </a:txBody>
                  <a:tcPr marL="82134" marR="82134" marT="41067" marB="41067" anchor="ctr"/>
                </a:tc>
                <a:extLst>
                  <a:ext uri="{0D108BD9-81ED-4DB2-BD59-A6C34878D82A}">
                    <a16:rowId xmlns:a16="http://schemas.microsoft.com/office/drawing/2014/main" val="1802295261"/>
                  </a:ext>
                </a:extLst>
              </a:tr>
              <a:tr h="574940">
                <a:tc>
                  <a:txBody>
                    <a:bodyPr/>
                    <a:lstStyle/>
                    <a:p>
                      <a:pPr>
                        <a:buNone/>
                      </a:pPr>
                      <a:r>
                        <a:rPr lang="en-IN" sz="2400" b="1">
                          <a:latin typeface="Times New Roman" panose="02020603050405020304" pitchFamily="18" charset="0"/>
                          <a:cs typeface="Times New Roman" panose="02020603050405020304" pitchFamily="18" charset="0"/>
                        </a:rPr>
                        <a:t>Example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Unit test checks if a function correctly calculates age.</a:t>
                      </a:r>
                    </a:p>
                  </a:txBody>
                  <a:tcPr marL="82134" marR="82134" marT="41067" marB="41067" anchor="ctr"/>
                </a:tc>
                <a:tc>
                  <a:txBody>
                    <a:bodyPr/>
                    <a:lstStyle/>
                    <a:p>
                      <a:pPr>
                        <a:buNone/>
                      </a:pPr>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builds a container image for a Node.js application.</a:t>
                      </a:r>
                    </a:p>
                  </a:txBody>
                  <a:tcPr marL="82134" marR="82134" marT="41067" marB="41067" anchor="ctr"/>
                </a:tc>
                <a:extLst>
                  <a:ext uri="{0D108BD9-81ED-4DB2-BD59-A6C34878D82A}">
                    <a16:rowId xmlns:a16="http://schemas.microsoft.com/office/drawing/2014/main" val="3137488375"/>
                  </a:ext>
                </a:extLst>
              </a:tr>
            </a:tbl>
          </a:graphicData>
        </a:graphic>
      </p:graphicFrame>
    </p:spTree>
    <p:extLst>
      <p:ext uri="{BB962C8B-B14F-4D97-AF65-F5344CB8AC3E}">
        <p14:creationId xmlns:p14="http://schemas.microsoft.com/office/powerpoint/2010/main" val="138259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524146" y="1595121"/>
            <a:ext cx="7920111" cy="315875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800" b="1" dirty="0">
                <a:solidFill>
                  <a:schemeClr val="bg1"/>
                </a:solidFill>
                <a:latin typeface="Times New Roman" panose="02020603050405020304" pitchFamily="18" charset="0"/>
                <a:cs typeface="Times New Roman" panose="02020603050405020304" pitchFamily="18" charset="0"/>
              </a:rPr>
              <a:t>Foundations Of Cloud-native Computing &amp; </a:t>
            </a:r>
            <a:r>
              <a:rPr lang="en-US" sz="2800" b="1" dirty="0" err="1">
                <a:solidFill>
                  <a:schemeClr val="bg1"/>
                </a:solidFill>
                <a:latin typeface="Times New Roman" panose="02020603050405020304" pitchFamily="18" charset="0"/>
                <a:cs typeface="Times New Roman" panose="02020603050405020304" pitchFamily="18" charset="0"/>
              </a:rPr>
              <a:t>Devops</a:t>
            </a:r>
            <a:r>
              <a:rPr lang="en-US" sz="2800" dirty="0">
                <a:solidFill>
                  <a:schemeClr val="bg1"/>
                </a:solidFill>
              </a:rPr>
              <a:t>	</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392614" y="2235201"/>
            <a:ext cx="3235570" cy="1083212"/>
          </a:xfrm>
          <a:prstGeom prst="rect">
            <a:avLst/>
          </a:prstGeom>
          <a:noFill/>
        </p:spPr>
      </p:pic>
    </p:spTree>
    <p:extLst>
      <p:ext uri="{BB962C8B-B14F-4D97-AF65-F5344CB8AC3E}">
        <p14:creationId xmlns:p14="http://schemas.microsoft.com/office/powerpoint/2010/main" val="35913842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Session-2</Template>
  <TotalTime>873</TotalTime>
  <Words>890</Words>
  <Application>Microsoft Office PowerPoint</Application>
  <PresentationFormat>Widescreen</PresentationFormat>
  <Paragraphs>103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Gill Sans MT</vt:lpstr>
      <vt:lpstr>Poppins</vt:lpstr>
      <vt:lpstr>Times New Roman</vt:lpstr>
      <vt:lpstr>Gallery</vt:lpstr>
      <vt:lpstr>Department of CSIT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Abhishek Guru</dc:creator>
  <cp:lastModifiedBy>Lavanya Susanna</cp:lastModifiedBy>
  <cp:revision>115</cp:revision>
  <dcterms:created xsi:type="dcterms:W3CDTF">2023-05-02T16:26:00Z</dcterms:created>
  <dcterms:modified xsi:type="dcterms:W3CDTF">2026-02-17T06:19:30Z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9D92E8B3CCDD4F159E81FC5DAC5EB7AA_13</vt:lpwstr>
  </property>
  <property fmtid="{D5CDD505-2E9C-101B-9397-08002B2CF9AE}" pid="3" name="KSOProductBuildVer">
    <vt:lpwstr>1033-12.2.0.17119</vt:lpwstr>
  </property>
</Properties>
</file>