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handoutMasterIdLst>
    <p:handoutMasterId r:id="rId21"/>
  </p:handoutMasterIdLst>
  <p:sldIdLst>
    <p:sldId id="268" r:id="rId2"/>
    <p:sldId id="289" r:id="rId3"/>
    <p:sldId id="273" r:id="rId4"/>
    <p:sldId id="275" r:id="rId5"/>
    <p:sldId id="279" r:id="rId6"/>
    <p:sldId id="290" r:id="rId7"/>
    <p:sldId id="280" r:id="rId8"/>
    <p:sldId id="281" r:id="rId9"/>
    <p:sldId id="291" r:id="rId10"/>
    <p:sldId id="282" r:id="rId11"/>
    <p:sldId id="278" r:id="rId12"/>
    <p:sldId id="283" r:id="rId13"/>
    <p:sldId id="284" r:id="rId14"/>
    <p:sldId id="285" r:id="rId15"/>
    <p:sldId id="286" r:id="rId16"/>
    <p:sldId id="287" r:id="rId17"/>
    <p:sldId id="288"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3" d="100"/>
          <a:sy n="63" d="100"/>
        </p:scale>
        <p:origin x="80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24-02-2026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36457958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24-02-2026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75263589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devcenter.bitrise.io/en/dependencies-and-caching/remote-build-caching.html"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docs.docker.com/build/cache/optimize/#order-your-layers"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docs.docker.com/build/cache/optimize/#keep-the-context-small"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docs.docker.com/build/cache/optimize/#use-an-external-cache"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464;p16"/>
          <p:cNvPicPr preferRelativeResize="0"/>
          <p:nvPr/>
        </p:nvPicPr>
        <p:blipFill>
          <a:blip r:embed="rId2">
            <a:extLst>
              <a:ext uri="{28A0092B-C50C-407E-A947-70E740481C1C}">
                <a14:useLocalDpi xmlns:a14="http://schemas.microsoft.com/office/drawing/2010/main" val="0"/>
              </a:ext>
            </a:extLst>
          </a:blip>
          <a:stretch>
            <a:fillRect/>
          </a:stretch>
        </p:blipFill>
        <p:spPr>
          <a:xfrm>
            <a:off x="83128" y="356260"/>
            <a:ext cx="5545776" cy="5684061"/>
          </a:xfrm>
          <a:prstGeom prst="rect">
            <a:avLst/>
          </a:prstGeom>
          <a:noFill/>
          <a:ln>
            <a:noFill/>
          </a:ln>
        </p:spPr>
      </p:pic>
      <p:sp>
        <p:nvSpPr>
          <p:cNvPr id="5" name="Google Shape;475;p16"/>
          <p:cNvSpPr txBox="1">
            <a:spLocks noGrp="1"/>
          </p:cNvSpPr>
          <p:nvPr>
            <p:ph type="ctrTitle"/>
          </p:nvPr>
        </p:nvSpPr>
        <p:spPr>
          <a:xfrm>
            <a:off x="4039419" y="557484"/>
            <a:ext cx="8637073" cy="480091"/>
          </a:xfrm>
          <a:prstGeom prst="rect">
            <a:avLst/>
          </a:prstGeom>
          <a:noFill/>
          <a:ln>
            <a:noFill/>
          </a:ln>
          <a:effectLst/>
        </p:spPr>
        <p:txBody>
          <a:bodyPr spcFirstLastPara="1" wrap="square" lIns="91425" tIns="45700" rIns="91425" bIns="45700" anchor="t" anchorCtr="0">
            <a:spAutoFit/>
          </a:bodyPr>
          <a:lstStyle/>
          <a:p>
            <a:pPr algn="ctr"/>
            <a:r>
              <a:rPr lang="en-US" sz="2800" b="1" dirty="0">
                <a:solidFill>
                  <a:srgbClr val="C00000"/>
                </a:solidFill>
                <a:latin typeface="Times New Roman" panose="02020603050405020304" pitchFamily="18" charset="0"/>
                <a:cs typeface="Times New Roman" panose="02020603050405020304" pitchFamily="18" charset="0"/>
              </a:rPr>
              <a:t>Department of CSIT</a:t>
            </a:r>
          </a:p>
        </p:txBody>
      </p:sp>
      <p:sp>
        <p:nvSpPr>
          <p:cNvPr id="6" name="Google Shape;476;p16"/>
          <p:cNvSpPr txBox="1"/>
          <p:nvPr/>
        </p:nvSpPr>
        <p:spPr>
          <a:xfrm>
            <a:off x="4819387" y="1203208"/>
            <a:ext cx="7077136" cy="3970277"/>
          </a:xfrm>
          <a:prstGeom prst="rect">
            <a:avLst/>
          </a:prstGeom>
          <a:noFill/>
          <a:ln>
            <a:noFill/>
          </a:ln>
        </p:spPr>
        <p:txBody>
          <a:bodyPr spcFirstLastPara="1" wrap="square" lIns="91425" tIns="45700" rIns="91425" bIns="45700" anchor="t" anchorCtr="0">
            <a:spAutoFit/>
          </a:bodyPr>
          <a:lstStyle/>
          <a:p>
            <a:pPr algn="ctr"/>
            <a:r>
              <a:rPr lang="en-US" sz="2400" b="1" cap="all" dirty="0">
                <a:ln/>
                <a:latin typeface="Times New Roman" panose="02020603050405020304" pitchFamily="18" charset="0"/>
                <a:cs typeface="Times New Roman" panose="02020603050405020304" pitchFamily="18" charset="0"/>
                <a:sym typeface="BioRhyme ExtraBold"/>
              </a:rPr>
              <a:t>COURSE NAME </a:t>
            </a:r>
            <a:endParaRPr lang="en-IN" dirty="0"/>
          </a:p>
          <a:p>
            <a:pPr algn="ctr"/>
            <a:r>
              <a:rPr lang="en-US" dirty="0"/>
              <a:t> </a:t>
            </a:r>
            <a:r>
              <a:rPr lang="en-US" sz="2400" b="1" dirty="0">
                <a:solidFill>
                  <a:srgbClr val="C00000"/>
                </a:solidFill>
                <a:latin typeface="Times New Roman" panose="02020603050405020304" pitchFamily="18" charset="0"/>
                <a:cs typeface="Times New Roman" panose="02020603050405020304" pitchFamily="18" charset="0"/>
              </a:rPr>
              <a:t>FOUNDATIONS OF CLOUD-NATIVE COMPUTING &amp; DEVOPS</a:t>
            </a:r>
            <a:r>
              <a:rPr lang="en-US" dirty="0"/>
              <a:t>	</a:t>
            </a:r>
          </a:p>
          <a:p>
            <a:pPr marR="0" lvl="0" indent="0" algn="ctr">
              <a:lnSpc>
                <a:spcPct val="150000"/>
              </a:lnSpc>
              <a:spcBef>
                <a:spcPts val="0"/>
              </a:spcBef>
              <a:spcAft>
                <a:spcPts val="0"/>
              </a:spcAft>
              <a:buNone/>
            </a:pPr>
            <a:endParaRPr lang="en-US" sz="2400" b="1" cap="all" dirty="0">
              <a:ln/>
              <a:latin typeface="Times New Roman" panose="02020603050405020304" pitchFamily="18" charset="0"/>
              <a:cs typeface="Times New Roman" panose="02020603050405020304" pitchFamily="18" charset="0"/>
              <a:sym typeface="BioRhyme ExtraBold"/>
            </a:endParaRPr>
          </a:p>
          <a:p>
            <a:pPr algn="ctr"/>
            <a:r>
              <a:rPr lang="en-US" sz="2400" b="1" cap="all" dirty="0">
                <a:ln/>
                <a:latin typeface="Times New Roman" panose="02020603050405020304" pitchFamily="18" charset="0"/>
                <a:cs typeface="Times New Roman" panose="02020603050405020304" pitchFamily="18" charset="0"/>
                <a:sym typeface="BioRhyme ExtraBold"/>
              </a:rPr>
              <a:t>COURSE CODE </a:t>
            </a:r>
            <a:r>
              <a:rPr lang="en-US" sz="2400" b="1" cap="all" dirty="0">
                <a:ln/>
                <a:solidFill>
                  <a:srgbClr val="C00000"/>
                </a:solidFill>
                <a:latin typeface="Times New Roman" panose="02020603050405020304" pitchFamily="18" charset="0"/>
                <a:cs typeface="Times New Roman" panose="02020603050405020304" pitchFamily="18" charset="0"/>
                <a:sym typeface="BioRhyme ExtraBold"/>
              </a:rPr>
              <a:t>–</a:t>
            </a:r>
            <a:r>
              <a:rPr lang="en-IN" sz="2400" b="1" dirty="0">
                <a:solidFill>
                  <a:srgbClr val="C00000"/>
                </a:solidFill>
                <a:latin typeface="Times New Roman" panose="02020603050405020304" pitchFamily="18" charset="0"/>
                <a:cs typeface="Times New Roman" panose="02020603050405020304" pitchFamily="18" charset="0"/>
              </a:rPr>
              <a:t>24CS2260F</a:t>
            </a:r>
            <a:r>
              <a:rPr lang="en-IN" dirty="0"/>
              <a:t>	</a:t>
            </a:r>
          </a:p>
          <a:p>
            <a:pPr marR="0" lvl="0" indent="0" algn="ctr">
              <a:lnSpc>
                <a:spcPct val="150000"/>
              </a:lnSpc>
              <a:spcBef>
                <a:spcPts val="0"/>
              </a:spcBef>
              <a:spcAft>
                <a:spcPts val="0"/>
              </a:spcAft>
              <a:buNone/>
            </a:pPr>
            <a:endParaRPr lang="en-IN" sz="2400" b="1"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R="0" lvl="0" indent="0" algn="ctr">
              <a:lnSpc>
                <a:spcPct val="150000"/>
              </a:lnSpc>
              <a:spcBef>
                <a:spcPts val="0"/>
              </a:spcBef>
              <a:spcAft>
                <a:spcPts val="0"/>
              </a:spcAft>
              <a:buNone/>
            </a:pPr>
            <a:r>
              <a:rPr lang="en-US" sz="2400" b="1" dirty="0">
                <a:solidFill>
                  <a:schemeClr val="bg1">
                    <a:lumMod val="50000"/>
                  </a:schemeClr>
                </a:solidFill>
                <a:latin typeface="Times New Roman" panose="02020603050405020304" pitchFamily="18" charset="0"/>
                <a:ea typeface="BioRhyme ExtraBold"/>
                <a:cs typeface="Times New Roman" panose="02020603050405020304" pitchFamily="18" charset="0"/>
                <a:sym typeface="BioRhyme ExtraBold"/>
              </a:rPr>
              <a:t>Topic: </a:t>
            </a:r>
          </a:p>
          <a:p>
            <a:pPr algn="ctr">
              <a:lnSpc>
                <a:spcPct val="150000"/>
              </a:lnSpc>
            </a:pPr>
            <a:r>
              <a:rPr lang="en-IN" sz="3200" b="1" dirty="0">
                <a:solidFill>
                  <a:srgbClr val="C00000"/>
                </a:solidFill>
                <a:latin typeface="Times New Roman" panose="02020603050405020304" pitchFamily="18" charset="0"/>
                <a:cs typeface="Times New Roman" panose="02020603050405020304" pitchFamily="18" charset="0"/>
              </a:rPr>
              <a:t>Caching for faster builds</a:t>
            </a:r>
            <a:endParaRPr lang="en-IN" sz="2400" b="1" dirty="0">
              <a:latin typeface="Times New Roman" panose="02020603050405020304" pitchFamily="18" charset="0"/>
              <a:cs typeface="Times New Roman" panose="02020603050405020304" pitchFamily="18" charset="0"/>
            </a:endParaRPr>
          </a:p>
        </p:txBody>
      </p:sp>
      <p:sp>
        <p:nvSpPr>
          <p:cNvPr id="7" name="Google Shape;502;p17">
            <a:extLst>
              <a:ext uri="{FF2B5EF4-FFF2-40B4-BE49-F238E27FC236}">
                <a16:creationId xmlns:a16="http://schemas.microsoft.com/office/drawing/2014/main" id="{7153E61F-4441-DBE3-3DFF-6E9EF6C48D23}"/>
              </a:ext>
            </a:extLst>
          </p:cNvPr>
          <p:cNvSpPr>
            <a:spLocks noGrp="1"/>
          </p:cNvSpPr>
          <p:nvPr>
            <p:ph type="subTitle" idx="1"/>
          </p:nvPr>
        </p:nvSpPr>
        <p:spPr>
          <a:xfrm>
            <a:off x="7546108" y="3791480"/>
            <a:ext cx="2161309" cy="54462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latin typeface="Times New Roman" panose="02020603050405020304" pitchFamily="18" charset="0"/>
                <a:ea typeface="Calibri"/>
                <a:cs typeface="Times New Roman" panose="02020603050405020304" pitchFamily="18" charset="0"/>
                <a:sym typeface="Calibri"/>
              </a:rPr>
              <a:t>Session - </a:t>
            </a:r>
            <a:endParaRPr sz="240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3920513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64DE67-1CFE-3B78-F9E8-5C9EEFB6E338}"/>
              </a:ext>
            </a:extLst>
          </p:cNvPr>
          <p:cNvSpPr>
            <a:spLocks noGrp="1"/>
          </p:cNvSpPr>
          <p:nvPr>
            <p:ph type="sldNum" sz="quarter" idx="12"/>
          </p:nvPr>
        </p:nvSpPr>
        <p:spPr/>
        <p:txBody>
          <a:bodyPr/>
          <a:lstStyle/>
          <a:p>
            <a:fld id="{CBABCCC1-BF11-4F37-963E-1BCD5B23FD72}" type="slidenum">
              <a:rPr lang="en-IN" smtClean="0"/>
              <a:t>2</a:t>
            </a:fld>
            <a:endParaRPr lang="en-IN"/>
          </a:p>
        </p:txBody>
      </p:sp>
      <p:pic>
        <p:nvPicPr>
          <p:cNvPr id="4" name="Picture 3">
            <a:extLst>
              <a:ext uri="{FF2B5EF4-FFF2-40B4-BE49-F238E27FC236}">
                <a16:creationId xmlns:a16="http://schemas.microsoft.com/office/drawing/2014/main" id="{8F89DBCB-EDF7-F3DA-56B3-8E1FB2FEF468}"/>
              </a:ext>
            </a:extLst>
          </p:cNvPr>
          <p:cNvPicPr>
            <a:picLocks noChangeAspect="1"/>
          </p:cNvPicPr>
          <p:nvPr/>
        </p:nvPicPr>
        <p:blipFill>
          <a:blip r:embed="rId2"/>
          <a:stretch>
            <a:fillRect/>
          </a:stretch>
        </p:blipFill>
        <p:spPr>
          <a:xfrm>
            <a:off x="327617" y="701978"/>
            <a:ext cx="11864383" cy="5454043"/>
          </a:xfrm>
          <a:prstGeom prst="rect">
            <a:avLst/>
          </a:prstGeom>
        </p:spPr>
      </p:pic>
    </p:spTree>
    <p:extLst>
      <p:ext uri="{BB962C8B-B14F-4D97-AF65-F5344CB8AC3E}">
        <p14:creationId xmlns:p14="http://schemas.microsoft.com/office/powerpoint/2010/main" val="1200027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DED724-110B-4F3B-6BE9-2A95A2CD973E}"/>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4" name="TextBox 3">
            <a:extLst>
              <a:ext uri="{FF2B5EF4-FFF2-40B4-BE49-F238E27FC236}">
                <a16:creationId xmlns:a16="http://schemas.microsoft.com/office/drawing/2014/main" id="{EA7DFF24-C939-A1E5-A5F7-83C52E2D1735}"/>
              </a:ext>
            </a:extLst>
          </p:cNvPr>
          <p:cNvSpPr txBox="1"/>
          <p:nvPr/>
        </p:nvSpPr>
        <p:spPr>
          <a:xfrm>
            <a:off x="408940" y="1011258"/>
            <a:ext cx="11376660" cy="5309146"/>
          </a:xfrm>
          <a:prstGeom prst="rect">
            <a:avLst/>
          </a:prstGeom>
          <a:noFill/>
        </p:spPr>
        <p:txBody>
          <a:bodyPr wrap="square">
            <a:spAutoFit/>
          </a:bodyPr>
          <a:lstStyle/>
          <a:p>
            <a:pPr marL="342900" indent="-342900" algn="just">
              <a:spcBef>
                <a:spcPts val="600"/>
              </a:spcBef>
              <a:spcAft>
                <a:spcPts val="1200"/>
              </a:spcAft>
              <a:buFont typeface="Arial" panose="020B0604020202020204" pitchFamily="34" charset="0"/>
              <a:buChar char="•"/>
            </a:pPr>
            <a:r>
              <a:rPr lang="en-US" sz="2400" dirty="0">
                <a:solidFill>
                  <a:srgbClr val="362D39"/>
                </a:solidFill>
                <a:latin typeface="Times New Roman" panose="02020603050405020304" pitchFamily="18" charset="0"/>
                <a:cs typeface="Times New Roman" panose="02020603050405020304" pitchFamily="18" charset="0"/>
              </a:rPr>
              <a:t>C</a:t>
            </a:r>
            <a:r>
              <a:rPr lang="en-US" sz="2400" b="0" i="0" dirty="0">
                <a:solidFill>
                  <a:srgbClr val="362D39"/>
                </a:solidFill>
                <a:effectLst/>
                <a:latin typeface="Times New Roman" panose="02020603050405020304" pitchFamily="18" charset="0"/>
                <a:cs typeface="Times New Roman" panose="02020603050405020304" pitchFamily="18" charset="0"/>
              </a:rPr>
              <a:t>aching is about avoiding work by keeping frequently needed resources easily accessible. It accelerates repeated processes by storing previously used data or outputs for quick retrieval, leading to shorter build durations.</a:t>
            </a:r>
          </a:p>
          <a:p>
            <a:pPr marL="342900" indent="-342900" algn="just">
              <a:spcBef>
                <a:spcPts val="600"/>
              </a:spcBef>
              <a:spcAft>
                <a:spcPts val="1200"/>
              </a:spcAft>
              <a:buFont typeface="Arial" panose="020B0604020202020204" pitchFamily="34" charset="0"/>
              <a:buChar char="•"/>
            </a:pPr>
            <a:r>
              <a:rPr lang="en-US" sz="2400" b="0" i="0" dirty="0">
                <a:solidFill>
                  <a:srgbClr val="362D39"/>
                </a:solidFill>
                <a:effectLst/>
                <a:latin typeface="Times New Roman" panose="02020603050405020304" pitchFamily="18" charset="0"/>
                <a:cs typeface="Times New Roman" panose="02020603050405020304" pitchFamily="18" charset="0"/>
              </a:rPr>
              <a:t>This not only saves time but also improves workflow efficiency, allowing developers to concentrate on core development tasks rather than waiting on build processes.</a:t>
            </a:r>
          </a:p>
          <a:p>
            <a:pPr algn="ctr">
              <a:spcBef>
                <a:spcPts val="600"/>
              </a:spcBef>
              <a:spcAft>
                <a:spcPts val="1200"/>
              </a:spcAft>
            </a:pPr>
            <a:r>
              <a:rPr lang="en-IN" sz="2400" b="1" dirty="0">
                <a:latin typeface="Times New Roman" panose="02020603050405020304" pitchFamily="18" charset="0"/>
                <a:cs typeface="Times New Roman" panose="02020603050405020304" pitchFamily="18" charset="0"/>
              </a:rPr>
              <a:t>What is Build Caching?</a:t>
            </a:r>
          </a:p>
          <a:p>
            <a:pPr marL="342900" indent="-342900" algn="just">
              <a:spcBef>
                <a:spcPts val="600"/>
              </a:spcBef>
              <a:spcAft>
                <a:spcPts val="12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hlinkClick r:id="rId2"/>
              </a:rPr>
              <a:t>Build caching</a:t>
            </a:r>
            <a:r>
              <a:rPr lang="en-US" sz="2400" dirty="0">
                <a:latin typeface="Times New Roman" panose="02020603050405020304" pitchFamily="18" charset="0"/>
                <a:cs typeface="Times New Roman" panose="02020603050405020304" pitchFamily="18" charset="0"/>
              </a:rPr>
              <a:t> aims to reduce redundant work by storing outputs of intermediate build steps, like compiled code or test results, for reuse in subsequent builds.</a:t>
            </a:r>
          </a:p>
          <a:p>
            <a:pPr marL="342900" indent="-342900" algn="just">
              <a:spcBef>
                <a:spcPts val="600"/>
              </a:spcBef>
              <a:spcAft>
                <a:spcPts val="12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prevents the need to repeat identical processes in future builds and can speed up iteration cycles</a:t>
            </a:r>
            <a:endParaRPr lang="en-IN" sz="2400" b="1" dirty="0">
              <a:latin typeface="Times New Roman" panose="02020603050405020304" pitchFamily="18" charset="0"/>
              <a:cs typeface="Times New Roman" panose="02020603050405020304" pitchFamily="18" charset="0"/>
            </a:endParaRPr>
          </a:p>
          <a:p>
            <a:pPr algn="just">
              <a:spcBef>
                <a:spcPts val="600"/>
              </a:spcBef>
              <a:spcAft>
                <a:spcPts val="600"/>
              </a:spcAft>
            </a:pP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E063E09-232D-D0DD-E76E-E1D4FE2C4E97}"/>
              </a:ext>
            </a:extLst>
          </p:cNvPr>
          <p:cNvSpPr txBox="1"/>
          <p:nvPr/>
        </p:nvSpPr>
        <p:spPr>
          <a:xfrm>
            <a:off x="3045459" y="226814"/>
            <a:ext cx="6101080" cy="461665"/>
          </a:xfrm>
          <a:prstGeom prst="rect">
            <a:avLst/>
          </a:prstGeom>
          <a:noFill/>
        </p:spPr>
        <p:txBody>
          <a:bodyPr wrap="square">
            <a:spAutoFit/>
          </a:bodyPr>
          <a:lstStyle/>
          <a:p>
            <a:pPr algn="l">
              <a:spcBef>
                <a:spcPts val="4800"/>
              </a:spcBef>
              <a:spcAft>
                <a:spcPts val="2400"/>
              </a:spcAft>
              <a:buNone/>
            </a:pPr>
            <a:r>
              <a:rPr lang="en-US" sz="2400" b="1" i="0" dirty="0">
                <a:solidFill>
                  <a:srgbClr val="2B0E3F"/>
                </a:solidFill>
                <a:effectLst/>
                <a:latin typeface="Times New Roman" panose="02020603050405020304" pitchFamily="18" charset="0"/>
                <a:cs typeface="Times New Roman" panose="02020603050405020304" pitchFamily="18" charset="0"/>
              </a:rPr>
              <a:t>A High-Level Overview: What is Caching?</a:t>
            </a:r>
          </a:p>
        </p:txBody>
      </p:sp>
    </p:spTree>
    <p:extLst>
      <p:ext uri="{BB962C8B-B14F-4D97-AF65-F5344CB8AC3E}">
        <p14:creationId xmlns:p14="http://schemas.microsoft.com/office/powerpoint/2010/main" val="159527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CE65B-665C-E78E-97B3-CB690C788802}"/>
              </a:ext>
            </a:extLst>
          </p:cNvPr>
          <p:cNvSpPr>
            <a:spLocks noGrp="1"/>
          </p:cNvSpPr>
          <p:nvPr>
            <p:ph type="sldNum" sz="quarter" idx="12"/>
          </p:nvPr>
        </p:nvSpPr>
        <p:spPr/>
        <p:txBody>
          <a:bodyPr/>
          <a:lstStyle/>
          <a:p>
            <a:fld id="{CBABCCC1-BF11-4F37-963E-1BCD5B23FD72}" type="slidenum">
              <a:rPr lang="en-IN" smtClean="0"/>
              <a:t>4</a:t>
            </a:fld>
            <a:endParaRPr lang="en-IN"/>
          </a:p>
        </p:txBody>
      </p:sp>
      <p:sp>
        <p:nvSpPr>
          <p:cNvPr id="4" name="TextBox 3">
            <a:extLst>
              <a:ext uri="{FF2B5EF4-FFF2-40B4-BE49-F238E27FC236}">
                <a16:creationId xmlns:a16="http://schemas.microsoft.com/office/drawing/2014/main" id="{9CBE6C27-FC34-61D7-B123-8D116C3CDB25}"/>
              </a:ext>
            </a:extLst>
          </p:cNvPr>
          <p:cNvSpPr txBox="1"/>
          <p:nvPr/>
        </p:nvSpPr>
        <p:spPr>
          <a:xfrm>
            <a:off x="2639950" y="460494"/>
            <a:ext cx="6101080" cy="523220"/>
          </a:xfrm>
          <a:prstGeom prst="rect">
            <a:avLst/>
          </a:prstGeom>
          <a:noFill/>
        </p:spPr>
        <p:txBody>
          <a:bodyPr wrap="square">
            <a:spAutoFit/>
          </a:bodyPr>
          <a:lstStyle/>
          <a:p>
            <a:pPr algn="ctr">
              <a:buNone/>
            </a:pPr>
            <a:r>
              <a:rPr lang="en-IN" sz="2800" b="1" i="0" dirty="0">
                <a:solidFill>
                  <a:srgbClr val="161616"/>
                </a:solidFill>
                <a:effectLst/>
                <a:latin typeface="Times New Roman" panose="02020603050405020304" pitchFamily="18" charset="0"/>
                <a:cs typeface="Times New Roman" panose="02020603050405020304" pitchFamily="18" charset="0"/>
              </a:rPr>
              <a:t>Docker layer caching</a:t>
            </a:r>
          </a:p>
        </p:txBody>
      </p:sp>
      <p:sp>
        <p:nvSpPr>
          <p:cNvPr id="6" name="TextBox 5">
            <a:extLst>
              <a:ext uri="{FF2B5EF4-FFF2-40B4-BE49-F238E27FC236}">
                <a16:creationId xmlns:a16="http://schemas.microsoft.com/office/drawing/2014/main" id="{98CE77DE-7D44-DE7A-CF34-0A995B80A8B6}"/>
              </a:ext>
            </a:extLst>
          </p:cNvPr>
          <p:cNvSpPr txBox="1"/>
          <p:nvPr/>
        </p:nvSpPr>
        <p:spPr>
          <a:xfrm>
            <a:off x="571500" y="1129437"/>
            <a:ext cx="11153140" cy="2539157"/>
          </a:xfrm>
          <a:prstGeom prst="rect">
            <a:avLst/>
          </a:prstGeom>
          <a:noFill/>
        </p:spPr>
        <p:txBody>
          <a:bodyPr wrap="square">
            <a:spAutoFit/>
          </a:bodyPr>
          <a:lstStyle/>
          <a:p>
            <a:pPr marL="342900" indent="-342900" algn="just">
              <a:spcBef>
                <a:spcPts val="600"/>
              </a:spcBef>
              <a:spcAft>
                <a:spcPts val="12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If your application relies on containers, you may find yourself building the same image on every run of your CI/CD pipeline, which can be a serious drain on your build minutes. </a:t>
            </a:r>
          </a:p>
          <a:p>
            <a:pPr marL="342900" indent="-342900" algn="just">
              <a:spcBef>
                <a:spcPts val="600"/>
              </a:spcBef>
              <a:spcAft>
                <a:spcPts val="12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By enabling Docker layer caching, you can achieve a significant reduction in build times by reusing cached image layers rather than building them from scratch each time.</a:t>
            </a:r>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06D23F4-CD62-D387-C962-D128EB151DE4}"/>
              </a:ext>
            </a:extLst>
          </p:cNvPr>
          <p:cNvSpPr txBox="1"/>
          <p:nvPr/>
        </p:nvSpPr>
        <p:spPr>
          <a:xfrm>
            <a:off x="571500" y="3668594"/>
            <a:ext cx="11153140" cy="2246769"/>
          </a:xfrm>
          <a:prstGeom prst="rect">
            <a:avLst/>
          </a:prstGeom>
          <a:noFill/>
        </p:spPr>
        <p:txBody>
          <a:bodyPr wrap="square">
            <a:spAutoFit/>
          </a:bodyPr>
          <a:lstStyle/>
          <a:p>
            <a:pPr algn="l">
              <a:spcBef>
                <a:spcPts val="600"/>
              </a:spcBef>
              <a:spcAft>
                <a:spcPts val="600"/>
              </a:spcAft>
              <a:buNone/>
            </a:pPr>
            <a:r>
              <a:rPr lang="en-US" sz="2400" b="1" i="0" dirty="0">
                <a:solidFill>
                  <a:srgbClr val="161616"/>
                </a:solidFill>
                <a:effectLst/>
                <a:latin typeface="Times New Roman" panose="02020603050405020304" pitchFamily="18" charset="0"/>
                <a:cs typeface="Times New Roman" panose="02020603050405020304" pitchFamily="18" charset="0"/>
              </a:rPr>
              <a:t>How to add Docker layer caching to your pipelines</a:t>
            </a:r>
            <a:r>
              <a:rPr lang="en-US" b="1" i="0" dirty="0">
                <a:solidFill>
                  <a:srgbClr val="161616"/>
                </a:solidFill>
                <a:effectLst/>
                <a:latin typeface="Inter"/>
              </a:rPr>
              <a:t>:</a:t>
            </a:r>
          </a:p>
          <a:p>
            <a:pPr marL="285750"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You can use Docker layer caching to speed up Docker image builds in both the Docker and the machine execution environments.</a:t>
            </a:r>
          </a:p>
          <a:p>
            <a:pPr marL="285750"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 the Docker execution environment, any Docker images that you create are built in a secondary container called the remote Docker environment.</a:t>
            </a:r>
            <a:endParaRPr lang="en-US" sz="2400" b="1" i="0" dirty="0">
              <a:solidFill>
                <a:srgbClr val="161616"/>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8475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FD32884-F775-D1B6-7CE7-4C116D7CB9F9}"/>
              </a:ext>
            </a:extLst>
          </p:cNvPr>
          <p:cNvSpPr>
            <a:spLocks noGrp="1"/>
          </p:cNvSpPr>
          <p:nvPr>
            <p:ph type="sldNum" sz="quarter" idx="12"/>
          </p:nvPr>
        </p:nvSpPr>
        <p:spPr/>
        <p:txBody>
          <a:bodyPr/>
          <a:lstStyle/>
          <a:p>
            <a:fld id="{CBABCCC1-BF11-4F37-963E-1BCD5B23FD72}" type="slidenum">
              <a:rPr lang="en-IN" smtClean="0"/>
              <a:t>5</a:t>
            </a:fld>
            <a:endParaRPr lang="en-IN"/>
          </a:p>
        </p:txBody>
      </p:sp>
      <p:sp>
        <p:nvSpPr>
          <p:cNvPr id="4" name="TextBox 3">
            <a:extLst>
              <a:ext uri="{FF2B5EF4-FFF2-40B4-BE49-F238E27FC236}">
                <a16:creationId xmlns:a16="http://schemas.microsoft.com/office/drawing/2014/main" id="{88240EB2-1EFD-ADA6-3D2D-AADF161C875F}"/>
              </a:ext>
            </a:extLst>
          </p:cNvPr>
          <p:cNvSpPr txBox="1"/>
          <p:nvPr/>
        </p:nvSpPr>
        <p:spPr>
          <a:xfrm>
            <a:off x="4269740" y="277614"/>
            <a:ext cx="6101080" cy="461665"/>
          </a:xfrm>
          <a:prstGeom prst="rect">
            <a:avLst/>
          </a:prstGeom>
          <a:noFill/>
        </p:spPr>
        <p:txBody>
          <a:bodyPr wrap="square">
            <a:spAutoFit/>
          </a:bodyPr>
          <a:lstStyle/>
          <a:p>
            <a:pPr algn="l">
              <a:buNone/>
            </a:pPr>
            <a:r>
              <a:rPr lang="en-IN" sz="2400" b="1" i="0" dirty="0">
                <a:effectLst/>
                <a:latin typeface="Times New Roman" panose="02020603050405020304" pitchFamily="18" charset="0"/>
                <a:cs typeface="Times New Roman" panose="02020603050405020304" pitchFamily="18" charset="0"/>
              </a:rPr>
              <a:t>Optimize cache usage in builds</a:t>
            </a:r>
          </a:p>
        </p:txBody>
      </p:sp>
      <p:sp>
        <p:nvSpPr>
          <p:cNvPr id="6" name="TextBox 5">
            <a:extLst>
              <a:ext uri="{FF2B5EF4-FFF2-40B4-BE49-F238E27FC236}">
                <a16:creationId xmlns:a16="http://schemas.microsoft.com/office/drawing/2014/main" id="{69DE6B0E-2888-1A34-5CAF-5F2CB4CCAFF6}"/>
              </a:ext>
            </a:extLst>
          </p:cNvPr>
          <p:cNvSpPr txBox="1"/>
          <p:nvPr/>
        </p:nvSpPr>
        <p:spPr>
          <a:xfrm>
            <a:off x="106680" y="1688271"/>
            <a:ext cx="6101080" cy="4057842"/>
          </a:xfrm>
          <a:prstGeom prst="rect">
            <a:avLst/>
          </a:prstGeom>
          <a:noFill/>
        </p:spPr>
        <p:txBody>
          <a:bodyPr wrap="square">
            <a:spAutoFit/>
          </a:bodyPr>
          <a:lstStyle/>
          <a:p>
            <a:pPr marL="285750" indent="-285750" algn="just">
              <a:lnSpc>
                <a:spcPct val="150000"/>
              </a:lnSpc>
              <a:spcBef>
                <a:spcPts val="600"/>
              </a:spcBef>
              <a:spcAft>
                <a:spcPts val="6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When building with Docker, a layer is reused from the build cache if the instruction and the files it depends on hasn't changed since it was previously built. </a:t>
            </a:r>
          </a:p>
          <a:p>
            <a:pPr marL="285750" indent="-285750" algn="just">
              <a:lnSpc>
                <a:spcPct val="150000"/>
              </a:lnSpc>
              <a:spcBef>
                <a:spcPts val="600"/>
              </a:spcBef>
              <a:spcAft>
                <a:spcPts val="6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Reusing layers from the cache speeds up the build process because Docker doesn't have to rebuild the layer again</a:t>
            </a: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3AFE86E-F2AE-D23F-386A-63C7D5E05904}"/>
              </a:ext>
            </a:extLst>
          </p:cNvPr>
          <p:cNvPicPr>
            <a:picLocks noChangeAspect="1"/>
          </p:cNvPicPr>
          <p:nvPr/>
        </p:nvPicPr>
        <p:blipFill>
          <a:blip r:embed="rId2"/>
          <a:stretch>
            <a:fillRect/>
          </a:stretch>
        </p:blipFill>
        <p:spPr>
          <a:xfrm>
            <a:off x="6614452" y="2061464"/>
            <a:ext cx="5470868" cy="3145062"/>
          </a:xfrm>
          <a:prstGeom prst="rect">
            <a:avLst/>
          </a:prstGeom>
        </p:spPr>
      </p:pic>
    </p:spTree>
    <p:extLst>
      <p:ext uri="{BB962C8B-B14F-4D97-AF65-F5344CB8AC3E}">
        <p14:creationId xmlns:p14="http://schemas.microsoft.com/office/powerpoint/2010/main" val="286364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78BBC95-856F-C67A-D73F-434412DBCBFD}"/>
              </a:ext>
            </a:extLst>
          </p:cNvPr>
          <p:cNvSpPr>
            <a:spLocks noGrp="1"/>
          </p:cNvSpPr>
          <p:nvPr>
            <p:ph type="sldNum" sz="quarter" idx="12"/>
          </p:nvPr>
        </p:nvSpPr>
        <p:spPr/>
        <p:txBody>
          <a:bodyPr/>
          <a:lstStyle/>
          <a:p>
            <a:fld id="{CBABCCC1-BF11-4F37-963E-1BCD5B23FD72}" type="slidenum">
              <a:rPr lang="en-IN" smtClean="0"/>
              <a:t>6</a:t>
            </a:fld>
            <a:endParaRPr lang="en-IN"/>
          </a:p>
        </p:txBody>
      </p:sp>
      <p:pic>
        <p:nvPicPr>
          <p:cNvPr id="3" name="Picture 2">
            <a:extLst>
              <a:ext uri="{FF2B5EF4-FFF2-40B4-BE49-F238E27FC236}">
                <a16:creationId xmlns:a16="http://schemas.microsoft.com/office/drawing/2014/main" id="{09C7D03A-D3E4-209E-8851-8F7CE95812D8}"/>
              </a:ext>
            </a:extLst>
          </p:cNvPr>
          <p:cNvPicPr>
            <a:picLocks noChangeAspect="1"/>
          </p:cNvPicPr>
          <p:nvPr/>
        </p:nvPicPr>
        <p:blipFill>
          <a:blip r:embed="rId2"/>
          <a:stretch>
            <a:fillRect/>
          </a:stretch>
        </p:blipFill>
        <p:spPr>
          <a:xfrm>
            <a:off x="0" y="-1"/>
            <a:ext cx="12192000" cy="7008869"/>
          </a:xfrm>
          <a:prstGeom prst="rect">
            <a:avLst/>
          </a:prstGeom>
        </p:spPr>
      </p:pic>
    </p:spTree>
    <p:extLst>
      <p:ext uri="{BB962C8B-B14F-4D97-AF65-F5344CB8AC3E}">
        <p14:creationId xmlns:p14="http://schemas.microsoft.com/office/powerpoint/2010/main" val="2964746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50C145E-8573-29FA-C1B6-B43DC87F4B65}"/>
              </a:ext>
            </a:extLst>
          </p:cNvPr>
          <p:cNvSpPr>
            <a:spLocks noGrp="1"/>
          </p:cNvSpPr>
          <p:nvPr>
            <p:ph type="sldNum" sz="quarter" idx="12"/>
          </p:nvPr>
        </p:nvSpPr>
        <p:spPr/>
        <p:txBody>
          <a:bodyPr/>
          <a:lstStyle/>
          <a:p>
            <a:fld id="{CBABCCC1-BF11-4F37-963E-1BCD5B23FD72}" type="slidenum">
              <a:rPr lang="en-IN" smtClean="0"/>
              <a:t>7</a:t>
            </a:fld>
            <a:endParaRPr lang="en-IN"/>
          </a:p>
        </p:txBody>
      </p:sp>
      <p:sp>
        <p:nvSpPr>
          <p:cNvPr id="4" name="TextBox 3">
            <a:extLst>
              <a:ext uri="{FF2B5EF4-FFF2-40B4-BE49-F238E27FC236}">
                <a16:creationId xmlns:a16="http://schemas.microsoft.com/office/drawing/2014/main" id="{44D8C49F-494B-FB16-C3E4-5B495377493C}"/>
              </a:ext>
            </a:extLst>
          </p:cNvPr>
          <p:cNvSpPr txBox="1"/>
          <p:nvPr/>
        </p:nvSpPr>
        <p:spPr>
          <a:xfrm>
            <a:off x="530860" y="566678"/>
            <a:ext cx="10858500" cy="830997"/>
          </a:xfrm>
          <a:prstGeom prst="rect">
            <a:avLst/>
          </a:prstGeom>
          <a:noFill/>
        </p:spPr>
        <p:txBody>
          <a:bodyPr wrap="square">
            <a:spAutoFit/>
          </a:bodyPr>
          <a:lstStyle/>
          <a:p>
            <a:r>
              <a:rPr lang="en-US" sz="2400" b="1" i="0" dirty="0">
                <a:effectLst/>
                <a:latin typeface="Times New Roman" panose="02020603050405020304" pitchFamily="18" charset="0"/>
                <a:cs typeface="Times New Roman" panose="02020603050405020304" pitchFamily="18" charset="0"/>
              </a:rPr>
              <a:t>Here are a few techniques you can use to optimize build caching and speed up the build process:</a:t>
            </a:r>
            <a:endParaRPr lang="en-IN" sz="2400"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F8908982-29C3-10F9-3D5C-7AE0EEEE80DC}"/>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3778C0A2-17BD-713C-1AAB-D1945068F29D}"/>
              </a:ext>
            </a:extLst>
          </p:cNvPr>
          <p:cNvSpPr txBox="1"/>
          <p:nvPr/>
        </p:nvSpPr>
        <p:spPr>
          <a:xfrm>
            <a:off x="661670" y="1397675"/>
            <a:ext cx="10596880" cy="4708981"/>
          </a:xfrm>
          <a:prstGeom prst="rect">
            <a:avLst/>
          </a:prstGeom>
          <a:noFill/>
        </p:spPr>
        <p:txBody>
          <a:bodyPr wrap="square">
            <a:spAutoFit/>
          </a:bodyPr>
          <a:lstStyle/>
          <a:p>
            <a:pPr marL="342900" marR="0" lvl="0" indent="-342900" algn="just" defTabSz="914400" rtl="0" eaLnBrk="0" fontAlgn="base" latinLnBrk="0" hangingPunct="0">
              <a:spcBef>
                <a:spcPts val="600"/>
              </a:spcBef>
              <a:spcAft>
                <a:spcPts val="120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Order layers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Arrange commands in a logical order to avoid unnecessary cache invalidation.</a:t>
            </a:r>
          </a:p>
          <a:p>
            <a:pPr marL="342900" marR="0" lvl="0" indent="-342900" algn="just" defTabSz="914400" rtl="0" eaLnBrk="0" fontAlgn="base" latinLnBrk="0" hangingPunct="0">
              <a:spcBef>
                <a:spcPts val="600"/>
              </a:spcBef>
              <a:spcAft>
                <a:spcPts val="120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Keep context small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Reduce the files sent to the builder to minimize data transfer and cache invalidation.</a:t>
            </a:r>
          </a:p>
          <a:p>
            <a:pPr marL="342900" marR="0" lvl="0" indent="-342900" algn="just" defTabSz="914400" rtl="0" eaLnBrk="0" fontAlgn="base" latinLnBrk="0" hangingPunct="0">
              <a:spcBef>
                <a:spcPts val="600"/>
              </a:spcBef>
              <a:spcAft>
                <a:spcPts val="120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bind mounts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Mount host files into the container to avoid extra layers and speed up builds.</a:t>
            </a:r>
          </a:p>
          <a:p>
            <a:pPr marL="342900" marR="0" lvl="0" indent="-342900" algn="just" defTabSz="914400" rtl="0" eaLnBrk="0" fontAlgn="base" latinLnBrk="0" hangingPunct="0">
              <a:spcBef>
                <a:spcPts val="600"/>
              </a:spcBef>
              <a:spcAft>
                <a:spcPts val="120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cache mounts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Set up a persistent package cache to avoid re-downloading packages during builds.</a:t>
            </a:r>
          </a:p>
          <a:p>
            <a:pPr marL="342900" marR="0" lvl="0" indent="-342900" algn="just" defTabSz="914400" rtl="0" eaLnBrk="0" fontAlgn="base" latinLnBrk="0" hangingPunct="0">
              <a:spcBef>
                <a:spcPts val="600"/>
              </a:spcBef>
              <a:spcAft>
                <a:spcPts val="1200"/>
              </a:spcAft>
              <a:buClrTx/>
              <a:buSzTx/>
              <a:buFont typeface="+mj-lt"/>
              <a:buAutoNum type="arabicPeriod"/>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an external cache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 build cache remotely to share across builds and environments.</a:t>
            </a:r>
          </a:p>
        </p:txBody>
      </p:sp>
    </p:spTree>
    <p:extLst>
      <p:ext uri="{BB962C8B-B14F-4D97-AF65-F5344CB8AC3E}">
        <p14:creationId xmlns:p14="http://schemas.microsoft.com/office/powerpoint/2010/main" val="2987067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5DE7AC-3402-9D2E-70D3-5EB9DC442EE5}"/>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4" name="TextBox 3">
            <a:extLst>
              <a:ext uri="{FF2B5EF4-FFF2-40B4-BE49-F238E27FC236}">
                <a16:creationId xmlns:a16="http://schemas.microsoft.com/office/drawing/2014/main" id="{02ED6B3E-CA81-8FFF-AF13-2D67C974B5F1}"/>
              </a:ext>
            </a:extLst>
          </p:cNvPr>
          <p:cNvSpPr txBox="1"/>
          <p:nvPr/>
        </p:nvSpPr>
        <p:spPr>
          <a:xfrm>
            <a:off x="4249420" y="119142"/>
            <a:ext cx="6101080" cy="461665"/>
          </a:xfrm>
          <a:prstGeom prst="rect">
            <a:avLst/>
          </a:prstGeom>
          <a:noFill/>
        </p:spPr>
        <p:txBody>
          <a:bodyPr wrap="square">
            <a:spAutoFit/>
          </a:bodyPr>
          <a:lstStyle/>
          <a:p>
            <a:r>
              <a:rPr lang="en-IN" sz="2400" b="1" i="0" u="none" strike="noStrike" dirty="0">
                <a:solidFill>
                  <a:srgbClr val="000000"/>
                </a:solidFill>
                <a:effectLst/>
                <a:latin typeface="Times New Roman" panose="02020603050405020304" pitchFamily="18" charset="0"/>
                <a:cs typeface="Times New Roman" panose="02020603050405020304" pitchFamily="18" charset="0"/>
                <a:hlinkClick r:id="rId2"/>
              </a:rPr>
              <a:t>Order your layers</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13E983E-8FE2-FF31-9D6B-BFAAC79392F0}"/>
              </a:ext>
            </a:extLst>
          </p:cNvPr>
          <p:cNvSpPr txBox="1"/>
          <p:nvPr/>
        </p:nvSpPr>
        <p:spPr>
          <a:xfrm>
            <a:off x="632460" y="881519"/>
            <a:ext cx="11234420" cy="2246769"/>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t>
            </a:r>
            <a:r>
              <a:rPr lang="en-US" sz="2400" b="0" i="0" dirty="0">
                <a:effectLst/>
                <a:latin typeface="Times New Roman" panose="02020603050405020304" pitchFamily="18" charset="0"/>
                <a:cs typeface="Times New Roman" panose="02020603050405020304" pitchFamily="18" charset="0"/>
              </a:rPr>
              <a:t>ry to make expensive steps appear near the beginning of the </a:t>
            </a:r>
            <a:r>
              <a:rPr lang="en-US" sz="2400" b="0" i="0" dirty="0" err="1">
                <a:effectLst/>
                <a:latin typeface="Times New Roman" panose="02020603050405020304" pitchFamily="18" charset="0"/>
                <a:cs typeface="Times New Roman" panose="02020603050405020304" pitchFamily="18" charset="0"/>
              </a:rPr>
              <a:t>Dockerfile</a:t>
            </a:r>
            <a:r>
              <a:rPr lang="en-US" sz="2400" b="0" i="0" dirty="0">
                <a:effectLst/>
                <a:latin typeface="Times New Roman" panose="02020603050405020304" pitchFamily="18" charset="0"/>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Steps that change often should appear near the end of the </a:t>
            </a:r>
            <a:r>
              <a:rPr lang="en-US" sz="2400" b="0" i="0" dirty="0" err="1">
                <a:effectLst/>
                <a:latin typeface="Times New Roman" panose="02020603050405020304" pitchFamily="18" charset="0"/>
                <a:cs typeface="Times New Roman" panose="02020603050405020304" pitchFamily="18" charset="0"/>
              </a:rPr>
              <a:t>Dockerfile</a:t>
            </a:r>
            <a:r>
              <a:rPr lang="en-US" sz="2400" b="0" i="0" dirty="0">
                <a:effectLst/>
                <a:latin typeface="Times New Roman" panose="02020603050405020304" pitchFamily="18" charset="0"/>
                <a:cs typeface="Times New Roman" panose="02020603050405020304" pitchFamily="18" charset="0"/>
              </a:rPr>
              <a:t>, to avoid triggering rebuilds of layers that haven't changed.</a:t>
            </a:r>
          </a:p>
          <a:p>
            <a:pPr algn="just">
              <a:spcBef>
                <a:spcPts val="600"/>
              </a:spcBef>
              <a:spcAft>
                <a:spcPts val="600"/>
              </a:spcAft>
            </a:pPr>
            <a:r>
              <a:rPr lang="en-US" sz="2400" b="1" dirty="0">
                <a:latin typeface="Times New Roman" panose="02020603050405020304" pitchFamily="18" charset="0"/>
                <a:cs typeface="Times New Roman" panose="02020603050405020304" pitchFamily="18" charset="0"/>
              </a:rPr>
              <a:t>Consider the following example. </a:t>
            </a:r>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snippet that runs a JavaScript build from the source files in the current directory:</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FAB47B6-8446-72EF-4593-0FF06936A3DE}"/>
              </a:ext>
            </a:extLst>
          </p:cNvPr>
          <p:cNvPicPr>
            <a:picLocks noChangeAspect="1"/>
          </p:cNvPicPr>
          <p:nvPr/>
        </p:nvPicPr>
        <p:blipFill>
          <a:blip r:embed="rId3">
            <a:clrChange>
              <a:clrFrom>
                <a:srgbClr val="F9FAFB"/>
              </a:clrFrom>
              <a:clrTo>
                <a:srgbClr val="F9FAFB">
                  <a:alpha val="0"/>
                </a:srgbClr>
              </a:clrTo>
            </a:clrChange>
          </a:blip>
          <a:stretch>
            <a:fillRect/>
          </a:stretch>
        </p:blipFill>
        <p:spPr>
          <a:xfrm>
            <a:off x="826162" y="3137282"/>
            <a:ext cx="10539673" cy="2654533"/>
          </a:xfrm>
          <a:prstGeom prst="rect">
            <a:avLst/>
          </a:prstGeom>
        </p:spPr>
      </p:pic>
      <p:sp>
        <p:nvSpPr>
          <p:cNvPr id="10" name="TextBox 9">
            <a:extLst>
              <a:ext uri="{FF2B5EF4-FFF2-40B4-BE49-F238E27FC236}">
                <a16:creationId xmlns:a16="http://schemas.microsoft.com/office/drawing/2014/main" id="{3EFF9A27-382A-CFB9-87CA-1BBD5E193800}"/>
              </a:ext>
            </a:extLst>
          </p:cNvPr>
          <p:cNvSpPr txBox="1"/>
          <p:nvPr/>
        </p:nvSpPr>
        <p:spPr>
          <a:xfrm>
            <a:off x="2948940" y="5791815"/>
            <a:ext cx="6101080" cy="369332"/>
          </a:xfrm>
          <a:prstGeom prst="rect">
            <a:avLst/>
          </a:prstGeom>
          <a:noFill/>
        </p:spPr>
        <p:txBody>
          <a:bodyPr wrap="square">
            <a:spAutoFit/>
          </a:bodyPr>
          <a:lstStyle/>
          <a:p>
            <a:r>
              <a:rPr lang="en-US" b="0" i="0" dirty="0">
                <a:effectLst/>
                <a:latin typeface="roboto flex"/>
              </a:rPr>
              <a:t>This </a:t>
            </a:r>
            <a:r>
              <a:rPr lang="en-US" b="0" i="0" dirty="0" err="1">
                <a:effectLst/>
                <a:latin typeface="roboto flex"/>
              </a:rPr>
              <a:t>Dockerfile</a:t>
            </a:r>
            <a:r>
              <a:rPr lang="en-US" b="0" i="0" dirty="0">
                <a:effectLst/>
                <a:latin typeface="roboto flex"/>
              </a:rPr>
              <a:t> is rather inefficient.</a:t>
            </a:r>
            <a:endParaRPr lang="en-IN" dirty="0"/>
          </a:p>
        </p:txBody>
      </p:sp>
    </p:spTree>
    <p:extLst>
      <p:ext uri="{BB962C8B-B14F-4D97-AF65-F5344CB8AC3E}">
        <p14:creationId xmlns:p14="http://schemas.microsoft.com/office/powerpoint/2010/main" val="3180619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8D2FAF-BA8C-337C-C71E-90972E6A7A7B}"/>
              </a:ext>
            </a:extLst>
          </p:cNvPr>
          <p:cNvSpPr>
            <a:spLocks noGrp="1"/>
          </p:cNvSpPr>
          <p:nvPr>
            <p:ph type="sldNum" sz="quarter" idx="12"/>
          </p:nvPr>
        </p:nvSpPr>
        <p:spPr/>
        <p:txBody>
          <a:bodyPr/>
          <a:lstStyle/>
          <a:p>
            <a:fld id="{CBABCCC1-BF11-4F37-963E-1BCD5B23FD72}" type="slidenum">
              <a:rPr lang="en-IN" smtClean="0"/>
              <a:t>9</a:t>
            </a:fld>
            <a:endParaRPr lang="en-IN"/>
          </a:p>
        </p:txBody>
      </p:sp>
      <p:pic>
        <p:nvPicPr>
          <p:cNvPr id="4" name="Picture 3">
            <a:extLst>
              <a:ext uri="{FF2B5EF4-FFF2-40B4-BE49-F238E27FC236}">
                <a16:creationId xmlns:a16="http://schemas.microsoft.com/office/drawing/2014/main" id="{2A03719B-97C3-01A5-E472-F46CDFF332F4}"/>
              </a:ext>
            </a:extLst>
          </p:cNvPr>
          <p:cNvPicPr>
            <a:picLocks noChangeAspect="1"/>
          </p:cNvPicPr>
          <p:nvPr/>
        </p:nvPicPr>
        <p:blipFill>
          <a:blip r:embed="rId2"/>
          <a:stretch>
            <a:fillRect/>
          </a:stretch>
        </p:blipFill>
        <p:spPr>
          <a:xfrm>
            <a:off x="0" y="15239"/>
            <a:ext cx="12192000" cy="6866793"/>
          </a:xfrm>
          <a:prstGeom prst="rect">
            <a:avLst/>
          </a:prstGeom>
        </p:spPr>
      </p:pic>
    </p:spTree>
    <p:extLst>
      <p:ext uri="{BB962C8B-B14F-4D97-AF65-F5344CB8AC3E}">
        <p14:creationId xmlns:p14="http://schemas.microsoft.com/office/powerpoint/2010/main" val="1241626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E4757E-5001-3126-3B79-21239144C055}"/>
              </a:ext>
            </a:extLst>
          </p:cNvPr>
          <p:cNvSpPr>
            <a:spLocks noGrp="1"/>
          </p:cNvSpPr>
          <p:nvPr>
            <p:ph type="sldNum" sz="quarter" idx="12"/>
          </p:nvPr>
        </p:nvSpPr>
        <p:spPr/>
        <p:txBody>
          <a:bodyPr/>
          <a:lstStyle/>
          <a:p>
            <a:fld id="{CBABCCC1-BF11-4F37-963E-1BCD5B23FD72}" type="slidenum">
              <a:rPr lang="en-IN" smtClean="0"/>
              <a:t>10</a:t>
            </a:fld>
            <a:endParaRPr lang="en-IN"/>
          </a:p>
        </p:txBody>
      </p:sp>
      <p:sp>
        <p:nvSpPr>
          <p:cNvPr id="4" name="TextBox 3">
            <a:extLst>
              <a:ext uri="{FF2B5EF4-FFF2-40B4-BE49-F238E27FC236}">
                <a16:creationId xmlns:a16="http://schemas.microsoft.com/office/drawing/2014/main" id="{6753E05A-CC43-B8E2-18BA-F44A01C80837}"/>
              </a:ext>
            </a:extLst>
          </p:cNvPr>
          <p:cNvSpPr txBox="1"/>
          <p:nvPr/>
        </p:nvSpPr>
        <p:spPr>
          <a:xfrm>
            <a:off x="236220" y="587216"/>
            <a:ext cx="11955780" cy="1723549"/>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Instead, the COPY command can be split in two. First, copy over the package management files (in this case, </a:t>
            </a:r>
            <a:r>
              <a:rPr lang="en-US" sz="2400" b="0" i="0" dirty="0" err="1">
                <a:effectLst/>
                <a:latin typeface="Times New Roman" panose="02020603050405020304" pitchFamily="18" charset="0"/>
                <a:cs typeface="Times New Roman" panose="02020603050405020304" pitchFamily="18" charset="0"/>
              </a:rPr>
              <a:t>package.json</a:t>
            </a:r>
            <a:r>
              <a:rPr lang="en-US" sz="2400" b="0" i="0" dirty="0">
                <a:effectLst/>
                <a:latin typeface="Times New Roman" panose="02020603050405020304" pitchFamily="18" charset="0"/>
                <a:cs typeface="Times New Roman" panose="02020603050405020304" pitchFamily="18" charset="0"/>
              </a:rPr>
              <a:t> )</a:t>
            </a:r>
          </a:p>
          <a:p>
            <a:pPr marL="285750" indent="-285750" algn="just">
              <a:spcBef>
                <a:spcPts val="600"/>
              </a:spcBef>
              <a:spcAft>
                <a:spcPts val="6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Then, install the dependencies. Finally, copy over the project source code, which is subject to frequent change</a:t>
            </a:r>
            <a:r>
              <a:rPr lang="en-US" b="0" i="0" dirty="0">
                <a:effectLst/>
                <a:latin typeface="roboto flex"/>
              </a:rPr>
              <a:t>.</a:t>
            </a:r>
            <a:endParaRPr lang="en-IN" dirty="0"/>
          </a:p>
        </p:txBody>
      </p:sp>
      <p:pic>
        <p:nvPicPr>
          <p:cNvPr id="8" name="Picture 7">
            <a:extLst>
              <a:ext uri="{FF2B5EF4-FFF2-40B4-BE49-F238E27FC236}">
                <a16:creationId xmlns:a16="http://schemas.microsoft.com/office/drawing/2014/main" id="{0922384C-E68B-5E72-4152-615ED4B60460}"/>
              </a:ext>
            </a:extLst>
          </p:cNvPr>
          <p:cNvPicPr>
            <a:picLocks noChangeAspect="1"/>
          </p:cNvPicPr>
          <p:nvPr/>
        </p:nvPicPr>
        <p:blipFill>
          <a:blip r:embed="rId2"/>
          <a:stretch>
            <a:fillRect/>
          </a:stretch>
        </p:blipFill>
        <p:spPr>
          <a:xfrm>
            <a:off x="684644" y="2413790"/>
            <a:ext cx="9648075" cy="2998059"/>
          </a:xfrm>
          <a:prstGeom prst="rect">
            <a:avLst/>
          </a:prstGeom>
        </p:spPr>
      </p:pic>
      <p:sp>
        <p:nvSpPr>
          <p:cNvPr id="10" name="TextBox 9">
            <a:extLst>
              <a:ext uri="{FF2B5EF4-FFF2-40B4-BE49-F238E27FC236}">
                <a16:creationId xmlns:a16="http://schemas.microsoft.com/office/drawing/2014/main" id="{B392A5F3-1AB3-E654-BD83-8920C99EC1C3}"/>
              </a:ext>
            </a:extLst>
          </p:cNvPr>
          <p:cNvSpPr txBox="1"/>
          <p:nvPr/>
        </p:nvSpPr>
        <p:spPr>
          <a:xfrm>
            <a:off x="510540" y="5514874"/>
            <a:ext cx="11376660" cy="830997"/>
          </a:xfrm>
          <a:prstGeom prst="rect">
            <a:avLst/>
          </a:prstGeom>
          <a:noFill/>
        </p:spPr>
        <p:txBody>
          <a:bodyPr wrap="square">
            <a:spAutoFit/>
          </a:bodyPr>
          <a:lstStyle/>
          <a:p>
            <a:r>
              <a:rPr lang="en-US" sz="2400" b="0" i="0" dirty="0">
                <a:effectLst/>
                <a:latin typeface="Times New Roman" panose="02020603050405020304" pitchFamily="18" charset="0"/>
                <a:cs typeface="Times New Roman" panose="02020603050405020304" pitchFamily="18" charset="0"/>
              </a:rPr>
              <a:t>By installing dependencies in earlier layers of the </a:t>
            </a:r>
            <a:r>
              <a:rPr lang="en-US" sz="2400" b="0" i="0" dirty="0" err="1">
                <a:effectLst/>
                <a:latin typeface="Times New Roman" panose="02020603050405020304" pitchFamily="18" charset="0"/>
                <a:cs typeface="Times New Roman" panose="02020603050405020304" pitchFamily="18" charset="0"/>
              </a:rPr>
              <a:t>Dockerfile</a:t>
            </a:r>
            <a:r>
              <a:rPr lang="en-US" sz="2400" b="0" i="0" dirty="0">
                <a:effectLst/>
                <a:latin typeface="Times New Roman" panose="02020603050405020304" pitchFamily="18" charset="0"/>
                <a:cs typeface="Times New Roman" panose="02020603050405020304" pitchFamily="18" charset="0"/>
              </a:rPr>
              <a:t>, there is no need to rebuild those layers when a project file has changed.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766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013AC9-041D-99F2-8A35-FD6E309C8BDB}"/>
              </a:ext>
            </a:extLst>
          </p:cNvPr>
          <p:cNvSpPr>
            <a:spLocks noGrp="1"/>
          </p:cNvSpPr>
          <p:nvPr>
            <p:ph type="sldNum" sz="quarter" idx="12"/>
          </p:nvPr>
        </p:nvSpPr>
        <p:spPr/>
        <p:txBody>
          <a:bodyPr/>
          <a:lstStyle/>
          <a:p>
            <a:fld id="{CBABCCC1-BF11-4F37-963E-1BCD5B23FD72}" type="slidenum">
              <a:rPr lang="en-IN" smtClean="0"/>
              <a:t>11</a:t>
            </a:fld>
            <a:endParaRPr lang="en-IN"/>
          </a:p>
        </p:txBody>
      </p:sp>
      <p:sp>
        <p:nvSpPr>
          <p:cNvPr id="5" name="TextBox 4">
            <a:extLst>
              <a:ext uri="{FF2B5EF4-FFF2-40B4-BE49-F238E27FC236}">
                <a16:creationId xmlns:a16="http://schemas.microsoft.com/office/drawing/2014/main" id="{DBCACEE5-4C0B-CBCA-F45C-FFEBA13DC4FD}"/>
              </a:ext>
            </a:extLst>
          </p:cNvPr>
          <p:cNvSpPr txBox="1"/>
          <p:nvPr/>
        </p:nvSpPr>
        <p:spPr>
          <a:xfrm>
            <a:off x="355599" y="658843"/>
            <a:ext cx="11480800" cy="4924425"/>
          </a:xfrm>
          <a:prstGeom prst="rect">
            <a:avLst/>
          </a:prstGeom>
          <a:noFill/>
        </p:spPr>
        <p:txBody>
          <a:bodyPr wrap="square">
            <a:spAutoFit/>
          </a:bodyPr>
          <a:lstStyle/>
          <a:p>
            <a:pPr lvl="0" algn="just" defTabSz="914400" eaLnBrk="0" fontAlgn="base" hangingPunct="0">
              <a:spcBef>
                <a:spcPts val="600"/>
              </a:spcBef>
              <a:spcAft>
                <a:spcPts val="600"/>
              </a:spcAft>
            </a:pPr>
            <a:r>
              <a:rPr lang="en-US" sz="2400" b="1" dirty="0">
                <a:latin typeface="Times New Roman" panose="02020603050405020304" pitchFamily="18" charset="0"/>
                <a:cs typeface="Times New Roman" panose="02020603050405020304" pitchFamily="18" charset="0"/>
              </a:rPr>
              <a:t>The following approach enables Docker layer caching in GitHub Actions workflows:</a:t>
            </a:r>
            <a:endPar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ts val="600"/>
              </a:spcBef>
              <a:spcAft>
                <a:spcPts val="60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Buildx</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docker/setup-buildx-action@v2 is used to enable advanced build capabilities.</a:t>
            </a:r>
          </a:p>
          <a:p>
            <a:pPr marL="342900" marR="0" lvl="0" indent="-342900" algn="just" defTabSz="914400" rtl="0" eaLnBrk="0" fontAlgn="base" latinLnBrk="0" hangingPunct="0">
              <a:lnSpc>
                <a:spcPct val="100000"/>
              </a:lnSpc>
              <a:spcBef>
                <a:spcPts val="600"/>
              </a:spcBef>
              <a:spcAft>
                <a:spcPts val="60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Caching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actions/cache@v2 caches Docker layers to speed up builds. It uses a key based on the GitHub SHA to identify different builds.</a:t>
            </a:r>
          </a:p>
          <a:p>
            <a:pPr marL="342900" marR="0" lvl="0" indent="-342900" algn="just" defTabSz="914400" rtl="0" eaLnBrk="0" fontAlgn="base" latinLnBrk="0" hangingPunct="0">
              <a:lnSpc>
                <a:spcPct val="100000"/>
              </a:lnSpc>
              <a:spcBef>
                <a:spcPts val="600"/>
              </a:spcBef>
              <a:spcAft>
                <a:spcPts val="600"/>
              </a:spcAft>
              <a:buClrTx/>
              <a:buSzTx/>
              <a:buFont typeface="Arial" panose="020B0604020202020204" pitchFamily="34" charset="0"/>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Docker Build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docker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buildx</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 command builds the image and uses caching with --cache-from and --cache-to to store and reuse layers</a:t>
            </a:r>
          </a:p>
          <a:p>
            <a:pPr lvl="0" algn="ctr" defTabSz="914400" eaLnBrk="0" fontAlgn="base" hangingPunct="0">
              <a:spcBef>
                <a:spcPts val="600"/>
              </a:spcBef>
              <a:spcAft>
                <a:spcPts val="600"/>
              </a:spcAft>
            </a:pPr>
            <a:r>
              <a:rPr lang="en-IN" sz="2400" dirty="0"/>
              <a:t>In </a:t>
            </a:r>
            <a:r>
              <a:rPr lang="en-IN" sz="2400" b="1" dirty="0"/>
              <a:t>Jenkins</a:t>
            </a:r>
          </a:p>
          <a:p>
            <a:pPr marL="342900" lvl="0" indent="-342900" algn="just" defTabSz="914400" eaLnBrk="0" fontAlgn="base" hangingPunct="0">
              <a:spcBef>
                <a:spcPts val="600"/>
              </a:spcBef>
              <a:spcAft>
                <a:spcPts val="12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enable Docker caching, you can use a </a:t>
            </a:r>
            <a:r>
              <a:rPr lang="en-US" sz="2400" b="1" dirty="0">
                <a:latin typeface="Times New Roman" panose="02020603050405020304" pitchFamily="18" charset="0"/>
                <a:cs typeface="Times New Roman" panose="02020603050405020304" pitchFamily="18" charset="0"/>
              </a:rPr>
              <a:t>Docker </a:t>
            </a:r>
            <a:r>
              <a:rPr lang="en-US" sz="2400" b="1" dirty="0" err="1">
                <a:latin typeface="Times New Roman" panose="02020603050405020304" pitchFamily="18" charset="0"/>
                <a:cs typeface="Times New Roman" panose="02020603050405020304" pitchFamily="18" charset="0"/>
              </a:rPr>
              <a:t>Buildx</a:t>
            </a:r>
            <a:r>
              <a:rPr lang="en-US" sz="2400" dirty="0">
                <a:latin typeface="Times New Roman" panose="02020603050405020304" pitchFamily="18" charset="0"/>
                <a:cs typeface="Times New Roman" panose="02020603050405020304" pitchFamily="18" charset="0"/>
              </a:rPr>
              <a:t> or </a:t>
            </a:r>
            <a:r>
              <a:rPr lang="en-US" sz="2400" b="1" dirty="0">
                <a:latin typeface="Times New Roman" panose="02020603050405020304" pitchFamily="18" charset="0"/>
                <a:cs typeface="Times New Roman" panose="02020603050405020304" pitchFamily="18" charset="0"/>
              </a:rPr>
              <a:t>Docker layer cache</a:t>
            </a:r>
            <a:r>
              <a:rPr lang="en-US" sz="2400" dirty="0">
                <a:latin typeface="Times New Roman" panose="02020603050405020304" pitchFamily="18" charset="0"/>
                <a:cs typeface="Times New Roman" panose="02020603050405020304" pitchFamily="18" charset="0"/>
              </a:rPr>
              <a:t> plugin, or simply leverage Docker's native cache mechanisms with the appropriate build commands.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79241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D3C7E6-0E39-5CB0-EC3E-67DD5A0154BF}"/>
              </a:ext>
            </a:extLst>
          </p:cNvPr>
          <p:cNvSpPr>
            <a:spLocks noGrp="1"/>
          </p:cNvSpPr>
          <p:nvPr>
            <p:ph type="sldNum" sz="quarter" idx="12"/>
          </p:nvPr>
        </p:nvSpPr>
        <p:spPr/>
        <p:txBody>
          <a:bodyPr/>
          <a:lstStyle/>
          <a:p>
            <a:fld id="{CBABCCC1-BF11-4F37-963E-1BCD5B23FD72}" type="slidenum">
              <a:rPr lang="en-IN" smtClean="0"/>
              <a:t>12</a:t>
            </a:fld>
            <a:endParaRPr lang="en-IN"/>
          </a:p>
        </p:txBody>
      </p:sp>
      <p:sp>
        <p:nvSpPr>
          <p:cNvPr id="4" name="TextBox 3">
            <a:extLst>
              <a:ext uri="{FF2B5EF4-FFF2-40B4-BE49-F238E27FC236}">
                <a16:creationId xmlns:a16="http://schemas.microsoft.com/office/drawing/2014/main" id="{9FBECB4E-3EE2-BBFE-F7AF-2398C8D97AB6}"/>
              </a:ext>
            </a:extLst>
          </p:cNvPr>
          <p:cNvSpPr txBox="1"/>
          <p:nvPr/>
        </p:nvSpPr>
        <p:spPr>
          <a:xfrm>
            <a:off x="4168140" y="369054"/>
            <a:ext cx="6101080" cy="461665"/>
          </a:xfrm>
          <a:prstGeom prst="rect">
            <a:avLst/>
          </a:prstGeom>
          <a:noFill/>
        </p:spPr>
        <p:txBody>
          <a:bodyPr wrap="square">
            <a:spAutoFit/>
          </a:bodyPr>
          <a:lstStyle/>
          <a:p>
            <a:r>
              <a:rPr lang="en-IN" sz="2400" b="1" i="0" u="none" strike="noStrike" dirty="0">
                <a:solidFill>
                  <a:srgbClr val="000000"/>
                </a:solidFill>
                <a:effectLst/>
                <a:latin typeface="Times New Roman" panose="02020603050405020304" pitchFamily="18" charset="0"/>
                <a:cs typeface="Times New Roman" panose="02020603050405020304" pitchFamily="18" charset="0"/>
                <a:hlinkClick r:id="rId2"/>
              </a:rPr>
              <a:t>Keep the context small</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FC7B99C-8AD6-F779-DAB4-88CBE4A9B4B0}"/>
              </a:ext>
            </a:extLst>
          </p:cNvPr>
          <p:cNvSpPr txBox="1"/>
          <p:nvPr/>
        </p:nvSpPr>
        <p:spPr>
          <a:xfrm>
            <a:off x="612140" y="1144955"/>
            <a:ext cx="11193780" cy="1723549"/>
          </a:xfrm>
          <a:prstGeom prst="rect">
            <a:avLst/>
          </a:prstGeom>
          <a:noFill/>
        </p:spPr>
        <p:txBody>
          <a:bodyPr wrap="square">
            <a:spAutoFit/>
          </a:bodyPr>
          <a:lstStyle/>
          <a:p>
            <a:pPr marL="342900" indent="-342900" algn="just">
              <a:spcBef>
                <a:spcPts val="600"/>
              </a:spcBef>
              <a:spcAft>
                <a:spcPts val="600"/>
              </a:spcAf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The easiest way to make sure your context doesn't include unnecessary files is to create a </a:t>
            </a:r>
            <a:r>
              <a:rPr lang="en-US" sz="2400" b="1" i="0" dirty="0">
                <a:effectLst/>
                <a:latin typeface="Times New Roman" panose="02020603050405020304" pitchFamily="18" charset="0"/>
                <a:cs typeface="Times New Roman" panose="02020603050405020304" pitchFamily="18" charset="0"/>
              </a:rPr>
              <a:t>.</a:t>
            </a:r>
            <a:r>
              <a:rPr lang="en-US" sz="2400" b="1" i="0" dirty="0" err="1">
                <a:effectLst/>
                <a:latin typeface="Times New Roman" panose="02020603050405020304" pitchFamily="18" charset="0"/>
                <a:cs typeface="Times New Roman" panose="02020603050405020304" pitchFamily="18" charset="0"/>
              </a:rPr>
              <a:t>dockerignore</a:t>
            </a:r>
            <a:r>
              <a:rPr lang="en-US" sz="2400" b="0" i="0" dirty="0">
                <a:effectLst/>
                <a:latin typeface="Times New Roman" panose="02020603050405020304" pitchFamily="18" charset="0"/>
                <a:cs typeface="Times New Roman" panose="02020603050405020304" pitchFamily="18" charset="0"/>
              </a:rPr>
              <a:t>.</a:t>
            </a:r>
          </a:p>
          <a:p>
            <a:pPr marL="342900" indent="-342900" algn="just">
              <a:spcBef>
                <a:spcPts val="600"/>
              </a:spcBef>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Here's an example .</a:t>
            </a:r>
            <a:r>
              <a:rPr lang="en-US" sz="2400" dirty="0" err="1">
                <a:latin typeface="Times New Roman" panose="02020603050405020304" pitchFamily="18" charset="0"/>
                <a:cs typeface="Times New Roman" panose="02020603050405020304" pitchFamily="18" charset="0"/>
              </a:rPr>
              <a:t>dockerignore</a:t>
            </a:r>
            <a:r>
              <a:rPr lang="en-US" sz="2400" dirty="0">
                <a:latin typeface="Times New Roman" panose="02020603050405020304" pitchFamily="18" charset="0"/>
                <a:cs typeface="Times New Roman" panose="02020603050405020304" pitchFamily="18" charset="0"/>
              </a:rPr>
              <a:t> file that excludes the </a:t>
            </a:r>
            <a:r>
              <a:rPr lang="en-US" sz="2400" dirty="0" err="1">
                <a:latin typeface="Times New Roman" panose="02020603050405020304" pitchFamily="18" charset="0"/>
                <a:cs typeface="Times New Roman" panose="02020603050405020304" pitchFamily="18" charset="0"/>
              </a:rPr>
              <a:t>node_modules</a:t>
            </a:r>
            <a:r>
              <a:rPr lang="en-US" sz="2400" dirty="0">
                <a:latin typeface="Times New Roman" panose="02020603050405020304" pitchFamily="18" charset="0"/>
                <a:cs typeface="Times New Roman" panose="02020603050405020304" pitchFamily="18" charset="0"/>
              </a:rPr>
              <a:t> directory, all files and directories that start with </a:t>
            </a:r>
            <a:r>
              <a:rPr lang="en-US" sz="2400" dirty="0" err="1">
                <a:latin typeface="Times New Roman" panose="02020603050405020304" pitchFamily="18" charset="0"/>
                <a:cs typeface="Times New Roman" panose="02020603050405020304" pitchFamily="18" charset="0"/>
              </a:rPr>
              <a:t>tmp</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6FCFCB2-3876-3CA9-FA66-1B447CB5B095}"/>
              </a:ext>
            </a:extLst>
          </p:cNvPr>
          <p:cNvPicPr>
            <a:picLocks noChangeAspect="1"/>
          </p:cNvPicPr>
          <p:nvPr/>
        </p:nvPicPr>
        <p:blipFill>
          <a:blip r:embed="rId3"/>
          <a:stretch>
            <a:fillRect/>
          </a:stretch>
        </p:blipFill>
        <p:spPr>
          <a:xfrm>
            <a:off x="4345774" y="3120291"/>
            <a:ext cx="3040545" cy="2108765"/>
          </a:xfrm>
          <a:prstGeom prst="rect">
            <a:avLst/>
          </a:prstGeom>
        </p:spPr>
      </p:pic>
    </p:spTree>
    <p:extLst>
      <p:ext uri="{BB962C8B-B14F-4D97-AF65-F5344CB8AC3E}">
        <p14:creationId xmlns:p14="http://schemas.microsoft.com/office/powerpoint/2010/main" val="2340810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8D301A-C3E7-7DD0-9FB9-81DB869F1300}"/>
              </a:ext>
            </a:extLst>
          </p:cNvPr>
          <p:cNvSpPr>
            <a:spLocks noGrp="1"/>
          </p:cNvSpPr>
          <p:nvPr>
            <p:ph type="sldNum" sz="quarter" idx="12"/>
          </p:nvPr>
        </p:nvSpPr>
        <p:spPr/>
        <p:txBody>
          <a:bodyPr/>
          <a:lstStyle/>
          <a:p>
            <a:fld id="{CBABCCC1-BF11-4F37-963E-1BCD5B23FD72}" type="slidenum">
              <a:rPr lang="en-IN" smtClean="0"/>
              <a:t>13</a:t>
            </a:fld>
            <a:endParaRPr lang="en-IN"/>
          </a:p>
        </p:txBody>
      </p:sp>
      <p:sp>
        <p:nvSpPr>
          <p:cNvPr id="6" name="TextBox 5">
            <a:extLst>
              <a:ext uri="{FF2B5EF4-FFF2-40B4-BE49-F238E27FC236}">
                <a16:creationId xmlns:a16="http://schemas.microsoft.com/office/drawing/2014/main" id="{3C2EC3ED-CDD5-0A41-154F-71FF91E8225D}"/>
              </a:ext>
            </a:extLst>
          </p:cNvPr>
          <p:cNvSpPr txBox="1"/>
          <p:nvPr/>
        </p:nvSpPr>
        <p:spPr>
          <a:xfrm>
            <a:off x="632460" y="748715"/>
            <a:ext cx="10411460" cy="1354217"/>
          </a:xfrm>
          <a:prstGeom prst="rect">
            <a:avLst/>
          </a:prstGeom>
          <a:noFill/>
        </p:spPr>
        <p:txBody>
          <a:bodyPr wrap="square">
            <a:spAutoFit/>
          </a:bodyPr>
          <a:lstStyle/>
          <a:p>
            <a:pPr>
              <a:spcBef>
                <a:spcPts val="600"/>
              </a:spcBef>
              <a:spcAft>
                <a:spcPts val="600"/>
              </a:spcAft>
            </a:pPr>
            <a:r>
              <a:rPr lang="en-US" sz="2400" b="1" i="0" dirty="0">
                <a:effectLst/>
                <a:latin typeface="Times New Roman" panose="02020603050405020304" pitchFamily="18" charset="0"/>
                <a:cs typeface="Times New Roman" panose="02020603050405020304" pitchFamily="18" charset="0"/>
              </a:rPr>
              <a:t>Cache mounts </a:t>
            </a:r>
            <a:r>
              <a:rPr lang="en-US" sz="2400" b="0" i="0" dirty="0">
                <a:effectLst/>
                <a:latin typeface="Times New Roman" panose="02020603050405020304" pitchFamily="18" charset="0"/>
                <a:cs typeface="Times New Roman" panose="02020603050405020304" pitchFamily="18" charset="0"/>
              </a:rPr>
              <a:t>are a way to specify a persistent cache location to be used during builds</a:t>
            </a:r>
            <a:r>
              <a:rPr lang="en-US" b="0" i="0" dirty="0">
                <a:effectLst/>
                <a:latin typeface="roboto flex"/>
              </a:rPr>
              <a:t>.</a:t>
            </a:r>
          </a:p>
          <a:p>
            <a:pPr>
              <a:spcBef>
                <a:spcPts val="600"/>
              </a:spcBef>
              <a:spcAft>
                <a:spcPts val="600"/>
              </a:spcAft>
            </a:pPr>
            <a:r>
              <a:rPr lang="en-US" sz="2400" dirty="0">
                <a:latin typeface="Times New Roman" panose="02020603050405020304" pitchFamily="18" charset="0"/>
                <a:cs typeface="Times New Roman" panose="02020603050405020304" pitchFamily="18" charset="0"/>
              </a:rPr>
              <a:t>This </a:t>
            </a:r>
            <a:r>
              <a:rPr lang="en-US" sz="2400" dirty="0" err="1">
                <a:latin typeface="Times New Roman" panose="02020603050405020304" pitchFamily="18" charset="0"/>
                <a:cs typeface="Times New Roman" panose="02020603050405020304" pitchFamily="18" charset="0"/>
              </a:rPr>
              <a:t>Dockerfile</a:t>
            </a:r>
            <a:r>
              <a:rPr lang="en-US" sz="2400" dirty="0">
                <a:latin typeface="Times New Roman" panose="02020603050405020304" pitchFamily="18" charset="0"/>
                <a:cs typeface="Times New Roman" panose="02020603050405020304" pitchFamily="18" charset="0"/>
              </a:rPr>
              <a:t> snippet is setting up a container for a Node.js application.</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235A3A2-6A99-5767-9FEE-B815146E6BE9}"/>
              </a:ext>
            </a:extLst>
          </p:cNvPr>
          <p:cNvPicPr>
            <a:picLocks noChangeAspect="1"/>
          </p:cNvPicPr>
          <p:nvPr/>
        </p:nvPicPr>
        <p:blipFill>
          <a:blip r:embed="rId2"/>
          <a:stretch>
            <a:fillRect/>
          </a:stretch>
        </p:blipFill>
        <p:spPr>
          <a:xfrm>
            <a:off x="861251" y="2430116"/>
            <a:ext cx="9962377" cy="1989484"/>
          </a:xfrm>
          <a:prstGeom prst="rect">
            <a:avLst/>
          </a:prstGeom>
        </p:spPr>
      </p:pic>
      <p:sp>
        <p:nvSpPr>
          <p:cNvPr id="10" name="TextBox 9">
            <a:extLst>
              <a:ext uri="{FF2B5EF4-FFF2-40B4-BE49-F238E27FC236}">
                <a16:creationId xmlns:a16="http://schemas.microsoft.com/office/drawing/2014/main" id="{53CD7DFA-DF31-94D5-E0E9-9BB1A4D27FE2}"/>
              </a:ext>
            </a:extLst>
          </p:cNvPr>
          <p:cNvSpPr txBox="1"/>
          <p:nvPr/>
        </p:nvSpPr>
        <p:spPr>
          <a:xfrm>
            <a:off x="400428" y="4717244"/>
            <a:ext cx="11263252"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--mount=type=</a:t>
            </a:r>
            <a:r>
              <a:rPr lang="en-US" sz="2400" b="1" dirty="0" err="1">
                <a:latin typeface="Times New Roman" panose="02020603050405020304" pitchFamily="18" charset="0"/>
                <a:cs typeface="Times New Roman" panose="02020603050405020304" pitchFamily="18" charset="0"/>
              </a:rPr>
              <a:t>cache,target</a:t>
            </a:r>
            <a:r>
              <a:rPr lang="en-US" sz="2400" b="1" dirty="0">
                <a:latin typeface="Times New Roman" panose="02020603050405020304" pitchFamily="18" charset="0"/>
                <a:cs typeface="Times New Roman" panose="02020603050405020304" pitchFamily="18" charset="0"/>
              </a:rPr>
              <a:t>=/root/.</a:t>
            </a:r>
            <a:r>
              <a:rPr lang="en-US" sz="2400" b="1" dirty="0" err="1">
                <a:latin typeface="Times New Roman" panose="02020603050405020304" pitchFamily="18" charset="0"/>
                <a:cs typeface="Times New Roman" panose="02020603050405020304" pitchFamily="18" charset="0"/>
              </a:rPr>
              <a:t>npm</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part is the key to speeding up future builds.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01243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3814B3-8650-FAE3-E84A-13E2AE22D0AD}"/>
              </a:ext>
            </a:extLst>
          </p:cNvPr>
          <p:cNvSpPr>
            <a:spLocks noGrp="1"/>
          </p:cNvSpPr>
          <p:nvPr>
            <p:ph type="sldNum" sz="quarter" idx="12"/>
          </p:nvPr>
        </p:nvSpPr>
        <p:spPr/>
        <p:txBody>
          <a:bodyPr/>
          <a:lstStyle/>
          <a:p>
            <a:fld id="{CBABCCC1-BF11-4F37-963E-1BCD5B23FD72}" type="slidenum">
              <a:rPr lang="en-IN" smtClean="0"/>
              <a:t>14</a:t>
            </a:fld>
            <a:endParaRPr lang="en-IN"/>
          </a:p>
        </p:txBody>
      </p:sp>
      <p:sp>
        <p:nvSpPr>
          <p:cNvPr id="4" name="TextBox 3">
            <a:extLst>
              <a:ext uri="{FF2B5EF4-FFF2-40B4-BE49-F238E27FC236}">
                <a16:creationId xmlns:a16="http://schemas.microsoft.com/office/drawing/2014/main" id="{6216C154-3FB2-E5A7-0A2F-C77555996D82}"/>
              </a:ext>
            </a:extLst>
          </p:cNvPr>
          <p:cNvSpPr txBox="1"/>
          <p:nvPr/>
        </p:nvSpPr>
        <p:spPr>
          <a:xfrm>
            <a:off x="560960" y="843677"/>
            <a:ext cx="11123040" cy="4770537"/>
          </a:xfrm>
          <a:prstGeom prst="rect">
            <a:avLst/>
          </a:prstGeom>
          <a:noFill/>
        </p:spPr>
        <p:txBody>
          <a:bodyPr wrap="square">
            <a:spAutoFit/>
          </a:bodyPr>
          <a:lstStyle/>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--mount=type=cache </a:t>
            </a:r>
            <a:r>
              <a:rPr lang="en-US" sz="2400" dirty="0">
                <a:latin typeface="Times New Roman" panose="02020603050405020304" pitchFamily="18" charset="0"/>
                <a:cs typeface="Times New Roman" panose="02020603050405020304" pitchFamily="18" charset="0"/>
              </a:rPr>
              <a:t>option is used to create a persistent cache of the </a:t>
            </a:r>
            <a:r>
              <a:rPr lang="en-US" sz="2400" dirty="0" err="1">
                <a:latin typeface="Times New Roman" panose="02020603050405020304" pitchFamily="18" charset="0"/>
                <a:cs typeface="Times New Roman" panose="02020603050405020304" pitchFamily="18" charset="0"/>
              </a:rPr>
              <a:t>npm</a:t>
            </a:r>
            <a:r>
              <a:rPr lang="en-US" sz="2400" dirty="0">
                <a:latin typeface="Times New Roman" panose="02020603050405020304" pitchFamily="18" charset="0"/>
                <a:cs typeface="Times New Roman" panose="02020603050405020304" pitchFamily="18" charset="0"/>
              </a:rPr>
              <a:t> package manager's dependencies. </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When you mount </a:t>
            </a:r>
            <a:r>
              <a:rPr lang="en-US" sz="2400" b="1" dirty="0">
                <a:latin typeface="Times New Roman" panose="02020603050405020304" pitchFamily="18" charset="0"/>
                <a:cs typeface="Times New Roman" panose="02020603050405020304" pitchFamily="18" charset="0"/>
              </a:rPr>
              <a:t>/root/.</a:t>
            </a:r>
            <a:r>
              <a:rPr lang="en-US" sz="2400" b="1" dirty="0" err="1">
                <a:latin typeface="Times New Roman" panose="02020603050405020304" pitchFamily="18" charset="0"/>
                <a:cs typeface="Times New Roman" panose="02020603050405020304" pitchFamily="18" charset="0"/>
              </a:rPr>
              <a:t>npm</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as a cache, Docker will store the downloaded dependencies in this location between builds.</a:t>
            </a:r>
          </a:p>
          <a:p>
            <a:pPr marL="285750" indent="-28575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Faster rebuilds</a:t>
            </a:r>
            <a:r>
              <a:rPr lang="en-US" sz="2400" dirty="0">
                <a:latin typeface="Times New Roman" panose="02020603050405020304" pitchFamily="18" charset="0"/>
                <a:cs typeface="Times New Roman" panose="02020603050405020304" pitchFamily="18" charset="0"/>
              </a:rPr>
              <a:t>: If the dependencies don't change, Docker can reuse the cached dependencies instead of downloading them again. This speeds up the build process significantly.</a:t>
            </a:r>
          </a:p>
          <a:p>
            <a:pPr marL="285750" indent="-285750" algn="just">
              <a:spcBef>
                <a:spcPts val="600"/>
              </a:spcBef>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Efficiency</a:t>
            </a:r>
            <a:r>
              <a:rPr lang="en-US" sz="2400" dirty="0">
                <a:latin typeface="Times New Roman" panose="02020603050405020304" pitchFamily="18" charset="0"/>
                <a:cs typeface="Times New Roman" panose="02020603050405020304" pitchFamily="18" charset="0"/>
              </a:rPr>
              <a:t>: Only new or updated packages are downloaded when rebuilding the image, saving time and bandwidth.</a:t>
            </a:r>
          </a:p>
          <a:p>
            <a:pPr algn="just">
              <a:spcBef>
                <a:spcPts val="600"/>
              </a:spcBef>
              <a:spcAft>
                <a:spcPts val="600"/>
              </a:spcAft>
            </a:pPr>
            <a:r>
              <a:rPr lang="en-US" sz="2400" dirty="0">
                <a:latin typeface="Times New Roman" panose="02020603050405020304" pitchFamily="18" charset="0"/>
                <a:cs typeface="Times New Roman" panose="02020603050405020304" pitchFamily="18" charset="0"/>
              </a:rPr>
              <a:t>In short, caching helps avoid unnecessary reinstallation of dependencies and speeds up the build process.</a:t>
            </a:r>
          </a:p>
        </p:txBody>
      </p:sp>
    </p:spTree>
    <p:extLst>
      <p:ext uri="{BB962C8B-B14F-4D97-AF65-F5344CB8AC3E}">
        <p14:creationId xmlns:p14="http://schemas.microsoft.com/office/powerpoint/2010/main" val="2337202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90D210-9192-7CAE-C61F-2490E88743C7}"/>
              </a:ext>
            </a:extLst>
          </p:cNvPr>
          <p:cNvSpPr>
            <a:spLocks noGrp="1"/>
          </p:cNvSpPr>
          <p:nvPr>
            <p:ph type="sldNum" sz="quarter" idx="12"/>
          </p:nvPr>
        </p:nvSpPr>
        <p:spPr/>
        <p:txBody>
          <a:bodyPr/>
          <a:lstStyle/>
          <a:p>
            <a:fld id="{CBABCCC1-BF11-4F37-963E-1BCD5B23FD72}" type="slidenum">
              <a:rPr lang="en-IN" smtClean="0"/>
              <a:t>15</a:t>
            </a:fld>
            <a:endParaRPr lang="en-IN"/>
          </a:p>
        </p:txBody>
      </p:sp>
      <p:sp>
        <p:nvSpPr>
          <p:cNvPr id="4" name="TextBox 3">
            <a:extLst>
              <a:ext uri="{FF2B5EF4-FFF2-40B4-BE49-F238E27FC236}">
                <a16:creationId xmlns:a16="http://schemas.microsoft.com/office/drawing/2014/main" id="{2BA121EE-2944-E418-2E52-71252A2AF98A}"/>
              </a:ext>
            </a:extLst>
          </p:cNvPr>
          <p:cNvSpPr txBox="1"/>
          <p:nvPr/>
        </p:nvSpPr>
        <p:spPr>
          <a:xfrm>
            <a:off x="4300220" y="430014"/>
            <a:ext cx="6101080" cy="461665"/>
          </a:xfrm>
          <a:prstGeom prst="rect">
            <a:avLst/>
          </a:prstGeom>
          <a:noFill/>
        </p:spPr>
        <p:txBody>
          <a:bodyPr wrap="square">
            <a:spAutoFit/>
          </a:bodyPr>
          <a:lstStyle/>
          <a:p>
            <a:r>
              <a:rPr lang="en-IN" sz="2400" b="1" i="0" u="sng" dirty="0">
                <a:solidFill>
                  <a:srgbClr val="000000"/>
                </a:solidFill>
                <a:effectLst/>
                <a:latin typeface="Times New Roman" panose="02020603050405020304" pitchFamily="18" charset="0"/>
                <a:cs typeface="Times New Roman" panose="02020603050405020304" pitchFamily="18" charset="0"/>
                <a:hlinkClick r:id="rId2"/>
              </a:rPr>
              <a:t>Use an external cache</a:t>
            </a:r>
            <a:endParaRPr lang="en-IN" sz="24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69DAC2A-9639-C349-254A-FA76AE9D9254}"/>
              </a:ext>
            </a:extLst>
          </p:cNvPr>
          <p:cNvSpPr txBox="1"/>
          <p:nvPr/>
        </p:nvSpPr>
        <p:spPr>
          <a:xfrm>
            <a:off x="541020" y="1108055"/>
            <a:ext cx="11153140" cy="4416594"/>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External caches are helpful in CI/CD pipelines because the build environments are temporary, and build time is valuable. Reusing the cache between builds speeds up the process and cuts costs.</a:t>
            </a:r>
          </a:p>
          <a:p>
            <a:pPr marL="285750" indent="-28575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use an external cache, you specify the </a:t>
            </a:r>
            <a:r>
              <a:rPr lang="en-US" sz="2400" b="1" dirty="0">
                <a:latin typeface="Times New Roman" panose="02020603050405020304" pitchFamily="18" charset="0"/>
                <a:cs typeface="Times New Roman" panose="02020603050405020304" pitchFamily="18" charset="0"/>
              </a:rPr>
              <a:t>--cache-to</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--cache-from</a:t>
            </a:r>
            <a:r>
              <a:rPr lang="en-US" sz="2400" dirty="0">
                <a:latin typeface="Times New Roman" panose="02020603050405020304" pitchFamily="18" charset="0"/>
                <a:cs typeface="Times New Roman" panose="02020603050405020304" pitchFamily="18" charset="0"/>
              </a:rPr>
              <a:t> options with the </a:t>
            </a:r>
            <a:r>
              <a:rPr lang="en-US" sz="2400" b="1" dirty="0">
                <a:latin typeface="Times New Roman" panose="02020603050405020304" pitchFamily="18" charset="0"/>
                <a:cs typeface="Times New Roman" panose="02020603050405020304" pitchFamily="18" charset="0"/>
              </a:rPr>
              <a:t>docker </a:t>
            </a:r>
            <a:r>
              <a:rPr lang="en-US" sz="2400" b="1" dirty="0" err="1">
                <a:latin typeface="Times New Roman" panose="02020603050405020304" pitchFamily="18" charset="0"/>
                <a:cs typeface="Times New Roman" panose="02020603050405020304" pitchFamily="18" charset="0"/>
              </a:rPr>
              <a:t>buildx</a:t>
            </a:r>
            <a:r>
              <a:rPr lang="en-US" sz="2400" b="1" dirty="0">
                <a:latin typeface="Times New Roman" panose="02020603050405020304" pitchFamily="18" charset="0"/>
                <a:cs typeface="Times New Roman" panose="02020603050405020304" pitchFamily="18" charset="0"/>
              </a:rPr>
              <a:t> build</a:t>
            </a:r>
            <a:r>
              <a:rPr lang="en-US" sz="2400" dirty="0">
                <a:latin typeface="Times New Roman" panose="02020603050405020304" pitchFamily="18" charset="0"/>
                <a:cs typeface="Times New Roman" panose="02020603050405020304" pitchFamily="18" charset="0"/>
              </a:rPr>
              <a:t> command.</a:t>
            </a:r>
          </a:p>
          <a:p>
            <a:pPr marL="1200150" lvl="2"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--cache-to</a:t>
            </a:r>
            <a:r>
              <a:rPr lang="en-US" sz="2400" dirty="0">
                <a:latin typeface="Times New Roman" panose="02020603050405020304" pitchFamily="18" charset="0"/>
                <a:cs typeface="Times New Roman" panose="02020603050405020304" pitchFamily="18" charset="0"/>
              </a:rPr>
              <a:t> exports the build cache to the specified location.</a:t>
            </a:r>
          </a:p>
          <a:p>
            <a:pPr marL="1200150" lvl="2" indent="-28575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--cache-from</a:t>
            </a:r>
            <a:r>
              <a:rPr lang="en-US" sz="2400" dirty="0">
                <a:latin typeface="Times New Roman" panose="02020603050405020304" pitchFamily="18" charset="0"/>
                <a:cs typeface="Times New Roman" panose="02020603050405020304" pitchFamily="18" charset="0"/>
              </a:rPr>
              <a:t> specifies remote caches for the build to use.</a:t>
            </a:r>
          </a:p>
          <a:p>
            <a:pPr marL="342900" indent="-342900" algn="just">
              <a:spcBef>
                <a:spcPts val="600"/>
              </a:spcBef>
              <a:spcAft>
                <a:spcPts val="12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9333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1160B7-D584-5F6C-F046-107BBD036F25}"/>
              </a:ext>
            </a:extLst>
          </p:cNvPr>
          <p:cNvSpPr>
            <a:spLocks noGrp="1"/>
          </p:cNvSpPr>
          <p:nvPr>
            <p:ph type="sldNum" sz="quarter" idx="12"/>
          </p:nvPr>
        </p:nvSpPr>
        <p:spPr/>
        <p:txBody>
          <a:bodyPr/>
          <a:lstStyle/>
          <a:p>
            <a:fld id="{CBABCCC1-BF11-4F37-963E-1BCD5B23FD72}" type="slidenum">
              <a:rPr lang="en-IN" smtClean="0"/>
              <a:t>16</a:t>
            </a:fld>
            <a:endParaRPr lang="en-IN"/>
          </a:p>
        </p:txBody>
      </p:sp>
      <p:sp>
        <p:nvSpPr>
          <p:cNvPr id="4" name="TextBox 3">
            <a:extLst>
              <a:ext uri="{FF2B5EF4-FFF2-40B4-BE49-F238E27FC236}">
                <a16:creationId xmlns:a16="http://schemas.microsoft.com/office/drawing/2014/main" id="{E74B6B02-ACCA-A1B5-FE6F-F2627FBB6C43}"/>
              </a:ext>
            </a:extLst>
          </p:cNvPr>
          <p:cNvSpPr txBox="1"/>
          <p:nvPr/>
        </p:nvSpPr>
        <p:spPr>
          <a:xfrm>
            <a:off x="1587500" y="84239"/>
            <a:ext cx="10828020" cy="461665"/>
          </a:xfrm>
          <a:prstGeom prst="rect">
            <a:avLst/>
          </a:prstGeom>
          <a:noFill/>
        </p:spPr>
        <p:txBody>
          <a:bodyPr wrap="square">
            <a:spAutoFit/>
          </a:bodyPr>
          <a:lstStyle/>
          <a:p>
            <a:r>
              <a:rPr lang="en-US" sz="2400" b="1" i="0" dirty="0">
                <a:effectLst/>
                <a:latin typeface="Times New Roman" panose="02020603050405020304" pitchFamily="18" charset="0"/>
                <a:cs typeface="Times New Roman" panose="02020603050405020304" pitchFamily="18" charset="0"/>
              </a:rPr>
              <a:t>The following example shows how to set up a GitHub Actions workflow </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C1A5F5B-8389-62DF-CEDE-38C444EC961E}"/>
              </a:ext>
            </a:extLst>
          </p:cNvPr>
          <p:cNvPicPr>
            <a:picLocks noChangeAspect="1"/>
          </p:cNvPicPr>
          <p:nvPr/>
        </p:nvPicPr>
        <p:blipFill>
          <a:blip r:embed="rId2"/>
          <a:stretch>
            <a:fillRect/>
          </a:stretch>
        </p:blipFill>
        <p:spPr>
          <a:xfrm>
            <a:off x="1794377" y="655124"/>
            <a:ext cx="8893943" cy="6202876"/>
          </a:xfrm>
          <a:prstGeom prst="rect">
            <a:avLst/>
          </a:prstGeom>
        </p:spPr>
      </p:pic>
    </p:spTree>
    <p:extLst>
      <p:ext uri="{BB962C8B-B14F-4D97-AF65-F5344CB8AC3E}">
        <p14:creationId xmlns:p14="http://schemas.microsoft.com/office/powerpoint/2010/main" val="2937668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699CE9B-85EC-011E-9E3D-C39C75EEA544}"/>
              </a:ext>
            </a:extLst>
          </p:cNvPr>
          <p:cNvSpPr>
            <a:spLocks noGrp="1"/>
          </p:cNvSpPr>
          <p:nvPr>
            <p:ph type="sldNum" sz="quarter" idx="12"/>
          </p:nvPr>
        </p:nvSpPr>
        <p:spPr/>
        <p:txBody>
          <a:bodyPr/>
          <a:lstStyle/>
          <a:p>
            <a:fld id="{CBABCCC1-BF11-4F37-963E-1BCD5B23FD72}" type="slidenum">
              <a:rPr lang="en-IN" smtClean="0"/>
              <a:t>17</a:t>
            </a:fld>
            <a:endParaRPr lang="en-IN"/>
          </a:p>
        </p:txBody>
      </p:sp>
      <p:pic>
        <p:nvPicPr>
          <p:cNvPr id="4" name="Picture 3">
            <a:extLst>
              <a:ext uri="{FF2B5EF4-FFF2-40B4-BE49-F238E27FC236}">
                <a16:creationId xmlns:a16="http://schemas.microsoft.com/office/drawing/2014/main" id="{CB3AD410-BF35-BDD8-18DE-A02A9E7A9681}"/>
              </a:ext>
            </a:extLst>
          </p:cNvPr>
          <p:cNvPicPr>
            <a:picLocks noChangeAspect="1"/>
          </p:cNvPicPr>
          <p:nvPr/>
        </p:nvPicPr>
        <p:blipFill>
          <a:blip r:embed="rId2"/>
          <a:stretch>
            <a:fillRect/>
          </a:stretch>
        </p:blipFill>
        <p:spPr>
          <a:xfrm>
            <a:off x="1586044" y="380744"/>
            <a:ext cx="9564330" cy="4851656"/>
          </a:xfrm>
          <a:prstGeom prst="rect">
            <a:avLst/>
          </a:prstGeom>
        </p:spPr>
      </p:pic>
      <p:sp>
        <p:nvSpPr>
          <p:cNvPr id="6" name="TextBox 5">
            <a:extLst>
              <a:ext uri="{FF2B5EF4-FFF2-40B4-BE49-F238E27FC236}">
                <a16:creationId xmlns:a16="http://schemas.microsoft.com/office/drawing/2014/main" id="{8599909D-2F97-9EB2-7FE7-4F43A1387C64}"/>
              </a:ext>
            </a:extLst>
          </p:cNvPr>
          <p:cNvSpPr txBox="1"/>
          <p:nvPr/>
        </p:nvSpPr>
        <p:spPr>
          <a:xfrm>
            <a:off x="520700" y="5521236"/>
            <a:ext cx="11183620" cy="646331"/>
          </a:xfrm>
          <a:prstGeom prst="rect">
            <a:avLst/>
          </a:prstGeom>
          <a:noFill/>
        </p:spPr>
        <p:txBody>
          <a:bodyPr wrap="square">
            <a:spAutoFit/>
          </a:bodyPr>
          <a:lstStyle/>
          <a:p>
            <a:r>
              <a:rPr lang="en-US" b="0" i="0" dirty="0">
                <a:effectLst/>
                <a:latin typeface="Times New Roman" panose="02020603050405020304" pitchFamily="18" charset="0"/>
                <a:cs typeface="Times New Roman" panose="02020603050405020304" pitchFamily="18" charset="0"/>
              </a:rPr>
              <a:t>This setup tells </a:t>
            </a:r>
            <a:r>
              <a:rPr lang="en-US" b="0" i="0" dirty="0" err="1">
                <a:effectLst/>
                <a:latin typeface="Times New Roman" panose="02020603050405020304" pitchFamily="18" charset="0"/>
                <a:cs typeface="Times New Roman" panose="02020603050405020304" pitchFamily="18" charset="0"/>
              </a:rPr>
              <a:t>BuildKit</a:t>
            </a:r>
            <a:r>
              <a:rPr lang="en-US" b="0" i="0" dirty="0">
                <a:effectLst/>
                <a:latin typeface="Times New Roman" panose="02020603050405020304" pitchFamily="18" charset="0"/>
                <a:cs typeface="Times New Roman" panose="02020603050405020304" pitchFamily="18" charset="0"/>
              </a:rPr>
              <a:t> to look for cache in the user/</a:t>
            </a:r>
            <a:r>
              <a:rPr lang="en-US" b="0" i="0" dirty="0" err="1">
                <a:effectLst/>
                <a:latin typeface="Times New Roman" panose="02020603050405020304" pitchFamily="18" charset="0"/>
                <a:cs typeface="Times New Roman" panose="02020603050405020304" pitchFamily="18" charset="0"/>
              </a:rPr>
              <a:t>app:buildcache</a:t>
            </a:r>
            <a:r>
              <a:rPr lang="en-US" b="0" i="0" dirty="0">
                <a:effectLst/>
                <a:latin typeface="Times New Roman" panose="02020603050405020304" pitchFamily="18" charset="0"/>
                <a:cs typeface="Times New Roman" panose="02020603050405020304" pitchFamily="18" charset="0"/>
              </a:rPr>
              <a:t> image. And when the build is done, the new build cache is pushed to the same image, overwriting the old cache.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7916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524146" y="1595121"/>
            <a:ext cx="7920111" cy="3158754"/>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Team –</a:t>
            </a:r>
            <a:r>
              <a:rPr lang="en-US" sz="2800" b="1" dirty="0">
                <a:solidFill>
                  <a:schemeClr val="bg1"/>
                </a:solidFill>
                <a:latin typeface="Times New Roman" panose="02020603050405020304" pitchFamily="18" charset="0"/>
                <a:cs typeface="Times New Roman" panose="02020603050405020304" pitchFamily="18" charset="0"/>
              </a:rPr>
              <a:t>Foundations Of Cloud-native Computing &amp; </a:t>
            </a:r>
            <a:r>
              <a:rPr lang="en-US" sz="2800" b="1" dirty="0" err="1">
                <a:solidFill>
                  <a:schemeClr val="bg1"/>
                </a:solidFill>
                <a:latin typeface="Times New Roman" panose="02020603050405020304" pitchFamily="18" charset="0"/>
                <a:cs typeface="Times New Roman" panose="02020603050405020304" pitchFamily="18" charset="0"/>
              </a:rPr>
              <a:t>Devops</a:t>
            </a:r>
            <a:r>
              <a:rPr lang="en-US" sz="2800" dirty="0">
                <a:solidFill>
                  <a:schemeClr val="bg1"/>
                </a:solidFill>
              </a:rPr>
              <a:t>	</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392614" y="2235201"/>
            <a:ext cx="3235570" cy="1083212"/>
          </a:xfrm>
          <a:prstGeom prst="rect">
            <a:avLst/>
          </a:prstGeom>
          <a:noFill/>
        </p:spPr>
      </p:pic>
    </p:spTree>
    <p:extLst>
      <p:ext uri="{BB962C8B-B14F-4D97-AF65-F5344CB8AC3E}">
        <p14:creationId xmlns:p14="http://schemas.microsoft.com/office/powerpoint/2010/main" val="35913842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Session-2</Template>
  <TotalTime>1002</TotalTime>
  <Words>1058</Words>
  <Application>Microsoft Office PowerPoint</Application>
  <PresentationFormat>Widescreen</PresentationFormat>
  <Paragraphs>87</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Gill Sans MT</vt:lpstr>
      <vt:lpstr>Inter</vt:lpstr>
      <vt:lpstr>Poppins</vt:lpstr>
      <vt:lpstr>roboto flex</vt:lpstr>
      <vt:lpstr>Times New Roman</vt:lpstr>
      <vt:lpstr>Gallery</vt:lpstr>
      <vt:lpstr>Department of CSIT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Abhishek Guru</dc:creator>
  <cp:lastModifiedBy>Lavanya Susanna</cp:lastModifiedBy>
  <cp:revision>133</cp:revision>
  <dcterms:created xsi:type="dcterms:W3CDTF">2023-05-02T16:26:00Z</dcterms:created>
  <dcterms:modified xsi:type="dcterms:W3CDTF">2026-02-24T04:35:13Z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9D92E8B3CCDD4F159E81FC5DAC5EB7AA_13</vt:lpwstr>
  </property>
  <property fmtid="{D5CDD505-2E9C-101B-9397-08002B2CF9AE}" pid="3" name="KSOProductBuildVer">
    <vt:lpwstr>1033-12.2.0.17119</vt:lpwstr>
  </property>
</Properties>
</file>