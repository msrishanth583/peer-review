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2"/>
  </p:notesMasterIdLst>
  <p:handoutMasterIdLst>
    <p:handoutMasterId r:id="rId23"/>
  </p:handoutMasterIdLst>
  <p:sldIdLst>
    <p:sldId id="268" r:id="rId2"/>
    <p:sldId id="278" r:id="rId3"/>
    <p:sldId id="279" r:id="rId4"/>
    <p:sldId id="280" r:id="rId5"/>
    <p:sldId id="281" r:id="rId6"/>
    <p:sldId id="282" r:id="rId7"/>
    <p:sldId id="283" r:id="rId8"/>
    <p:sldId id="284" r:id="rId9"/>
    <p:sldId id="285" r:id="rId10"/>
    <p:sldId id="286" r:id="rId11"/>
    <p:sldId id="287" r:id="rId12"/>
    <p:sldId id="275" r:id="rId13"/>
    <p:sldId id="276" r:id="rId14"/>
    <p:sldId id="290" r:id="rId15"/>
    <p:sldId id="273" r:id="rId16"/>
    <p:sldId id="274" r:id="rId17"/>
    <p:sldId id="288" r:id="rId18"/>
    <p:sldId id="277" r:id="rId19"/>
    <p:sldId id="289" r:id="rId20"/>
    <p:sldId id="27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17-02-2026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36457958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75263589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docs.github.com/en/actions"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464;p16"/>
          <p:cNvPicPr preferRelativeResize="0"/>
          <p:nvPr/>
        </p:nvPicPr>
        <p:blipFill>
          <a:blip r:embed="rId2">
            <a:extLst>
              <a:ext uri="{28A0092B-C50C-407E-A947-70E740481C1C}">
                <a14:useLocalDpi xmlns:a14="http://schemas.microsoft.com/office/drawing/2010/main" val="0"/>
              </a:ext>
            </a:extLst>
          </a:blip>
          <a:stretch>
            <a:fillRect/>
          </a:stretch>
        </p:blipFill>
        <p:spPr>
          <a:xfrm>
            <a:off x="83128" y="356260"/>
            <a:ext cx="5545776" cy="5684061"/>
          </a:xfrm>
          <a:prstGeom prst="rect">
            <a:avLst/>
          </a:prstGeom>
          <a:noFill/>
          <a:ln>
            <a:noFill/>
          </a:ln>
        </p:spPr>
      </p:pic>
      <p:sp>
        <p:nvSpPr>
          <p:cNvPr id="5" name="Google Shape;475;p16"/>
          <p:cNvSpPr txBox="1">
            <a:spLocks noGrp="1"/>
          </p:cNvSpPr>
          <p:nvPr>
            <p:ph type="ctrTitle"/>
          </p:nvPr>
        </p:nvSpPr>
        <p:spPr>
          <a:xfrm>
            <a:off x="4039419" y="557484"/>
            <a:ext cx="8637073" cy="480091"/>
          </a:xfrm>
          <a:prstGeom prst="rect">
            <a:avLst/>
          </a:prstGeom>
          <a:noFill/>
          <a:ln>
            <a:noFill/>
          </a:ln>
          <a:effectLst/>
        </p:spPr>
        <p:txBody>
          <a:bodyPr spcFirstLastPara="1" wrap="square" lIns="91425" tIns="45700" rIns="91425" bIns="45700" anchor="t" anchorCtr="0">
            <a:spAutoFit/>
          </a:bodyPr>
          <a:lstStyle/>
          <a:p>
            <a:pPr algn="ctr"/>
            <a:r>
              <a:rPr lang="en-US" sz="2800" b="1" dirty="0">
                <a:solidFill>
                  <a:srgbClr val="C00000"/>
                </a:solidFill>
                <a:latin typeface="Times New Roman" panose="02020603050405020304" pitchFamily="18" charset="0"/>
                <a:cs typeface="Times New Roman" panose="02020603050405020304" pitchFamily="18" charset="0"/>
              </a:rPr>
              <a:t>Department of CSIT</a:t>
            </a:r>
          </a:p>
        </p:txBody>
      </p:sp>
      <p:sp>
        <p:nvSpPr>
          <p:cNvPr id="6" name="Google Shape;476;p16"/>
          <p:cNvSpPr txBox="1"/>
          <p:nvPr/>
        </p:nvSpPr>
        <p:spPr>
          <a:xfrm>
            <a:off x="4819387" y="1203208"/>
            <a:ext cx="7077136" cy="5447605"/>
          </a:xfrm>
          <a:prstGeom prst="rect">
            <a:avLst/>
          </a:prstGeom>
          <a:noFill/>
          <a:ln>
            <a:noFill/>
          </a:ln>
        </p:spPr>
        <p:txBody>
          <a:bodyPr spcFirstLastPara="1" wrap="square" lIns="91425" tIns="45700" rIns="91425" bIns="45700" anchor="t" anchorCtr="0">
            <a:spAutoFit/>
          </a:bodyPr>
          <a:lstStyle/>
          <a:p>
            <a:pPr algn="ctr"/>
            <a:r>
              <a:rPr lang="en-US" sz="2400" b="1" cap="all" dirty="0">
                <a:ln/>
                <a:latin typeface="Times New Roman" panose="02020603050405020304" pitchFamily="18" charset="0"/>
                <a:cs typeface="Times New Roman" panose="02020603050405020304" pitchFamily="18" charset="0"/>
                <a:sym typeface="BioRhyme ExtraBold"/>
              </a:rPr>
              <a:t>COURSE NAME </a:t>
            </a:r>
            <a:endParaRPr lang="en-IN" dirty="0"/>
          </a:p>
          <a:p>
            <a:pPr algn="ctr"/>
            <a:r>
              <a:rPr lang="en-US" dirty="0"/>
              <a:t> </a:t>
            </a:r>
            <a:r>
              <a:rPr lang="en-US" sz="2400" b="1" dirty="0">
                <a:solidFill>
                  <a:srgbClr val="C00000"/>
                </a:solidFill>
                <a:latin typeface="Times New Roman" panose="02020603050405020304" pitchFamily="18" charset="0"/>
                <a:cs typeface="Times New Roman" panose="02020603050405020304" pitchFamily="18" charset="0"/>
              </a:rPr>
              <a:t>FOUNDATIONS OF CLOUD-NATIVE COMPUTING &amp; DEVOPS</a:t>
            </a:r>
            <a:r>
              <a:rPr lang="en-US" dirty="0"/>
              <a:t>	</a:t>
            </a:r>
          </a:p>
          <a:p>
            <a:pPr marR="0" lvl="0" indent="0" algn="ctr">
              <a:lnSpc>
                <a:spcPct val="150000"/>
              </a:lnSpc>
              <a:spcBef>
                <a:spcPts val="0"/>
              </a:spcBef>
              <a:spcAft>
                <a:spcPts val="0"/>
              </a:spcAft>
              <a:buNone/>
            </a:pPr>
            <a:endParaRPr lang="en-US" sz="2400" b="1" cap="all" dirty="0">
              <a:ln/>
              <a:latin typeface="Times New Roman" panose="02020603050405020304" pitchFamily="18" charset="0"/>
              <a:cs typeface="Times New Roman" panose="02020603050405020304" pitchFamily="18" charset="0"/>
              <a:sym typeface="BioRhyme ExtraBold"/>
            </a:endParaRPr>
          </a:p>
          <a:p>
            <a:pPr algn="ctr"/>
            <a:r>
              <a:rPr lang="en-US" sz="2400" b="1" cap="all" dirty="0">
                <a:ln/>
                <a:latin typeface="Times New Roman" panose="02020603050405020304" pitchFamily="18" charset="0"/>
                <a:cs typeface="Times New Roman" panose="02020603050405020304" pitchFamily="18" charset="0"/>
                <a:sym typeface="BioRhyme ExtraBold"/>
              </a:rPr>
              <a:t>COURSE CODE </a:t>
            </a:r>
            <a:r>
              <a:rPr lang="en-US" sz="2400" b="1" cap="all" dirty="0">
                <a:ln/>
                <a:solidFill>
                  <a:srgbClr val="C00000"/>
                </a:solidFill>
                <a:latin typeface="Times New Roman" panose="02020603050405020304" pitchFamily="18" charset="0"/>
                <a:cs typeface="Times New Roman" panose="02020603050405020304" pitchFamily="18" charset="0"/>
                <a:sym typeface="BioRhyme ExtraBold"/>
              </a:rPr>
              <a:t>–</a:t>
            </a:r>
            <a:r>
              <a:rPr lang="en-IN" sz="2400" b="1" dirty="0">
                <a:solidFill>
                  <a:srgbClr val="C00000"/>
                </a:solidFill>
                <a:latin typeface="Times New Roman" panose="02020603050405020304" pitchFamily="18" charset="0"/>
                <a:cs typeface="Times New Roman" panose="02020603050405020304" pitchFamily="18" charset="0"/>
              </a:rPr>
              <a:t>24CS2260F</a:t>
            </a:r>
            <a:r>
              <a:rPr lang="en-IN" dirty="0"/>
              <a:t>	</a:t>
            </a:r>
          </a:p>
          <a:p>
            <a:pPr marR="0" lvl="0" indent="0" algn="ctr">
              <a:lnSpc>
                <a:spcPct val="150000"/>
              </a:lnSpc>
              <a:spcBef>
                <a:spcPts val="0"/>
              </a:spcBef>
              <a:spcAft>
                <a:spcPts val="0"/>
              </a:spcAft>
              <a:buNone/>
            </a:pPr>
            <a:endParaRPr lang="en-IN" sz="24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indent="0" algn="ctr">
              <a:lnSpc>
                <a:spcPct val="150000"/>
              </a:lnSpc>
              <a:spcBef>
                <a:spcPts val="0"/>
              </a:spcBef>
              <a:spcAft>
                <a:spcPts val="0"/>
              </a:spcAft>
              <a:buNone/>
            </a:pPr>
            <a:r>
              <a:rPr lang="en-US" sz="24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endParaRPr lang="en-IN" dirty="0"/>
          </a:p>
          <a:p>
            <a:pPr algn="ctr"/>
            <a:r>
              <a:rPr lang="en-IN" sz="3600" b="1" dirty="0">
                <a:solidFill>
                  <a:srgbClr val="C00000"/>
                </a:solidFill>
                <a:latin typeface="Times New Roman" panose="02020603050405020304" pitchFamily="18" charset="0"/>
                <a:cs typeface="Times New Roman" panose="02020603050405020304" pitchFamily="18" charset="0"/>
              </a:rPr>
              <a:t> </a:t>
            </a:r>
            <a:r>
              <a:rPr lang="en-US" sz="3600" b="1" dirty="0">
                <a:solidFill>
                  <a:srgbClr val="C00000"/>
                </a:solidFill>
                <a:latin typeface="Times New Roman" panose="02020603050405020304" pitchFamily="18" charset="0"/>
                <a:cs typeface="Times New Roman" panose="02020603050405020304" pitchFamily="18" charset="0"/>
              </a:rPr>
              <a:t>CI/CD Pipelines with GitHub Actions</a:t>
            </a:r>
            <a:r>
              <a:rPr lang="en-US" dirty="0"/>
              <a:t>	</a:t>
            </a:r>
          </a:p>
          <a:p>
            <a:pPr algn="ctr"/>
            <a:r>
              <a:rPr lang="en-IN" dirty="0"/>
              <a:t>	</a:t>
            </a:r>
            <a:endParaRPr lang="en-IN" sz="3200" b="1" dirty="0">
              <a:solidFill>
                <a:srgbClr val="C00000"/>
              </a:solidFill>
              <a:latin typeface="Times New Roman" panose="02020603050405020304" pitchFamily="18" charset="0"/>
              <a:cs typeface="Times New Roman" panose="02020603050405020304" pitchFamily="18" charset="0"/>
            </a:endParaRPr>
          </a:p>
          <a:p>
            <a:pPr algn="ctr">
              <a:lnSpc>
                <a:spcPct val="150000"/>
              </a:lnSpc>
            </a:pPr>
            <a:endParaRPr lang="en-IN" sz="2400" b="1" dirty="0">
              <a:latin typeface="Times New Roman" panose="02020603050405020304" pitchFamily="18" charset="0"/>
              <a:cs typeface="Times New Roman" panose="02020603050405020304" pitchFamily="18" charset="0"/>
            </a:endParaRPr>
          </a:p>
        </p:txBody>
      </p:sp>
      <p:sp>
        <p:nvSpPr>
          <p:cNvPr id="7" name="Google Shape;502;p17">
            <a:extLst>
              <a:ext uri="{FF2B5EF4-FFF2-40B4-BE49-F238E27FC236}">
                <a16:creationId xmlns:a16="http://schemas.microsoft.com/office/drawing/2014/main" id="{7153E61F-4441-DBE3-3DFF-6E9EF6C48D23}"/>
              </a:ext>
            </a:extLst>
          </p:cNvPr>
          <p:cNvSpPr>
            <a:spLocks noGrp="1"/>
          </p:cNvSpPr>
          <p:nvPr>
            <p:ph type="subTitle" idx="1"/>
          </p:nvPr>
        </p:nvSpPr>
        <p:spPr>
          <a:xfrm>
            <a:off x="7546108" y="3791480"/>
            <a:ext cx="2161309" cy="544625"/>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dirty="0">
                <a:solidFill>
                  <a:schemeClr val="lt1"/>
                </a:solidFill>
                <a:latin typeface="Times New Roman" panose="02020603050405020304" pitchFamily="18" charset="0"/>
                <a:ea typeface="Calibri"/>
                <a:cs typeface="Times New Roman" panose="02020603050405020304" pitchFamily="18" charset="0"/>
                <a:sym typeface="Calibri"/>
              </a:rPr>
              <a:t>Session - </a:t>
            </a:r>
            <a:endParaRPr sz="2400" b="1" dirty="0">
              <a:solidFill>
                <a:schemeClr val="lt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3920513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3A63F5-1EC2-1FB8-C5D7-01AD3D7071CF}"/>
              </a:ext>
            </a:extLst>
          </p:cNvPr>
          <p:cNvSpPr>
            <a:spLocks noGrp="1"/>
          </p:cNvSpPr>
          <p:nvPr>
            <p:ph type="sldNum" sz="quarter" idx="12"/>
          </p:nvPr>
        </p:nvSpPr>
        <p:spPr/>
        <p:txBody>
          <a:bodyPr/>
          <a:lstStyle/>
          <a:p>
            <a:fld id="{CBABCCC1-BF11-4F37-963E-1BCD5B23FD72}" type="slidenum">
              <a:rPr lang="en-IN" smtClean="0"/>
              <a:t>2</a:t>
            </a:fld>
            <a:endParaRPr lang="en-IN"/>
          </a:p>
        </p:txBody>
      </p:sp>
      <p:pic>
        <p:nvPicPr>
          <p:cNvPr id="4" name="Picture 3">
            <a:extLst>
              <a:ext uri="{FF2B5EF4-FFF2-40B4-BE49-F238E27FC236}">
                <a16:creationId xmlns:a16="http://schemas.microsoft.com/office/drawing/2014/main" id="{99916FF4-DA7F-C0E8-5106-CF3D254B12DF}"/>
              </a:ext>
            </a:extLst>
          </p:cNvPr>
          <p:cNvPicPr>
            <a:picLocks noChangeAspect="1"/>
          </p:cNvPicPr>
          <p:nvPr/>
        </p:nvPicPr>
        <p:blipFill>
          <a:blip r:embed="rId2"/>
          <a:stretch>
            <a:fillRect/>
          </a:stretch>
        </p:blipFill>
        <p:spPr>
          <a:xfrm>
            <a:off x="5014834" y="657434"/>
            <a:ext cx="7177165" cy="5312441"/>
          </a:xfrm>
          <a:prstGeom prst="rect">
            <a:avLst/>
          </a:prstGeom>
        </p:spPr>
      </p:pic>
      <p:sp>
        <p:nvSpPr>
          <p:cNvPr id="6" name="TextBox 5">
            <a:extLst>
              <a:ext uri="{FF2B5EF4-FFF2-40B4-BE49-F238E27FC236}">
                <a16:creationId xmlns:a16="http://schemas.microsoft.com/office/drawing/2014/main" id="{7940C73F-6FD8-A2EB-71C4-034EC3296E7B}"/>
              </a:ext>
            </a:extLst>
          </p:cNvPr>
          <p:cNvSpPr txBox="1"/>
          <p:nvPr/>
        </p:nvSpPr>
        <p:spPr>
          <a:xfrm>
            <a:off x="294623" y="1120676"/>
            <a:ext cx="4720211" cy="4616648"/>
          </a:xfrm>
          <a:prstGeom prst="rect">
            <a:avLst/>
          </a:prstGeom>
          <a:noFill/>
        </p:spPr>
        <p:txBody>
          <a:bodyPr wrap="square">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Continuous Integration (CI):</a:t>
            </a:r>
          </a:p>
          <a:p>
            <a:pPr algn="just">
              <a:spcBef>
                <a:spcPts val="600"/>
              </a:spcBef>
              <a:spcAft>
                <a:spcPts val="600"/>
              </a:spcAft>
            </a:pPr>
            <a:r>
              <a:rPr lang="en-US" sz="2400" dirty="0">
                <a:latin typeface="Times New Roman" panose="02020603050405020304" pitchFamily="18" charset="0"/>
                <a:cs typeface="Times New Roman" panose="02020603050405020304" pitchFamily="18" charset="0"/>
              </a:rPr>
              <a:t>CI is when developers merge code into a shared repository multiple times a day, with automated tests and builds running to verify the code.</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Continuous Deployment (CD):</a:t>
            </a:r>
          </a:p>
          <a:p>
            <a:pPr algn="just">
              <a:spcBef>
                <a:spcPts val="600"/>
              </a:spcBef>
              <a:spcAft>
                <a:spcPts val="600"/>
              </a:spcAft>
            </a:pPr>
            <a:r>
              <a:rPr lang="en-US" sz="2400" dirty="0">
                <a:latin typeface="Times New Roman" panose="02020603050405020304" pitchFamily="18" charset="0"/>
                <a:cs typeface="Times New Roman" panose="02020603050405020304" pitchFamily="18" charset="0"/>
              </a:rPr>
              <a:t>CD automates deployment to production once tests pass, while Continuous Delivery prepares the code for deployment, needing manual approval.</a:t>
            </a:r>
          </a:p>
        </p:txBody>
      </p:sp>
    </p:spTree>
    <p:extLst>
      <p:ext uri="{BB962C8B-B14F-4D97-AF65-F5344CB8AC3E}">
        <p14:creationId xmlns:p14="http://schemas.microsoft.com/office/powerpoint/2010/main" val="141339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340555-2F7D-9A2D-AA52-64196EEC7537}"/>
              </a:ext>
            </a:extLst>
          </p:cNvPr>
          <p:cNvSpPr>
            <a:spLocks noGrp="1"/>
          </p:cNvSpPr>
          <p:nvPr>
            <p:ph type="sldNum" sz="quarter" idx="12"/>
          </p:nvPr>
        </p:nvSpPr>
        <p:spPr/>
        <p:txBody>
          <a:bodyPr/>
          <a:lstStyle/>
          <a:p>
            <a:fld id="{CBABCCC1-BF11-4F37-963E-1BCD5B23FD72}" type="slidenum">
              <a:rPr lang="en-IN" smtClean="0"/>
              <a:t>3</a:t>
            </a:fld>
            <a:endParaRPr lang="en-IN"/>
          </a:p>
        </p:txBody>
      </p:sp>
      <p:pic>
        <p:nvPicPr>
          <p:cNvPr id="4" name="Picture 3">
            <a:extLst>
              <a:ext uri="{FF2B5EF4-FFF2-40B4-BE49-F238E27FC236}">
                <a16:creationId xmlns:a16="http://schemas.microsoft.com/office/drawing/2014/main" id="{2C982727-055F-E251-811F-3AD55D902B93}"/>
              </a:ext>
            </a:extLst>
          </p:cNvPr>
          <p:cNvPicPr>
            <a:picLocks noChangeAspect="1"/>
          </p:cNvPicPr>
          <p:nvPr/>
        </p:nvPicPr>
        <p:blipFill>
          <a:blip r:embed="rId2"/>
          <a:stretch>
            <a:fillRect/>
          </a:stretch>
        </p:blipFill>
        <p:spPr>
          <a:xfrm>
            <a:off x="1105926" y="432741"/>
            <a:ext cx="9980148" cy="5532976"/>
          </a:xfrm>
          <a:prstGeom prst="rect">
            <a:avLst/>
          </a:prstGeom>
        </p:spPr>
      </p:pic>
    </p:spTree>
    <p:extLst>
      <p:ext uri="{BB962C8B-B14F-4D97-AF65-F5344CB8AC3E}">
        <p14:creationId xmlns:p14="http://schemas.microsoft.com/office/powerpoint/2010/main" val="1184293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96F67B-33E1-2E90-640B-B84A6EDF625F}"/>
              </a:ext>
            </a:extLst>
          </p:cNvPr>
          <p:cNvSpPr>
            <a:spLocks noGrp="1"/>
          </p:cNvSpPr>
          <p:nvPr>
            <p:ph type="sldNum" sz="quarter" idx="12"/>
          </p:nvPr>
        </p:nvSpPr>
        <p:spPr/>
        <p:txBody>
          <a:bodyPr/>
          <a:lstStyle/>
          <a:p>
            <a:fld id="{CBABCCC1-BF11-4F37-963E-1BCD5B23FD72}" type="slidenum">
              <a:rPr lang="en-IN" smtClean="0"/>
              <a:t>4</a:t>
            </a:fld>
            <a:endParaRPr lang="en-IN"/>
          </a:p>
        </p:txBody>
      </p:sp>
      <p:sp>
        <p:nvSpPr>
          <p:cNvPr id="4" name="TextBox 3">
            <a:extLst>
              <a:ext uri="{FF2B5EF4-FFF2-40B4-BE49-F238E27FC236}">
                <a16:creationId xmlns:a16="http://schemas.microsoft.com/office/drawing/2014/main" id="{1C505881-B081-8B5C-0EEF-7C4F4B1C036E}"/>
              </a:ext>
            </a:extLst>
          </p:cNvPr>
          <p:cNvSpPr txBox="1"/>
          <p:nvPr/>
        </p:nvSpPr>
        <p:spPr>
          <a:xfrm>
            <a:off x="578069" y="807203"/>
            <a:ext cx="11204028" cy="4555093"/>
          </a:xfrm>
          <a:prstGeom prst="rect">
            <a:avLst/>
          </a:prstGeom>
          <a:noFill/>
        </p:spPr>
        <p:txBody>
          <a:bodyPr wrap="square">
            <a:spAutoFit/>
          </a:bodyPr>
          <a:lstStyle/>
          <a:p>
            <a:pPr algn="just">
              <a:spcBef>
                <a:spcPts val="600"/>
              </a:spcBef>
              <a:spcAft>
                <a:spcPts val="600"/>
              </a:spcAft>
              <a:buNone/>
            </a:pPr>
            <a:r>
              <a:rPr lang="en-US" sz="2400" b="1" dirty="0">
                <a:latin typeface="Times New Roman" panose="02020603050405020304" pitchFamily="18" charset="0"/>
                <a:cs typeface="Times New Roman" panose="02020603050405020304" pitchFamily="18" charset="0"/>
              </a:rPr>
              <a:t>CI/CD Pipeline Flow in the Image:</a:t>
            </a:r>
          </a:p>
          <a:p>
            <a:pPr algn="just">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Version Control</a:t>
            </a:r>
            <a:r>
              <a:rPr lang="en-US" sz="2400" dirty="0">
                <a:latin typeface="Times New Roman" panose="02020603050405020304" pitchFamily="18" charset="0"/>
                <a:cs typeface="Times New Roman" panose="02020603050405020304" pitchFamily="18" charset="0"/>
              </a:rPr>
              <a:t>: Developers commit code changes to a Git-based version control system (e.g., GitHub, GitLab).</a:t>
            </a:r>
          </a:p>
          <a:p>
            <a:pPr marL="742950" lvl="1" indent="-285750" algn="just">
              <a:spcBef>
                <a:spcPts val="6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This is the first step where developers work with branches (feature branches, main branches, etc.) and push code changes.</a:t>
            </a:r>
          </a:p>
          <a:p>
            <a:pPr algn="just">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Build</a:t>
            </a:r>
            <a:r>
              <a:rPr lang="en-US" sz="2400" dirty="0">
                <a:latin typeface="Times New Roman" panose="02020603050405020304" pitchFamily="18" charset="0"/>
                <a:cs typeface="Times New Roman" panose="02020603050405020304" pitchFamily="18" charset="0"/>
              </a:rPr>
              <a:t>: After the code is pushed, it triggers the build process.</a:t>
            </a:r>
          </a:p>
          <a:p>
            <a:pPr marL="742950" lvl="1" indent="-285750" algn="just">
              <a:spcBef>
                <a:spcPts val="6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The system compiles or packages the code into a runnable form, such as a .jar file, Docker image, or executable application.</a:t>
            </a:r>
          </a:p>
          <a:p>
            <a:pPr marL="742950" lvl="1" indent="-285750" algn="just">
              <a:spcBef>
                <a:spcPts val="600"/>
              </a:spcBef>
              <a:spcAft>
                <a:spcPts val="600"/>
              </a:spcAft>
              <a:buFont typeface="+mj-lt"/>
              <a:buAutoNum type="arabicPeriod"/>
            </a:pPr>
            <a:r>
              <a:rPr lang="en-US" sz="2400" dirty="0">
                <a:latin typeface="Times New Roman" panose="02020603050405020304" pitchFamily="18" charset="0"/>
                <a:cs typeface="Times New Roman" panose="02020603050405020304" pitchFamily="18" charset="0"/>
              </a:rPr>
              <a:t>This step also ensures that all dependencies are correctly handled (for example, using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install for Node.js or pip install for Python)</a:t>
            </a:r>
          </a:p>
        </p:txBody>
      </p:sp>
    </p:spTree>
    <p:extLst>
      <p:ext uri="{BB962C8B-B14F-4D97-AF65-F5344CB8AC3E}">
        <p14:creationId xmlns:p14="http://schemas.microsoft.com/office/powerpoint/2010/main" val="1732622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354334-321D-23F5-469A-EEB8DBC14A74}"/>
              </a:ext>
            </a:extLst>
          </p:cNvPr>
          <p:cNvSpPr>
            <a:spLocks noGrp="1"/>
          </p:cNvSpPr>
          <p:nvPr>
            <p:ph type="sldNum" sz="quarter" idx="12"/>
          </p:nvPr>
        </p:nvSpPr>
        <p:spPr/>
        <p:txBody>
          <a:bodyPr/>
          <a:lstStyle/>
          <a:p>
            <a:fld id="{CBABCCC1-BF11-4F37-963E-1BCD5B23FD72}" type="slidenum">
              <a:rPr lang="en-IN" smtClean="0"/>
              <a:t>5</a:t>
            </a:fld>
            <a:endParaRPr lang="en-IN"/>
          </a:p>
        </p:txBody>
      </p:sp>
      <p:sp>
        <p:nvSpPr>
          <p:cNvPr id="3" name="Rectangle 1">
            <a:extLst>
              <a:ext uri="{FF2B5EF4-FFF2-40B4-BE49-F238E27FC236}">
                <a16:creationId xmlns:a16="http://schemas.microsoft.com/office/drawing/2014/main" id="{70B6CC88-E938-B43A-F06B-57A036442B25}"/>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26292ADC-7380-02D6-4892-C0B1B9B49223}"/>
              </a:ext>
            </a:extLst>
          </p:cNvPr>
          <p:cNvSpPr txBox="1"/>
          <p:nvPr/>
        </p:nvSpPr>
        <p:spPr>
          <a:xfrm>
            <a:off x="328936" y="543898"/>
            <a:ext cx="11557891" cy="6447919"/>
          </a:xfrm>
          <a:prstGeom prst="rect">
            <a:avLst/>
          </a:prstGeom>
          <a:noFill/>
        </p:spPr>
        <p:txBody>
          <a:bodyPr wrap="square">
            <a:spAutoFit/>
          </a:bodyPr>
          <a:lstStyle/>
          <a:p>
            <a:pPr algn="just">
              <a:spcBef>
                <a:spcPts val="600"/>
              </a:spcBef>
              <a:spcAft>
                <a:spcPts val="600"/>
              </a:spcAft>
              <a:buNone/>
            </a:pPr>
            <a:r>
              <a:rPr lang="en-US" sz="2400" b="1" dirty="0">
                <a:latin typeface="Times New Roman" panose="02020603050405020304" pitchFamily="18" charset="0"/>
                <a:cs typeface="Times New Roman" panose="02020603050405020304" pitchFamily="18" charset="0"/>
              </a:rPr>
              <a:t>3.Testing and Staging</a:t>
            </a:r>
            <a:r>
              <a:rPr lang="en-US" sz="2400" dirty="0">
                <a:latin typeface="Times New Roman" panose="02020603050405020304" pitchFamily="18" charset="0"/>
                <a:cs typeface="Times New Roman" panose="02020603050405020304" pitchFamily="18" charset="0"/>
              </a:rPr>
              <a:t>: The next step automatically tests the code in a testing environment (usually an isolated server or a staging environment that mimics production).</a:t>
            </a:r>
          </a:p>
          <a:p>
            <a:pPr lvl="1"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Various tests, like unit tests, integration tests, or smoke tests, are run here.</a:t>
            </a:r>
          </a:p>
          <a:p>
            <a:pPr lvl="1"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tests fail, the pipeline will stop, and the developers will be notified to fix the issues before the code can move forward.</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4.Auto Test</a:t>
            </a:r>
            <a:r>
              <a:rPr lang="en-US" sz="2400" dirty="0">
                <a:latin typeface="Times New Roman" panose="02020603050405020304" pitchFamily="18" charset="0"/>
                <a:cs typeface="Times New Roman" panose="02020603050405020304" pitchFamily="18" charset="0"/>
              </a:rPr>
              <a:t>: This emphasizes the automated nature of testing in the pipeline.</a:t>
            </a:r>
          </a:p>
          <a:p>
            <a:pPr algn="just">
              <a:spcBef>
                <a:spcPts val="600"/>
              </a:spcBef>
              <a:spcAft>
                <a:spcPts val="600"/>
              </a:spcAft>
            </a:pPr>
            <a:r>
              <a:rPr lang="en-US" sz="2400" dirty="0">
                <a:latin typeface="Times New Roman" panose="02020603050405020304" pitchFamily="18" charset="0"/>
                <a:cs typeface="Times New Roman" panose="02020603050405020304" pitchFamily="18" charset="0"/>
              </a:rPr>
              <a:t>	As part of the testing process, </a:t>
            </a:r>
            <a:r>
              <a:rPr lang="en-US" sz="2400" b="1" dirty="0">
                <a:latin typeface="Times New Roman" panose="02020603050405020304" pitchFamily="18" charset="0"/>
                <a:cs typeface="Times New Roman" panose="02020603050405020304" pitchFamily="18" charset="0"/>
              </a:rPr>
              <a:t>auto tests</a:t>
            </a:r>
            <a:r>
              <a:rPr lang="en-US" sz="2400" dirty="0">
                <a:latin typeface="Times New Roman" panose="02020603050405020304" pitchFamily="18" charset="0"/>
                <a:cs typeface="Times New Roman" panose="02020603050405020304" pitchFamily="18" charset="0"/>
              </a:rPr>
              <a:t> are run to ensure that no issues are introduced with the new changes. This is done automatically and is a critical part of ensuring code quality.</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5.Deployment</a:t>
            </a:r>
            <a:r>
              <a:rPr lang="en-US" sz="2400" dirty="0">
                <a:latin typeface="Times New Roman" panose="02020603050405020304" pitchFamily="18" charset="0"/>
                <a:cs typeface="Times New Roman" panose="02020603050405020304" pitchFamily="18" charset="0"/>
              </a:rPr>
              <a:t>: Once tests are successfully passed, the application is deployed to the production environment.</a:t>
            </a:r>
          </a:p>
          <a:p>
            <a:pPr algn="just">
              <a:spcBef>
                <a:spcPts val="600"/>
              </a:spcBef>
              <a:spcAft>
                <a:spcPts val="600"/>
              </a:spcAft>
            </a:pPr>
            <a:r>
              <a:rPr lang="en-US" sz="2400" dirty="0">
                <a:latin typeface="Times New Roman" panose="02020603050405020304" pitchFamily="18" charset="0"/>
                <a:cs typeface="Times New Roman" panose="02020603050405020304" pitchFamily="18" charset="0"/>
              </a:rPr>
              <a:t>	This can be done using Continuous Deployment or Continuous Delivery, depending on the organization’s configuration.</a:t>
            </a:r>
          </a:p>
          <a:p>
            <a:endParaRPr lang="en-US" dirty="0"/>
          </a:p>
          <a:p>
            <a:endParaRPr lang="en-US" dirty="0"/>
          </a:p>
        </p:txBody>
      </p:sp>
    </p:spTree>
    <p:extLst>
      <p:ext uri="{BB962C8B-B14F-4D97-AF65-F5344CB8AC3E}">
        <p14:creationId xmlns:p14="http://schemas.microsoft.com/office/powerpoint/2010/main" val="2603158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A1D13C-2135-3ECB-D323-A59A5608CC73}"/>
              </a:ext>
            </a:extLst>
          </p:cNvPr>
          <p:cNvSpPr>
            <a:spLocks noGrp="1"/>
          </p:cNvSpPr>
          <p:nvPr>
            <p:ph type="sldNum" sz="quarter" idx="12"/>
          </p:nvPr>
        </p:nvSpPr>
        <p:spPr/>
        <p:txBody>
          <a:bodyPr/>
          <a:lstStyle/>
          <a:p>
            <a:fld id="{CBABCCC1-BF11-4F37-963E-1BCD5B23FD72}" type="slidenum">
              <a:rPr lang="en-IN" smtClean="0"/>
              <a:t>6</a:t>
            </a:fld>
            <a:endParaRPr lang="en-IN"/>
          </a:p>
        </p:txBody>
      </p:sp>
      <p:sp>
        <p:nvSpPr>
          <p:cNvPr id="4" name="TextBox 3">
            <a:extLst>
              <a:ext uri="{FF2B5EF4-FFF2-40B4-BE49-F238E27FC236}">
                <a16:creationId xmlns:a16="http://schemas.microsoft.com/office/drawing/2014/main" id="{73BCB1E8-8E5C-1CFB-2A9C-1619FD8C6EF0}"/>
              </a:ext>
            </a:extLst>
          </p:cNvPr>
          <p:cNvSpPr txBox="1"/>
          <p:nvPr/>
        </p:nvSpPr>
        <p:spPr>
          <a:xfrm>
            <a:off x="304800" y="1032639"/>
            <a:ext cx="11369040" cy="4288675"/>
          </a:xfrm>
          <a:prstGeom prst="rect">
            <a:avLst/>
          </a:prstGeom>
          <a:noFill/>
        </p:spPr>
        <p:txBody>
          <a:bodyPr wrap="square">
            <a:spAutoFit/>
          </a:bodyPr>
          <a:lstStyle/>
          <a:p>
            <a:pPr algn="just">
              <a:lnSpc>
                <a:spcPct val="150000"/>
              </a:lnSpc>
              <a:buNone/>
            </a:pPr>
            <a:r>
              <a:rPr lang="en-US" sz="2400" b="1" dirty="0">
                <a:latin typeface="Times New Roman" panose="02020603050405020304" pitchFamily="18" charset="0"/>
                <a:cs typeface="Times New Roman" panose="02020603050405020304" pitchFamily="18" charset="0"/>
              </a:rPr>
              <a:t>CI/CD pipelines can be implemented using:</a:t>
            </a:r>
            <a:endParaRPr lang="en-US" sz="2400" dirty="0">
              <a:latin typeface="Times New Roman" panose="02020603050405020304" pitchFamily="18" charset="0"/>
              <a:cs typeface="Times New Roman" panose="02020603050405020304" pitchFamily="18" charset="0"/>
            </a:endParaRPr>
          </a:p>
          <a:p>
            <a:pPr lvl="1" algn="just">
              <a:lnSpc>
                <a:spcPct val="150000"/>
              </a:lnSpc>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GitHub Actions</a:t>
            </a:r>
            <a:r>
              <a:rPr lang="en-US" sz="2400" dirty="0">
                <a:latin typeface="Times New Roman" panose="02020603050405020304" pitchFamily="18" charset="0"/>
                <a:cs typeface="Times New Roman" panose="02020603050405020304" pitchFamily="18" charset="0"/>
              </a:rPr>
              <a:t>: A built-in automation tool within GitHub that can be used to define CI/CD workflows directly in your repository.</a:t>
            </a:r>
          </a:p>
          <a:p>
            <a:pPr lvl="1" algn="just">
              <a:lnSpc>
                <a:spcPct val="150000"/>
              </a:lnSpc>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Jenkins</a:t>
            </a:r>
            <a:r>
              <a:rPr lang="en-US" sz="2400" dirty="0">
                <a:latin typeface="Times New Roman" panose="02020603050405020304" pitchFamily="18" charset="0"/>
                <a:cs typeface="Times New Roman" panose="02020603050405020304" pitchFamily="18" charset="0"/>
              </a:rPr>
              <a:t>: A widely used open-source automation server that supports building, testing, and deploying applications as part of the CI/CD pipeline.</a:t>
            </a:r>
          </a:p>
          <a:p>
            <a:pPr lvl="1" algn="just">
              <a:lnSpc>
                <a:spcPct val="150000"/>
              </a:lnSpc>
              <a:spcBef>
                <a:spcPts val="600"/>
              </a:spcBef>
              <a:spcAft>
                <a:spcPts val="600"/>
              </a:spcAft>
            </a:pPr>
            <a:r>
              <a:rPr lang="en-US" sz="2400" dirty="0">
                <a:latin typeface="Times New Roman" panose="02020603050405020304" pitchFamily="18" charset="0"/>
                <a:cs typeface="Times New Roman" panose="02020603050405020304" pitchFamily="18" charset="0"/>
              </a:rPr>
              <a:t>Both tools allow you to automate various stages of the development lifecycle, from code integration to testing and deployment.</a:t>
            </a:r>
          </a:p>
        </p:txBody>
      </p:sp>
    </p:spTree>
    <p:extLst>
      <p:ext uri="{BB962C8B-B14F-4D97-AF65-F5344CB8AC3E}">
        <p14:creationId xmlns:p14="http://schemas.microsoft.com/office/powerpoint/2010/main" val="2855621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B5A434-1C80-0C44-A3B6-303F9E99357C}"/>
              </a:ext>
            </a:extLst>
          </p:cNvPr>
          <p:cNvSpPr>
            <a:spLocks noGrp="1"/>
          </p:cNvSpPr>
          <p:nvPr>
            <p:ph type="sldNum" sz="quarter" idx="12"/>
          </p:nvPr>
        </p:nvSpPr>
        <p:spPr/>
        <p:txBody>
          <a:bodyPr/>
          <a:lstStyle/>
          <a:p>
            <a:fld id="{CBABCCC1-BF11-4F37-963E-1BCD5B23FD72}" type="slidenum">
              <a:rPr lang="en-IN" smtClean="0"/>
              <a:t>7</a:t>
            </a:fld>
            <a:endParaRPr lang="en-IN"/>
          </a:p>
        </p:txBody>
      </p:sp>
      <p:sp>
        <p:nvSpPr>
          <p:cNvPr id="4" name="TextBox 3">
            <a:extLst>
              <a:ext uri="{FF2B5EF4-FFF2-40B4-BE49-F238E27FC236}">
                <a16:creationId xmlns:a16="http://schemas.microsoft.com/office/drawing/2014/main" id="{38180F89-9BCC-B698-ECDF-F36E740CFC93}"/>
              </a:ext>
            </a:extLst>
          </p:cNvPr>
          <p:cNvSpPr txBox="1"/>
          <p:nvPr/>
        </p:nvSpPr>
        <p:spPr>
          <a:xfrm>
            <a:off x="3045459" y="2543294"/>
            <a:ext cx="610108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GitHub Actions</a:t>
            </a:r>
            <a:endParaRPr lang="en-IN" sz="3600" dirty="0"/>
          </a:p>
        </p:txBody>
      </p:sp>
    </p:spTree>
    <p:extLst>
      <p:ext uri="{BB962C8B-B14F-4D97-AF65-F5344CB8AC3E}">
        <p14:creationId xmlns:p14="http://schemas.microsoft.com/office/powerpoint/2010/main" val="1642996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FBA323-CFBB-4C57-E758-5494D474AE79}"/>
              </a:ext>
            </a:extLst>
          </p:cNvPr>
          <p:cNvSpPr>
            <a:spLocks noGrp="1"/>
          </p:cNvSpPr>
          <p:nvPr>
            <p:ph type="sldNum" sz="quarter" idx="12"/>
          </p:nvPr>
        </p:nvSpPr>
        <p:spPr/>
        <p:txBody>
          <a:bodyPr/>
          <a:lstStyle/>
          <a:p>
            <a:fld id="{CBABCCC1-BF11-4F37-963E-1BCD5B23FD72}" type="slidenum">
              <a:rPr lang="en-IN" smtClean="0"/>
              <a:t>8</a:t>
            </a:fld>
            <a:endParaRPr lang="en-IN"/>
          </a:p>
        </p:txBody>
      </p:sp>
      <p:sp>
        <p:nvSpPr>
          <p:cNvPr id="4" name="TextBox 3">
            <a:extLst>
              <a:ext uri="{FF2B5EF4-FFF2-40B4-BE49-F238E27FC236}">
                <a16:creationId xmlns:a16="http://schemas.microsoft.com/office/drawing/2014/main" id="{08853BBB-9C28-0475-9E6B-58BCEA4AE650}"/>
              </a:ext>
            </a:extLst>
          </p:cNvPr>
          <p:cNvSpPr txBox="1"/>
          <p:nvPr/>
        </p:nvSpPr>
        <p:spPr>
          <a:xfrm>
            <a:off x="483869" y="729456"/>
            <a:ext cx="11224260" cy="5227393"/>
          </a:xfrm>
          <a:prstGeom prst="rect">
            <a:avLst/>
          </a:prstGeom>
          <a:noFill/>
        </p:spPr>
        <p:txBody>
          <a:bodyPr wrap="square">
            <a:spAutoFit/>
          </a:bodyPr>
          <a:lstStyle/>
          <a:p>
            <a:pPr algn="just">
              <a:lnSpc>
                <a:spcPct val="150000"/>
              </a:lnSpc>
              <a:spcBef>
                <a:spcPts val="600"/>
              </a:spcBef>
              <a:spcAft>
                <a:spcPts val="600"/>
              </a:spcAft>
            </a:pPr>
            <a:r>
              <a:rPr lang="en-US" sz="2400" b="0" i="0" u="sng" dirty="0">
                <a:solidFill>
                  <a:srgbClr val="0A0A23"/>
                </a:solidFill>
                <a:effectLst/>
                <a:latin typeface="Times New Roman" panose="02020603050405020304" pitchFamily="18" charset="0"/>
                <a:cs typeface="Times New Roman" panose="02020603050405020304" pitchFamily="18" charset="0"/>
                <a:hlinkClick r:id="rId2"/>
              </a:rPr>
              <a:t>GitHub Actions</a:t>
            </a:r>
            <a:r>
              <a:rPr lang="en-US" sz="2400" b="0" i="0" dirty="0">
                <a:solidFill>
                  <a:srgbClr val="0A0A23"/>
                </a:solidFill>
                <a:effectLst/>
                <a:latin typeface="Times New Roman" panose="02020603050405020304" pitchFamily="18" charset="0"/>
                <a:cs typeface="Times New Roman" panose="02020603050405020304" pitchFamily="18" charset="0"/>
              </a:rPr>
              <a:t> are one of the most helpful features of GitHub. Actions help you automate, build, test, and deploy your app from your GitHub. They also help you perform code reviews and tests, manage branches, triage issues, and more.</a:t>
            </a:r>
          </a:p>
          <a:p>
            <a:pPr algn="just">
              <a:lnSpc>
                <a:spcPct val="150000"/>
              </a:lnSpc>
              <a:spcBef>
                <a:spcPts val="600"/>
              </a:spcBef>
              <a:spcAft>
                <a:spcPts val="600"/>
              </a:spcAft>
            </a:pPr>
            <a:r>
              <a:rPr lang="en-IN" sz="2400" b="1" dirty="0">
                <a:latin typeface="Times New Roman" panose="02020603050405020304" pitchFamily="18" charset="0"/>
                <a:cs typeface="Times New Roman" panose="02020603050405020304" pitchFamily="18" charset="0"/>
              </a:rPr>
              <a:t>Key GitHub Actions Concepts</a:t>
            </a:r>
          </a:p>
          <a:p>
            <a:pPr marL="742950" lvl="1" indent="-285750" algn="just">
              <a:lnSpc>
                <a:spcPct val="150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Workflows</a:t>
            </a:r>
          </a:p>
          <a:p>
            <a:pPr marL="742950" lvl="1" indent="-285750" algn="just">
              <a:lnSpc>
                <a:spcPct val="150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Events</a:t>
            </a:r>
          </a:p>
          <a:p>
            <a:pPr marL="742950" lvl="1" indent="-285750" algn="just">
              <a:lnSpc>
                <a:spcPct val="150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Jobs</a:t>
            </a:r>
          </a:p>
          <a:p>
            <a:pPr marL="742950" lvl="1" indent="-285750" algn="just">
              <a:lnSpc>
                <a:spcPct val="150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Runners</a:t>
            </a:r>
          </a:p>
        </p:txBody>
      </p:sp>
    </p:spTree>
    <p:extLst>
      <p:ext uri="{BB962C8B-B14F-4D97-AF65-F5344CB8AC3E}">
        <p14:creationId xmlns:p14="http://schemas.microsoft.com/office/powerpoint/2010/main" val="1835777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D97BB1-32D8-8881-F9F8-C2ED4BD6FD66}"/>
              </a:ext>
            </a:extLst>
          </p:cNvPr>
          <p:cNvSpPr>
            <a:spLocks noGrp="1"/>
          </p:cNvSpPr>
          <p:nvPr>
            <p:ph type="sldNum" sz="quarter" idx="12"/>
          </p:nvPr>
        </p:nvSpPr>
        <p:spPr/>
        <p:txBody>
          <a:bodyPr/>
          <a:lstStyle/>
          <a:p>
            <a:fld id="{CBABCCC1-BF11-4F37-963E-1BCD5B23FD72}" type="slidenum">
              <a:rPr lang="en-IN" smtClean="0"/>
              <a:t>9</a:t>
            </a:fld>
            <a:endParaRPr lang="en-IN"/>
          </a:p>
        </p:txBody>
      </p:sp>
      <p:sp>
        <p:nvSpPr>
          <p:cNvPr id="4" name="TextBox 3">
            <a:extLst>
              <a:ext uri="{FF2B5EF4-FFF2-40B4-BE49-F238E27FC236}">
                <a16:creationId xmlns:a16="http://schemas.microsoft.com/office/drawing/2014/main" id="{C7C76525-7ADA-1AE5-4BFD-279B00DBCB4A}"/>
              </a:ext>
            </a:extLst>
          </p:cNvPr>
          <p:cNvSpPr txBox="1"/>
          <p:nvPr/>
        </p:nvSpPr>
        <p:spPr>
          <a:xfrm>
            <a:off x="520700" y="725716"/>
            <a:ext cx="11325860" cy="4801314"/>
          </a:xfrm>
          <a:prstGeom prst="rect">
            <a:avLst/>
          </a:prstGeom>
          <a:noFill/>
        </p:spPr>
        <p:txBody>
          <a:bodyPr wrap="square">
            <a:spAutoFit/>
          </a:bodyPr>
          <a:lstStyle/>
          <a:p>
            <a:pPr algn="just" fontAlgn="base">
              <a:lnSpc>
                <a:spcPct val="150000"/>
              </a:lnSpc>
              <a:buNone/>
            </a:pPr>
            <a:r>
              <a:rPr lang="en-US" sz="2400" b="1" i="0" dirty="0">
                <a:solidFill>
                  <a:srgbClr val="1B1B32"/>
                </a:solidFill>
                <a:effectLst/>
                <a:latin typeface="Times New Roman" panose="02020603050405020304" pitchFamily="18" charset="0"/>
                <a:cs typeface="Times New Roman" panose="02020603050405020304" pitchFamily="18" charset="0"/>
              </a:rPr>
              <a:t>1. Workflows</a:t>
            </a:r>
          </a:p>
          <a:p>
            <a:pPr algn="just" fontAlgn="base">
              <a:lnSpc>
                <a:spcPct val="150000"/>
              </a:lnSpc>
              <a:buNone/>
            </a:pPr>
            <a:r>
              <a:rPr lang="en-US" sz="2400" b="0" i="0" dirty="0">
                <a:solidFill>
                  <a:srgbClr val="0A0A23"/>
                </a:solidFill>
                <a:effectLst/>
                <a:latin typeface="Times New Roman" panose="02020603050405020304" pitchFamily="18" charset="0"/>
                <a:cs typeface="Times New Roman" panose="02020603050405020304" pitchFamily="18" charset="0"/>
              </a:rPr>
              <a:t>	A workflow is a configurable automated process that runs one or more jobs. It is created with a YAML file in your repository and runs when an event triggers it.</a:t>
            </a:r>
            <a:endParaRPr lang="en-US" sz="2400" dirty="0">
              <a:solidFill>
                <a:srgbClr val="0A0A23"/>
              </a:solidFill>
              <a:latin typeface="Times New Roman" panose="02020603050405020304" pitchFamily="18" charset="0"/>
              <a:cs typeface="Times New Roman" panose="02020603050405020304" pitchFamily="18" charset="0"/>
            </a:endParaRPr>
          </a:p>
          <a:p>
            <a:pPr algn="just" fontAlgn="base">
              <a:lnSpc>
                <a:spcPct val="150000"/>
              </a:lnSpc>
            </a:pPr>
            <a:r>
              <a:rPr lang="en-US" sz="2400" dirty="0">
                <a:latin typeface="Times New Roman" panose="02020603050405020304" pitchFamily="18" charset="0"/>
                <a:cs typeface="Times New Roman" panose="02020603050405020304" pitchFamily="18" charset="0"/>
              </a:rPr>
              <a:t>	Workflows are defined in the </a:t>
            </a:r>
            <a:r>
              <a:rPr lang="en-US" sz="2400" b="1" dirty="0">
                <a:latin typeface="Times New Roman" panose="02020603050405020304" pitchFamily="18" charset="0"/>
                <a:cs typeface="Times New Roman" panose="02020603050405020304" pitchFamily="18" charset="0"/>
              </a:rPr>
              <a:t>.</a:t>
            </a:r>
            <a:r>
              <a:rPr lang="en-US" sz="2400" b="1" dirty="0" err="1">
                <a:latin typeface="Times New Roman" panose="02020603050405020304" pitchFamily="18" charset="0"/>
                <a:cs typeface="Times New Roman" panose="02020603050405020304" pitchFamily="18" charset="0"/>
              </a:rPr>
              <a:t>github</a:t>
            </a:r>
            <a:r>
              <a:rPr lang="en-US" sz="2400" b="1" dirty="0">
                <a:latin typeface="Times New Roman" panose="02020603050405020304" pitchFamily="18" charset="0"/>
                <a:cs typeface="Times New Roman" panose="02020603050405020304" pitchFamily="18" charset="0"/>
              </a:rPr>
              <a:t>/workflows </a:t>
            </a:r>
            <a:r>
              <a:rPr lang="en-US" sz="2400" dirty="0">
                <a:latin typeface="Times New Roman" panose="02020603050405020304" pitchFamily="18" charset="0"/>
                <a:cs typeface="Times New Roman" panose="02020603050405020304" pitchFamily="18" charset="0"/>
              </a:rPr>
              <a:t>directory in a repository. In the repository, you can create multiple workflows that perform different tasks, such as:</a:t>
            </a:r>
          </a:p>
          <a:p>
            <a:pPr marL="742950" lvl="1" indent="-285750" algn="just"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Building and testing pull requests</a:t>
            </a:r>
          </a:p>
          <a:p>
            <a:pPr marL="742950" lvl="1" indent="-285750" algn="just"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Deploying your application on the cloud</a:t>
            </a:r>
          </a:p>
          <a:p>
            <a:pPr marL="742950" lvl="1" indent="-285750" algn="just"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Running a test on every pull request</a:t>
            </a:r>
          </a:p>
          <a:p>
            <a:pPr algn="l" fontAlgn="base">
              <a:buNone/>
            </a:pPr>
            <a:endParaRPr lang="en-US" b="0" i="0" dirty="0">
              <a:solidFill>
                <a:srgbClr val="0A0A23"/>
              </a:solidFill>
              <a:effectLst/>
              <a:latin typeface="Lato" panose="020F0502020204030203" pitchFamily="34" charset="0"/>
            </a:endParaRPr>
          </a:p>
        </p:txBody>
      </p:sp>
    </p:spTree>
    <p:extLst>
      <p:ext uri="{BB962C8B-B14F-4D97-AF65-F5344CB8AC3E}">
        <p14:creationId xmlns:p14="http://schemas.microsoft.com/office/powerpoint/2010/main" val="3807339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55820A-5C97-D4C6-EC3B-BC6C99AC8251}"/>
              </a:ext>
            </a:extLst>
          </p:cNvPr>
          <p:cNvSpPr>
            <a:spLocks noGrp="1"/>
          </p:cNvSpPr>
          <p:nvPr>
            <p:ph type="sldNum" sz="quarter" idx="12"/>
          </p:nvPr>
        </p:nvSpPr>
        <p:spPr/>
        <p:txBody>
          <a:bodyPr/>
          <a:lstStyle/>
          <a:p>
            <a:fld id="{CBABCCC1-BF11-4F37-963E-1BCD5B23FD72}" type="slidenum">
              <a:rPr lang="en-IN" smtClean="0"/>
              <a:t>10</a:t>
            </a:fld>
            <a:endParaRPr lang="en-IN"/>
          </a:p>
        </p:txBody>
      </p:sp>
      <p:sp>
        <p:nvSpPr>
          <p:cNvPr id="4" name="TextBox 3">
            <a:extLst>
              <a:ext uri="{FF2B5EF4-FFF2-40B4-BE49-F238E27FC236}">
                <a16:creationId xmlns:a16="http://schemas.microsoft.com/office/drawing/2014/main" id="{72AFE589-97FE-056F-BAE9-7794181DE5E5}"/>
              </a:ext>
            </a:extLst>
          </p:cNvPr>
          <p:cNvSpPr txBox="1"/>
          <p:nvPr/>
        </p:nvSpPr>
        <p:spPr>
          <a:xfrm>
            <a:off x="327660" y="709136"/>
            <a:ext cx="11295380" cy="5570756"/>
          </a:xfrm>
          <a:prstGeom prst="rect">
            <a:avLst/>
          </a:prstGeom>
          <a:noFill/>
        </p:spPr>
        <p:txBody>
          <a:bodyPr wrap="square">
            <a:spAutoFit/>
          </a:bodyPr>
          <a:lstStyle/>
          <a:p>
            <a:pPr algn="just" fontAlgn="base">
              <a:spcAft>
                <a:spcPts val="600"/>
              </a:spcAft>
              <a:buNone/>
            </a:pPr>
            <a:r>
              <a:rPr lang="en-US" sz="2400" b="1" i="0" dirty="0">
                <a:solidFill>
                  <a:srgbClr val="1B1B32"/>
                </a:solidFill>
                <a:effectLst/>
                <a:latin typeface="Times New Roman" panose="02020603050405020304" pitchFamily="18" charset="0"/>
                <a:cs typeface="Times New Roman" panose="02020603050405020304" pitchFamily="18" charset="0"/>
              </a:rPr>
              <a:t>2.Events</a:t>
            </a:r>
          </a:p>
          <a:p>
            <a:pPr algn="just" fontAlgn="base">
              <a:spcAft>
                <a:spcPts val="600"/>
              </a:spcAft>
              <a:buNone/>
            </a:pPr>
            <a:r>
              <a:rPr lang="en-US" sz="2400" b="0" i="0" dirty="0">
                <a:solidFill>
                  <a:srgbClr val="0A0A23"/>
                </a:solidFill>
                <a:effectLst/>
                <a:latin typeface="Times New Roman" panose="02020603050405020304" pitchFamily="18" charset="0"/>
                <a:cs typeface="Times New Roman" panose="02020603050405020304" pitchFamily="18" charset="0"/>
              </a:rPr>
              <a:t>	An event is a specific activity in a repository that triggers or runs a workflow in your GitHub repository. For example, when you push code to the repository, it triggers the push event. </a:t>
            </a:r>
          </a:p>
          <a:p>
            <a:pPr algn="just" fontAlgn="base">
              <a:spcAft>
                <a:spcPts val="600"/>
              </a:spcAft>
            </a:pPr>
            <a:r>
              <a:rPr lang="en-US" sz="2400" dirty="0">
                <a:latin typeface="Times New Roman" panose="02020603050405020304" pitchFamily="18" charset="0"/>
                <a:cs typeface="Times New Roman" panose="02020603050405020304" pitchFamily="18" charset="0"/>
              </a:rPr>
              <a:t>These are some common GitHub Action events:</a:t>
            </a:r>
          </a:p>
          <a:p>
            <a:pPr marL="742950" lvl="1" indent="-285750" algn="just" fontAlgn="base">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Push</a:t>
            </a:r>
          </a:p>
          <a:p>
            <a:pPr marL="742950" lvl="1" indent="-285750" algn="just" fontAlgn="base">
              <a:spcAft>
                <a:spcPts val="600"/>
              </a:spcAft>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pull_request</a:t>
            </a:r>
            <a:endParaRPr lang="en-US" sz="2400" dirty="0">
              <a:latin typeface="Times New Roman" panose="02020603050405020304" pitchFamily="18" charset="0"/>
              <a:cs typeface="Times New Roman" panose="02020603050405020304" pitchFamily="18" charset="0"/>
            </a:endParaRPr>
          </a:p>
          <a:p>
            <a:pPr marL="742950" lvl="1" indent="-285750" algn="just" fontAlgn="base">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release</a:t>
            </a:r>
          </a:p>
          <a:p>
            <a:pPr marL="742950" lvl="1" indent="-285750" algn="just" fontAlgn="base">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label</a:t>
            </a:r>
          </a:p>
          <a:p>
            <a:pPr marL="742950" lvl="1" indent="-285750" algn="just" fontAlgn="base">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issues</a:t>
            </a:r>
          </a:p>
          <a:p>
            <a:pPr marL="742950" lvl="1" indent="-285750" algn="just" fontAlgn="base">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milestone</a:t>
            </a:r>
          </a:p>
          <a:p>
            <a:pPr marL="742950" lvl="1" indent="-285750" algn="just" fontAlgn="base">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label</a:t>
            </a:r>
          </a:p>
          <a:p>
            <a:pPr algn="l" fontAlgn="base">
              <a:buNone/>
            </a:pPr>
            <a:endParaRPr lang="en-US" b="0" i="0" dirty="0">
              <a:solidFill>
                <a:srgbClr val="0A0A23"/>
              </a:solidFill>
              <a:effectLst/>
              <a:latin typeface="Lato" panose="020F0502020204030203" pitchFamily="34" charset="0"/>
            </a:endParaRPr>
          </a:p>
        </p:txBody>
      </p:sp>
    </p:spTree>
    <p:extLst>
      <p:ext uri="{BB962C8B-B14F-4D97-AF65-F5344CB8AC3E}">
        <p14:creationId xmlns:p14="http://schemas.microsoft.com/office/powerpoint/2010/main" val="1515456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09471C-BB34-372F-66C2-FB6EFC1061AF}"/>
              </a:ext>
            </a:extLst>
          </p:cNvPr>
          <p:cNvSpPr>
            <a:spLocks noGrp="1"/>
          </p:cNvSpPr>
          <p:nvPr>
            <p:ph type="sldNum" sz="quarter" idx="12"/>
          </p:nvPr>
        </p:nvSpPr>
        <p:spPr/>
        <p:txBody>
          <a:bodyPr/>
          <a:lstStyle/>
          <a:p>
            <a:fld id="{CBABCCC1-BF11-4F37-963E-1BCD5B23FD72}" type="slidenum">
              <a:rPr lang="en-IN" smtClean="0"/>
              <a:t>11</a:t>
            </a:fld>
            <a:endParaRPr lang="en-IN"/>
          </a:p>
        </p:txBody>
      </p:sp>
      <p:sp>
        <p:nvSpPr>
          <p:cNvPr id="4" name="TextBox 3">
            <a:extLst>
              <a:ext uri="{FF2B5EF4-FFF2-40B4-BE49-F238E27FC236}">
                <a16:creationId xmlns:a16="http://schemas.microsoft.com/office/drawing/2014/main" id="{73CFED57-6910-B4D0-60B5-BC68A5E80F3B}"/>
              </a:ext>
            </a:extLst>
          </p:cNvPr>
          <p:cNvSpPr txBox="1"/>
          <p:nvPr/>
        </p:nvSpPr>
        <p:spPr>
          <a:xfrm>
            <a:off x="400428" y="939076"/>
            <a:ext cx="11070211" cy="4247317"/>
          </a:xfrm>
          <a:prstGeom prst="rect">
            <a:avLst/>
          </a:prstGeom>
          <a:noFill/>
        </p:spPr>
        <p:txBody>
          <a:bodyPr wrap="square">
            <a:spAutoFit/>
          </a:bodyPr>
          <a:lstStyle/>
          <a:p>
            <a:pPr algn="just" fontAlgn="base">
              <a:lnSpc>
                <a:spcPct val="150000"/>
              </a:lnSpc>
              <a:buNone/>
            </a:pPr>
            <a:r>
              <a:rPr lang="en-US" sz="2400" b="1" i="0" dirty="0">
                <a:solidFill>
                  <a:srgbClr val="1B1B32"/>
                </a:solidFill>
                <a:effectLst/>
                <a:latin typeface="Times New Roman" panose="02020603050405020304" pitchFamily="18" charset="0"/>
                <a:cs typeface="Times New Roman" panose="02020603050405020304" pitchFamily="18" charset="0"/>
              </a:rPr>
              <a:t>3.Jobs</a:t>
            </a:r>
          </a:p>
          <a:p>
            <a:pPr algn="just" fontAlgn="base">
              <a:lnSpc>
                <a:spcPct val="150000"/>
              </a:lnSpc>
              <a:buNone/>
            </a:pPr>
            <a:r>
              <a:rPr lang="en-US" sz="2400" b="0" i="0" dirty="0">
                <a:solidFill>
                  <a:srgbClr val="0A0A23"/>
                </a:solidFill>
                <a:effectLst/>
                <a:latin typeface="Times New Roman" panose="02020603050405020304" pitchFamily="18" charset="0"/>
                <a:cs typeface="Times New Roman" panose="02020603050405020304" pitchFamily="18" charset="0"/>
              </a:rPr>
              <a:t>	GitHub Action jobs run in parallel by default. A GitHub Action workflow runs one or more jobs, each containing a set of steps that execute commands or actions.</a:t>
            </a:r>
          </a:p>
          <a:p>
            <a:pPr algn="just" fontAlgn="base">
              <a:lnSpc>
                <a:spcPct val="150000"/>
              </a:lnSpc>
            </a:pPr>
            <a:r>
              <a:rPr lang="en-US" sz="2400" b="1" dirty="0">
                <a:latin typeface="Times New Roman" panose="02020603050405020304" pitchFamily="18" charset="0"/>
                <a:cs typeface="Times New Roman" panose="02020603050405020304" pitchFamily="18" charset="0"/>
              </a:rPr>
              <a:t>4.Runners</a:t>
            </a:r>
          </a:p>
          <a:p>
            <a:pPr algn="just" fontAlgn="base">
              <a:lnSpc>
                <a:spcPct val="150000"/>
              </a:lnSpc>
            </a:pPr>
            <a:r>
              <a:rPr lang="en-US" sz="2400" b="1" dirty="0">
                <a:latin typeface="Times New Roman" panose="02020603050405020304" pitchFamily="18" charset="0"/>
                <a:cs typeface="Times New Roman" panose="02020603050405020304" pitchFamily="18" charset="0"/>
              </a:rPr>
              <a:t>	Runners</a:t>
            </a:r>
            <a:r>
              <a:rPr lang="en-US" sz="2400" dirty="0">
                <a:latin typeface="Times New Roman" panose="02020603050405020304" pitchFamily="18" charset="0"/>
                <a:cs typeface="Times New Roman" panose="02020603050405020304" pitchFamily="18" charset="0"/>
              </a:rPr>
              <a:t> are servers that execute workflows when triggered. Each runner can handle only one job at a time. GitHub offers runners for Ubuntu Linux, Microsoft Windows, and MacOS to run your workflows.</a:t>
            </a:r>
          </a:p>
          <a:p>
            <a:pPr algn="l" fontAlgn="base">
              <a:buNone/>
            </a:pPr>
            <a:endParaRPr lang="en-US" b="0" i="0" dirty="0">
              <a:solidFill>
                <a:srgbClr val="0A0A23"/>
              </a:solidFill>
              <a:effectLst/>
              <a:latin typeface="Lato" panose="020F0502020204030203" pitchFamily="34" charset="0"/>
            </a:endParaRPr>
          </a:p>
        </p:txBody>
      </p:sp>
    </p:spTree>
    <p:extLst>
      <p:ext uri="{BB962C8B-B14F-4D97-AF65-F5344CB8AC3E}">
        <p14:creationId xmlns:p14="http://schemas.microsoft.com/office/powerpoint/2010/main" val="959431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71D88A-BB2C-9EBA-FB72-568258190EA9}"/>
              </a:ext>
            </a:extLst>
          </p:cNvPr>
          <p:cNvSpPr>
            <a:spLocks noGrp="1"/>
          </p:cNvSpPr>
          <p:nvPr>
            <p:ph type="sldNum" sz="quarter" idx="12"/>
          </p:nvPr>
        </p:nvSpPr>
        <p:spPr/>
        <p:txBody>
          <a:bodyPr/>
          <a:lstStyle/>
          <a:p>
            <a:fld id="{CBABCCC1-BF11-4F37-963E-1BCD5B23FD72}" type="slidenum">
              <a:rPr lang="en-IN" smtClean="0"/>
              <a:t>12</a:t>
            </a:fld>
            <a:endParaRPr lang="en-IN"/>
          </a:p>
        </p:txBody>
      </p:sp>
      <p:pic>
        <p:nvPicPr>
          <p:cNvPr id="4" name="Picture 3">
            <a:extLst>
              <a:ext uri="{FF2B5EF4-FFF2-40B4-BE49-F238E27FC236}">
                <a16:creationId xmlns:a16="http://schemas.microsoft.com/office/drawing/2014/main" id="{0CDCD7EF-EFFA-7962-F8BE-A4D7B6FBB941}"/>
              </a:ext>
            </a:extLst>
          </p:cNvPr>
          <p:cNvPicPr>
            <a:picLocks noChangeAspect="1"/>
          </p:cNvPicPr>
          <p:nvPr/>
        </p:nvPicPr>
        <p:blipFill>
          <a:blip r:embed="rId2"/>
          <a:stretch>
            <a:fillRect/>
          </a:stretch>
        </p:blipFill>
        <p:spPr>
          <a:xfrm>
            <a:off x="2558014" y="144563"/>
            <a:ext cx="9633986" cy="6801402"/>
          </a:xfrm>
          <a:prstGeom prst="rect">
            <a:avLst/>
          </a:prstGeom>
        </p:spPr>
      </p:pic>
      <p:sp>
        <p:nvSpPr>
          <p:cNvPr id="6" name="TextBox 5">
            <a:extLst>
              <a:ext uri="{FF2B5EF4-FFF2-40B4-BE49-F238E27FC236}">
                <a16:creationId xmlns:a16="http://schemas.microsoft.com/office/drawing/2014/main" id="{7AA5EDA3-7F70-56FC-97DB-39F9022B630F}"/>
              </a:ext>
            </a:extLst>
          </p:cNvPr>
          <p:cNvSpPr txBox="1"/>
          <p:nvPr/>
        </p:nvSpPr>
        <p:spPr>
          <a:xfrm>
            <a:off x="73660" y="1591995"/>
            <a:ext cx="2852420" cy="3103735"/>
          </a:xfrm>
          <a:prstGeom prst="rect">
            <a:avLst/>
          </a:prstGeom>
          <a:noFill/>
        </p:spPr>
        <p:txBody>
          <a:bodyPr wrap="square">
            <a:spAutoFit/>
          </a:bodyPr>
          <a:lstStyle/>
          <a:p>
            <a:pPr>
              <a:lnSpc>
                <a:spcPct val="150000"/>
              </a:lnSpc>
              <a:spcBef>
                <a:spcPts val="600"/>
              </a:spcBef>
              <a:spcAft>
                <a:spcPts val="600"/>
              </a:spcAft>
            </a:pPr>
            <a:r>
              <a:rPr lang="en-US" sz="2400" b="1" dirty="0">
                <a:latin typeface="Times New Roman" panose="02020603050405020304" pitchFamily="18" charset="0"/>
                <a:cs typeface="Times New Roman" panose="02020603050405020304" pitchFamily="18" charset="0"/>
              </a:rPr>
              <a:t>Apply a GitHub Actions workflow that is triggered </a:t>
            </a:r>
          </a:p>
          <a:p>
            <a:pPr>
              <a:lnSpc>
                <a:spcPct val="150000"/>
              </a:lnSpc>
              <a:spcBef>
                <a:spcPts val="600"/>
              </a:spcBef>
              <a:spcAft>
                <a:spcPts val="600"/>
              </a:spcAft>
            </a:pPr>
            <a:r>
              <a:rPr lang="en-US" sz="2400" b="1" dirty="0">
                <a:latin typeface="Times New Roman" panose="02020603050405020304" pitchFamily="18" charset="0"/>
                <a:cs typeface="Times New Roman" panose="02020603050405020304" pitchFamily="18" charset="0"/>
              </a:rPr>
              <a:t>by a push event </a:t>
            </a:r>
          </a:p>
          <a:p>
            <a:pPr>
              <a:lnSpc>
                <a:spcPct val="150000"/>
              </a:lnSpc>
              <a:spcBef>
                <a:spcPts val="600"/>
              </a:spcBef>
              <a:spcAft>
                <a:spcPts val="600"/>
              </a:spcAft>
            </a:pPr>
            <a:r>
              <a:rPr lang="en-US" sz="2400" b="1" dirty="0">
                <a:latin typeface="Times New Roman" panose="02020603050405020304" pitchFamily="18" charset="0"/>
                <a:cs typeface="Times New Roman" panose="02020603050405020304" pitchFamily="18" charset="0"/>
              </a:rPr>
              <a:t>to the repository</a:t>
            </a:r>
            <a:r>
              <a:rPr lang="en-US" dirty="0"/>
              <a:t>:</a:t>
            </a:r>
            <a:endParaRPr lang="en-IN" dirty="0"/>
          </a:p>
        </p:txBody>
      </p:sp>
    </p:spTree>
    <p:extLst>
      <p:ext uri="{BB962C8B-B14F-4D97-AF65-F5344CB8AC3E}">
        <p14:creationId xmlns:p14="http://schemas.microsoft.com/office/powerpoint/2010/main" val="1422526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700907-D644-4571-BD42-7881E0D8AF9C}"/>
              </a:ext>
            </a:extLst>
          </p:cNvPr>
          <p:cNvSpPr>
            <a:spLocks noGrp="1"/>
          </p:cNvSpPr>
          <p:nvPr>
            <p:ph type="sldNum" sz="quarter" idx="12"/>
          </p:nvPr>
        </p:nvSpPr>
        <p:spPr/>
        <p:txBody>
          <a:bodyPr/>
          <a:lstStyle/>
          <a:p>
            <a:fld id="{CBABCCC1-BF11-4F37-963E-1BCD5B23FD72}" type="slidenum">
              <a:rPr lang="en-IN" smtClean="0"/>
              <a:t>13</a:t>
            </a:fld>
            <a:endParaRPr lang="en-IN"/>
          </a:p>
        </p:txBody>
      </p:sp>
      <p:sp>
        <p:nvSpPr>
          <p:cNvPr id="4" name="TextBox 3">
            <a:extLst>
              <a:ext uri="{FF2B5EF4-FFF2-40B4-BE49-F238E27FC236}">
                <a16:creationId xmlns:a16="http://schemas.microsoft.com/office/drawing/2014/main" id="{4B389F16-2F0C-AB92-7CE6-9B10D2C002D5}"/>
              </a:ext>
            </a:extLst>
          </p:cNvPr>
          <p:cNvSpPr txBox="1"/>
          <p:nvPr/>
        </p:nvSpPr>
        <p:spPr>
          <a:xfrm>
            <a:off x="335279" y="628233"/>
            <a:ext cx="11521440" cy="5601533"/>
          </a:xfrm>
          <a:prstGeom prst="rect">
            <a:avLst/>
          </a:prstGeom>
          <a:noFill/>
        </p:spPr>
        <p:txBody>
          <a:bodyPr wrap="square">
            <a:spAutoFit/>
          </a:bodyPr>
          <a:lstStyle/>
          <a:p>
            <a:pPr algn="just">
              <a:spcBef>
                <a:spcPts val="600"/>
              </a:spcBef>
              <a:spcAft>
                <a:spcPts val="600"/>
              </a:spcAft>
              <a:buNone/>
            </a:pPr>
            <a:r>
              <a:rPr lang="en-US" sz="2400" b="1" dirty="0">
                <a:latin typeface="Times New Roman" panose="02020603050405020304" pitchFamily="18" charset="0"/>
                <a:cs typeface="Times New Roman" panose="02020603050405020304" pitchFamily="18" charset="0"/>
              </a:rPr>
              <a:t>Explanation:</a:t>
            </a:r>
          </a:p>
          <a:p>
            <a:pPr lvl="1" algn="just">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name: Hello world</a:t>
            </a:r>
            <a:r>
              <a:rPr lang="en-US" sz="2400" dirty="0">
                <a:latin typeface="Times New Roman" panose="02020603050405020304" pitchFamily="18" charset="0"/>
                <a:cs typeface="Times New Roman" panose="02020603050405020304" pitchFamily="18" charset="0"/>
              </a:rPr>
              <a:t> — This is the name of your workflow. </a:t>
            </a:r>
          </a:p>
          <a:p>
            <a:pPr lvl="1" algn="just">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on: push</a:t>
            </a:r>
            <a:r>
              <a:rPr lang="en-US" sz="2400" dirty="0">
                <a:latin typeface="Times New Roman" panose="02020603050405020304" pitchFamily="18" charset="0"/>
                <a:cs typeface="Times New Roman" panose="02020603050405020304" pitchFamily="18" charset="0"/>
              </a:rPr>
              <a:t> — This specifies that the workflow will run when a push event happens (i.e., when code is pushed to the repository). </a:t>
            </a:r>
          </a:p>
          <a:p>
            <a:pPr lvl="1" algn="just">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jobs:</a:t>
            </a:r>
            <a:r>
              <a:rPr lang="en-US" sz="2400" dirty="0">
                <a:latin typeface="Times New Roman" panose="02020603050405020304" pitchFamily="18" charset="0"/>
                <a:cs typeface="Times New Roman" panose="02020603050405020304" pitchFamily="18" charset="0"/>
              </a:rPr>
              <a:t> — You've defined one job called build</a:t>
            </a:r>
          </a:p>
          <a:p>
            <a:pPr lvl="1" algn="just">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runs-on: ubuntu-latest</a:t>
            </a:r>
            <a:r>
              <a:rPr lang="en-US" sz="2400" dirty="0">
                <a:latin typeface="Times New Roman" panose="02020603050405020304" pitchFamily="18" charset="0"/>
                <a:cs typeface="Times New Roman" panose="02020603050405020304" pitchFamily="18" charset="0"/>
              </a:rPr>
              <a:t> — This defines the environment the job will run on. </a:t>
            </a:r>
          </a:p>
          <a:p>
            <a:pPr lvl="1" algn="just">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Steps</a:t>
            </a:r>
            <a:r>
              <a:rPr lang="en-US" sz="2400" dirty="0">
                <a:latin typeface="Times New Roman" panose="02020603050405020304" pitchFamily="18" charset="0"/>
                <a:cs typeface="Times New Roman" panose="02020603050405020304" pitchFamily="18" charset="0"/>
              </a:rPr>
              <a:t>:</a:t>
            </a:r>
          </a:p>
          <a:p>
            <a:pPr marL="1200150" lvl="2" indent="-285750" algn="just">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Checkout repository</a:t>
            </a:r>
            <a:r>
              <a:rPr lang="en-US" sz="2400" dirty="0">
                <a:latin typeface="Times New Roman" panose="02020603050405020304" pitchFamily="18" charset="0"/>
                <a:cs typeface="Times New Roman" panose="02020603050405020304" pitchFamily="18" charset="0"/>
              </a:rPr>
              <a:t> — This step uses the actions/checkout@v2 to clone your repository. This is necessary if your workflow needs to interact with the code.</a:t>
            </a:r>
          </a:p>
          <a:p>
            <a:pPr marL="1200150" lvl="2" indent="-285750" algn="just">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Write a multi-line message</a:t>
            </a:r>
            <a:r>
              <a:rPr lang="en-US" sz="2400" dirty="0">
                <a:latin typeface="Times New Roman" panose="02020603050405020304" pitchFamily="18" charset="0"/>
                <a:cs typeface="Times New Roman" panose="02020603050405020304" pitchFamily="18" charset="0"/>
              </a:rPr>
              <a:t> — This runs the echo commands to output a multi-line message to the log. The | allows you to include multiple lines in the run command, which will be printed in the log.</a:t>
            </a:r>
          </a:p>
        </p:txBody>
      </p:sp>
    </p:spTree>
    <p:extLst>
      <p:ext uri="{BB962C8B-B14F-4D97-AF65-F5344CB8AC3E}">
        <p14:creationId xmlns:p14="http://schemas.microsoft.com/office/powerpoint/2010/main" val="2118141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4924E4-06B9-669F-BF01-CAA76C77983B}"/>
              </a:ext>
            </a:extLst>
          </p:cNvPr>
          <p:cNvSpPr>
            <a:spLocks noGrp="1"/>
          </p:cNvSpPr>
          <p:nvPr>
            <p:ph type="sldNum" sz="quarter" idx="12"/>
          </p:nvPr>
        </p:nvSpPr>
        <p:spPr/>
        <p:txBody>
          <a:bodyPr/>
          <a:lstStyle/>
          <a:p>
            <a:fld id="{CBABCCC1-BF11-4F37-963E-1BCD5B23FD72}" type="slidenum">
              <a:rPr lang="en-IN" smtClean="0"/>
              <a:t>14</a:t>
            </a:fld>
            <a:endParaRPr lang="en-IN"/>
          </a:p>
        </p:txBody>
      </p:sp>
      <p:sp>
        <p:nvSpPr>
          <p:cNvPr id="3" name="TextBox 2">
            <a:extLst>
              <a:ext uri="{FF2B5EF4-FFF2-40B4-BE49-F238E27FC236}">
                <a16:creationId xmlns:a16="http://schemas.microsoft.com/office/drawing/2014/main" id="{E09D8CE0-569B-370F-F141-1380D90F0990}"/>
              </a:ext>
            </a:extLst>
          </p:cNvPr>
          <p:cNvSpPr txBox="1"/>
          <p:nvPr/>
        </p:nvSpPr>
        <p:spPr>
          <a:xfrm>
            <a:off x="4572000" y="2753360"/>
            <a:ext cx="4568943"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How to do step by step procedure</a:t>
            </a:r>
          </a:p>
        </p:txBody>
      </p:sp>
    </p:spTree>
    <p:extLst>
      <p:ext uri="{BB962C8B-B14F-4D97-AF65-F5344CB8AC3E}">
        <p14:creationId xmlns:p14="http://schemas.microsoft.com/office/powerpoint/2010/main" val="2979600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0F867F-79B4-DF5C-2586-F1E15A678739}"/>
              </a:ext>
            </a:extLst>
          </p:cNvPr>
          <p:cNvSpPr>
            <a:spLocks noGrp="1"/>
          </p:cNvSpPr>
          <p:nvPr>
            <p:ph type="sldNum" sz="quarter" idx="12"/>
          </p:nvPr>
        </p:nvSpPr>
        <p:spPr/>
        <p:txBody>
          <a:bodyPr/>
          <a:lstStyle/>
          <a:p>
            <a:fld id="{CBABCCC1-BF11-4F37-963E-1BCD5B23FD72}" type="slidenum">
              <a:rPr lang="en-IN" smtClean="0"/>
              <a:t>15</a:t>
            </a:fld>
            <a:endParaRPr lang="en-IN"/>
          </a:p>
        </p:txBody>
      </p:sp>
      <p:pic>
        <p:nvPicPr>
          <p:cNvPr id="4" name="Picture 3">
            <a:extLst>
              <a:ext uri="{FF2B5EF4-FFF2-40B4-BE49-F238E27FC236}">
                <a16:creationId xmlns:a16="http://schemas.microsoft.com/office/drawing/2014/main" id="{FD43B034-EBC2-E192-6F4D-3A46952DB1FC}"/>
              </a:ext>
            </a:extLst>
          </p:cNvPr>
          <p:cNvPicPr>
            <a:picLocks noChangeAspect="1"/>
          </p:cNvPicPr>
          <p:nvPr/>
        </p:nvPicPr>
        <p:blipFill>
          <a:blip r:embed="rId2"/>
          <a:stretch>
            <a:fillRect/>
          </a:stretch>
        </p:blipFill>
        <p:spPr>
          <a:xfrm>
            <a:off x="0" y="925678"/>
            <a:ext cx="12192000" cy="5932322"/>
          </a:xfrm>
          <a:prstGeom prst="rect">
            <a:avLst/>
          </a:prstGeom>
        </p:spPr>
      </p:pic>
      <p:sp>
        <p:nvSpPr>
          <p:cNvPr id="3" name="TextBox 2">
            <a:extLst>
              <a:ext uri="{FF2B5EF4-FFF2-40B4-BE49-F238E27FC236}">
                <a16:creationId xmlns:a16="http://schemas.microsoft.com/office/drawing/2014/main" id="{0B6968B5-4D87-37E4-8141-94631E4A16F2}"/>
              </a:ext>
            </a:extLst>
          </p:cNvPr>
          <p:cNvSpPr txBox="1"/>
          <p:nvPr/>
        </p:nvSpPr>
        <p:spPr>
          <a:xfrm>
            <a:off x="1645920" y="467360"/>
            <a:ext cx="9158854" cy="461665"/>
          </a:xfrm>
          <a:prstGeom prst="rect">
            <a:avLst/>
          </a:prstGeom>
          <a:noFill/>
        </p:spPr>
        <p:txBody>
          <a:bodyPr wrap="none" rtlCol="0">
            <a:spAutoFit/>
          </a:bodyPr>
          <a:lstStyle/>
          <a:p>
            <a:r>
              <a:rPr lang="en-IN" sz="2400" dirty="0">
                <a:latin typeface="Times New Roman" panose="02020603050405020304" pitchFamily="18" charset="0"/>
                <a:cs typeface="Times New Roman" panose="02020603050405020304" pitchFamily="18" charset="0"/>
              </a:rPr>
              <a:t>1.Create a repository named .</a:t>
            </a:r>
            <a:r>
              <a:rPr lang="en-IN" sz="2400" dirty="0" err="1">
                <a:latin typeface="Times New Roman" panose="02020603050405020304" pitchFamily="18" charset="0"/>
                <a:cs typeface="Times New Roman" panose="02020603050405020304" pitchFamily="18" charset="0"/>
              </a:rPr>
              <a:t>github</a:t>
            </a:r>
            <a:r>
              <a:rPr lang="en-IN" sz="2400" dirty="0">
                <a:latin typeface="Times New Roman" panose="02020603050405020304" pitchFamily="18" charset="0"/>
                <a:cs typeface="Times New Roman" panose="02020603050405020304" pitchFamily="18" charset="0"/>
              </a:rPr>
              <a:t>/workflows in the given repository</a:t>
            </a:r>
          </a:p>
        </p:txBody>
      </p:sp>
    </p:spTree>
    <p:extLst>
      <p:ext uri="{BB962C8B-B14F-4D97-AF65-F5344CB8AC3E}">
        <p14:creationId xmlns:p14="http://schemas.microsoft.com/office/powerpoint/2010/main" val="3347818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080B46-6414-B3C0-0F61-5DF23D91BF36}"/>
              </a:ext>
            </a:extLst>
          </p:cNvPr>
          <p:cNvSpPr>
            <a:spLocks noGrp="1"/>
          </p:cNvSpPr>
          <p:nvPr>
            <p:ph type="sldNum" sz="quarter" idx="12"/>
          </p:nvPr>
        </p:nvSpPr>
        <p:spPr/>
        <p:txBody>
          <a:bodyPr/>
          <a:lstStyle/>
          <a:p>
            <a:fld id="{CBABCCC1-BF11-4F37-963E-1BCD5B23FD72}" type="slidenum">
              <a:rPr lang="en-IN" smtClean="0"/>
              <a:t>16</a:t>
            </a:fld>
            <a:endParaRPr lang="en-IN"/>
          </a:p>
        </p:txBody>
      </p:sp>
      <p:pic>
        <p:nvPicPr>
          <p:cNvPr id="6" name="Picture 5">
            <a:extLst>
              <a:ext uri="{FF2B5EF4-FFF2-40B4-BE49-F238E27FC236}">
                <a16:creationId xmlns:a16="http://schemas.microsoft.com/office/drawing/2014/main" id="{725A5700-57B6-159C-6275-90266CDCFF69}"/>
              </a:ext>
            </a:extLst>
          </p:cNvPr>
          <p:cNvPicPr>
            <a:picLocks noChangeAspect="1"/>
          </p:cNvPicPr>
          <p:nvPr/>
        </p:nvPicPr>
        <p:blipFill>
          <a:blip r:embed="rId2"/>
          <a:stretch>
            <a:fillRect/>
          </a:stretch>
        </p:blipFill>
        <p:spPr>
          <a:xfrm>
            <a:off x="152400" y="1198524"/>
            <a:ext cx="11431442" cy="5659475"/>
          </a:xfrm>
          <a:prstGeom prst="rect">
            <a:avLst/>
          </a:prstGeom>
        </p:spPr>
      </p:pic>
      <p:sp>
        <p:nvSpPr>
          <p:cNvPr id="3" name="TextBox 2">
            <a:extLst>
              <a:ext uri="{FF2B5EF4-FFF2-40B4-BE49-F238E27FC236}">
                <a16:creationId xmlns:a16="http://schemas.microsoft.com/office/drawing/2014/main" id="{576117F1-0128-3448-DB08-1AAA01F0A317}"/>
              </a:ext>
            </a:extLst>
          </p:cNvPr>
          <p:cNvSpPr txBox="1"/>
          <p:nvPr/>
        </p:nvSpPr>
        <p:spPr>
          <a:xfrm>
            <a:off x="1645919" y="467360"/>
            <a:ext cx="8720445" cy="83099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2. Create the </a:t>
            </a:r>
            <a:r>
              <a:rPr lang="en-IN" sz="2400" dirty="0" err="1">
                <a:latin typeface="Times New Roman" panose="02020603050405020304" pitchFamily="18" charset="0"/>
                <a:cs typeface="Times New Roman" panose="02020603050405020304" pitchFamily="18" charset="0"/>
              </a:rPr>
              <a:t>yaml</a:t>
            </a:r>
            <a:r>
              <a:rPr lang="en-IN" sz="2400" dirty="0">
                <a:latin typeface="Times New Roman" panose="02020603050405020304" pitchFamily="18" charset="0"/>
                <a:cs typeface="Times New Roman" panose="02020603050405020304" pitchFamily="18" charset="0"/>
              </a:rPr>
              <a:t> file and </a:t>
            </a:r>
            <a:r>
              <a:rPr lang="en-IN" sz="2400" dirty="0"/>
              <a:t>then click on commit changes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7764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DB8D18-CBDB-AA55-5D5D-0F3D84A4E3CF}"/>
              </a:ext>
            </a:extLst>
          </p:cNvPr>
          <p:cNvSpPr>
            <a:spLocks noGrp="1"/>
          </p:cNvSpPr>
          <p:nvPr>
            <p:ph type="sldNum" sz="quarter" idx="12"/>
          </p:nvPr>
        </p:nvSpPr>
        <p:spPr/>
        <p:txBody>
          <a:bodyPr/>
          <a:lstStyle/>
          <a:p>
            <a:fld id="{CBABCCC1-BF11-4F37-963E-1BCD5B23FD72}" type="slidenum">
              <a:rPr lang="en-IN" smtClean="0"/>
              <a:t>17</a:t>
            </a:fld>
            <a:endParaRPr lang="en-IN"/>
          </a:p>
        </p:txBody>
      </p:sp>
      <p:pic>
        <p:nvPicPr>
          <p:cNvPr id="4" name="Picture 3">
            <a:extLst>
              <a:ext uri="{FF2B5EF4-FFF2-40B4-BE49-F238E27FC236}">
                <a16:creationId xmlns:a16="http://schemas.microsoft.com/office/drawing/2014/main" id="{745DA5E3-F6AD-45DD-3357-86E08286B0CB}"/>
              </a:ext>
            </a:extLst>
          </p:cNvPr>
          <p:cNvPicPr>
            <a:picLocks noChangeAspect="1"/>
          </p:cNvPicPr>
          <p:nvPr/>
        </p:nvPicPr>
        <p:blipFill>
          <a:blip r:embed="rId2"/>
          <a:stretch>
            <a:fillRect/>
          </a:stretch>
        </p:blipFill>
        <p:spPr>
          <a:xfrm>
            <a:off x="0" y="1567903"/>
            <a:ext cx="12192000" cy="4534993"/>
          </a:xfrm>
          <a:prstGeom prst="rect">
            <a:avLst/>
          </a:prstGeom>
        </p:spPr>
      </p:pic>
      <p:sp>
        <p:nvSpPr>
          <p:cNvPr id="5" name="TextBox 4">
            <a:extLst>
              <a:ext uri="{FF2B5EF4-FFF2-40B4-BE49-F238E27FC236}">
                <a16:creationId xmlns:a16="http://schemas.microsoft.com/office/drawing/2014/main" id="{E32A433F-DA5B-9DF2-7CB7-5C49D783D67B}"/>
              </a:ext>
            </a:extLst>
          </p:cNvPr>
          <p:cNvSpPr txBox="1"/>
          <p:nvPr/>
        </p:nvSpPr>
        <p:spPr>
          <a:xfrm>
            <a:off x="1280160" y="372795"/>
            <a:ext cx="9946640" cy="830997"/>
          </a:xfrm>
          <a:prstGeom prst="rect">
            <a:avLst/>
          </a:prstGeom>
          <a:noFill/>
        </p:spPr>
        <p:txBody>
          <a:bodyPr wrap="square">
            <a:spAutoFit/>
          </a:bodyPr>
          <a:lstStyle/>
          <a:p>
            <a:r>
              <a:rPr lang="en-US" sz="2400" b="0" i="0" dirty="0">
                <a:solidFill>
                  <a:srgbClr val="303E49"/>
                </a:solidFill>
                <a:effectLst/>
                <a:latin typeface="Times New Roman" panose="02020603050405020304" pitchFamily="18" charset="0"/>
                <a:cs typeface="Times New Roman" panose="02020603050405020304" pitchFamily="18" charset="0"/>
              </a:rPr>
              <a:t>3. Go to the repository’s page on GitHub and click the </a:t>
            </a:r>
            <a:r>
              <a:rPr lang="en-US" sz="2400" b="1" i="0" dirty="0">
                <a:solidFill>
                  <a:srgbClr val="303E49"/>
                </a:solidFill>
                <a:effectLst/>
                <a:latin typeface="Times New Roman" panose="02020603050405020304" pitchFamily="18" charset="0"/>
                <a:cs typeface="Times New Roman" panose="02020603050405020304" pitchFamily="18" charset="0"/>
              </a:rPr>
              <a:t>Actions </a:t>
            </a:r>
            <a:r>
              <a:rPr lang="en-US" sz="2400" b="0" i="0" dirty="0">
                <a:solidFill>
                  <a:srgbClr val="303E49"/>
                </a:solidFill>
                <a:effectLst/>
                <a:latin typeface="Times New Roman" panose="02020603050405020304" pitchFamily="18" charset="0"/>
                <a:cs typeface="Times New Roman" panose="02020603050405020304" pitchFamily="18" charset="0"/>
              </a:rPr>
              <a:t>tab under the repository’s name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5824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A32940-F5FB-29B5-5669-5FD83D19A294}"/>
              </a:ext>
            </a:extLst>
          </p:cNvPr>
          <p:cNvSpPr>
            <a:spLocks noGrp="1"/>
          </p:cNvSpPr>
          <p:nvPr>
            <p:ph type="sldNum" sz="quarter" idx="12"/>
          </p:nvPr>
        </p:nvSpPr>
        <p:spPr/>
        <p:txBody>
          <a:bodyPr/>
          <a:lstStyle/>
          <a:p>
            <a:fld id="{CBABCCC1-BF11-4F37-963E-1BCD5B23FD72}" type="slidenum">
              <a:rPr lang="en-IN" smtClean="0"/>
              <a:t>18</a:t>
            </a:fld>
            <a:endParaRPr lang="en-IN"/>
          </a:p>
        </p:txBody>
      </p:sp>
      <p:pic>
        <p:nvPicPr>
          <p:cNvPr id="4" name="Picture 3">
            <a:extLst>
              <a:ext uri="{FF2B5EF4-FFF2-40B4-BE49-F238E27FC236}">
                <a16:creationId xmlns:a16="http://schemas.microsoft.com/office/drawing/2014/main" id="{5EF72307-1D58-CA99-233D-C4B6DCA6C402}"/>
              </a:ext>
            </a:extLst>
          </p:cNvPr>
          <p:cNvPicPr>
            <a:picLocks noChangeAspect="1"/>
          </p:cNvPicPr>
          <p:nvPr/>
        </p:nvPicPr>
        <p:blipFill>
          <a:blip r:embed="rId2"/>
          <a:stretch>
            <a:fillRect/>
          </a:stretch>
        </p:blipFill>
        <p:spPr>
          <a:xfrm>
            <a:off x="0" y="687176"/>
            <a:ext cx="12192000" cy="5483648"/>
          </a:xfrm>
          <a:prstGeom prst="rect">
            <a:avLst/>
          </a:prstGeom>
        </p:spPr>
      </p:pic>
      <p:sp>
        <p:nvSpPr>
          <p:cNvPr id="5" name="TextBox 4">
            <a:extLst>
              <a:ext uri="{FF2B5EF4-FFF2-40B4-BE49-F238E27FC236}">
                <a16:creationId xmlns:a16="http://schemas.microsoft.com/office/drawing/2014/main" id="{13817CB1-3D5D-AF3D-E955-6E37120F4635}"/>
              </a:ext>
            </a:extLst>
          </p:cNvPr>
          <p:cNvSpPr txBox="1"/>
          <p:nvPr/>
        </p:nvSpPr>
        <p:spPr>
          <a:xfrm>
            <a:off x="1330960" y="243695"/>
            <a:ext cx="10657840" cy="461665"/>
          </a:xfrm>
          <a:prstGeom prst="rect">
            <a:avLst/>
          </a:prstGeom>
          <a:noFill/>
        </p:spPr>
        <p:txBody>
          <a:bodyPr wrap="square">
            <a:spAutoFit/>
          </a:bodyPr>
          <a:lstStyle/>
          <a:p>
            <a:r>
              <a:rPr lang="en-US" sz="2400" b="0" i="0" dirty="0">
                <a:solidFill>
                  <a:srgbClr val="303E49"/>
                </a:solidFill>
                <a:effectLst/>
                <a:latin typeface="Times New Roman" panose="02020603050405020304" pitchFamily="18" charset="0"/>
                <a:cs typeface="Times New Roman" panose="02020603050405020304" pitchFamily="18" charset="0"/>
              </a:rPr>
              <a:t>4.The job name and status will appear on the left. In this case, it will be </a:t>
            </a:r>
            <a:r>
              <a:rPr lang="en-US" sz="2400" b="1" i="0" dirty="0">
                <a:solidFill>
                  <a:srgbClr val="303E49"/>
                </a:solidFill>
                <a:effectLst/>
                <a:latin typeface="Times New Roman" panose="02020603050405020304" pitchFamily="18" charset="0"/>
                <a:cs typeface="Times New Roman" panose="02020603050405020304" pitchFamily="18" charset="0"/>
              </a:rPr>
              <a:t>Hello World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0349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DA8E11-3E33-7A52-5963-FBAAF9498E62}"/>
              </a:ext>
            </a:extLst>
          </p:cNvPr>
          <p:cNvSpPr>
            <a:spLocks noGrp="1"/>
          </p:cNvSpPr>
          <p:nvPr>
            <p:ph type="sldNum" sz="quarter" idx="12"/>
          </p:nvPr>
        </p:nvSpPr>
        <p:spPr/>
        <p:txBody>
          <a:bodyPr/>
          <a:lstStyle/>
          <a:p>
            <a:fld id="{CBABCCC1-BF11-4F37-963E-1BCD5B23FD72}" type="slidenum">
              <a:rPr lang="en-IN" smtClean="0"/>
              <a:t>19</a:t>
            </a:fld>
            <a:endParaRPr lang="en-IN"/>
          </a:p>
        </p:txBody>
      </p:sp>
      <p:pic>
        <p:nvPicPr>
          <p:cNvPr id="4" name="Picture 3">
            <a:extLst>
              <a:ext uri="{FF2B5EF4-FFF2-40B4-BE49-F238E27FC236}">
                <a16:creationId xmlns:a16="http://schemas.microsoft.com/office/drawing/2014/main" id="{353B8CFD-0E68-C0B0-D331-C2C2B23C54FF}"/>
              </a:ext>
            </a:extLst>
          </p:cNvPr>
          <p:cNvPicPr>
            <a:picLocks noChangeAspect="1"/>
          </p:cNvPicPr>
          <p:nvPr/>
        </p:nvPicPr>
        <p:blipFill>
          <a:blip r:embed="rId2"/>
          <a:stretch>
            <a:fillRect/>
          </a:stretch>
        </p:blipFill>
        <p:spPr>
          <a:xfrm>
            <a:off x="91440" y="1165189"/>
            <a:ext cx="12192000" cy="5125950"/>
          </a:xfrm>
          <a:prstGeom prst="rect">
            <a:avLst/>
          </a:prstGeom>
        </p:spPr>
      </p:pic>
      <p:sp>
        <p:nvSpPr>
          <p:cNvPr id="5" name="TextBox 4">
            <a:extLst>
              <a:ext uri="{FF2B5EF4-FFF2-40B4-BE49-F238E27FC236}">
                <a16:creationId xmlns:a16="http://schemas.microsoft.com/office/drawing/2014/main" id="{9BB0C204-006E-5A7A-BAD6-C08C99F28A40}"/>
              </a:ext>
            </a:extLst>
          </p:cNvPr>
          <p:cNvSpPr txBox="1"/>
          <p:nvPr/>
        </p:nvSpPr>
        <p:spPr>
          <a:xfrm>
            <a:off x="1780540" y="336028"/>
            <a:ext cx="9690100" cy="461665"/>
          </a:xfrm>
          <a:prstGeom prst="rect">
            <a:avLst/>
          </a:prstGeom>
          <a:noFill/>
        </p:spPr>
        <p:txBody>
          <a:bodyPr wrap="square">
            <a:spAutoFit/>
          </a:bodyPr>
          <a:lstStyle/>
          <a:p>
            <a:pPr algn="l"/>
            <a:r>
              <a:rPr lang="en-US" sz="2400" b="0" i="0" dirty="0">
                <a:effectLst/>
                <a:latin typeface="Times New Roman" panose="02020603050405020304" pitchFamily="18" charset="0"/>
                <a:cs typeface="Times New Roman" panose="02020603050405020304" pitchFamily="18" charset="0"/>
              </a:rPr>
              <a:t>5.Clicking on the job will show the output from each step in the workflow.</a:t>
            </a:r>
          </a:p>
        </p:txBody>
      </p:sp>
    </p:spTree>
    <p:extLst>
      <p:ext uri="{BB962C8B-B14F-4D97-AF65-F5344CB8AC3E}">
        <p14:creationId xmlns:p14="http://schemas.microsoft.com/office/powerpoint/2010/main" val="2144127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524146" y="1595121"/>
            <a:ext cx="7920111" cy="3158754"/>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800" b="1" dirty="0">
                <a:solidFill>
                  <a:schemeClr val="bg1"/>
                </a:solidFill>
                <a:latin typeface="Times New Roman" panose="02020603050405020304" pitchFamily="18" charset="0"/>
                <a:cs typeface="Times New Roman" panose="02020603050405020304" pitchFamily="18" charset="0"/>
              </a:rPr>
              <a:t>Foundations Of Cloud-native Computing &amp; </a:t>
            </a:r>
            <a:r>
              <a:rPr lang="en-US" sz="2800" b="1" dirty="0" err="1">
                <a:solidFill>
                  <a:schemeClr val="bg1"/>
                </a:solidFill>
                <a:latin typeface="Times New Roman" panose="02020603050405020304" pitchFamily="18" charset="0"/>
                <a:cs typeface="Times New Roman" panose="02020603050405020304" pitchFamily="18" charset="0"/>
              </a:rPr>
              <a:t>Devops</a:t>
            </a:r>
            <a:r>
              <a:rPr lang="en-US" sz="2800" dirty="0">
                <a:solidFill>
                  <a:schemeClr val="bg1"/>
                </a:solidFill>
              </a:rPr>
              <a:t>	</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392614" y="2235201"/>
            <a:ext cx="3235570" cy="1083212"/>
          </a:xfrm>
          <a:prstGeom prst="rect">
            <a:avLst/>
          </a:prstGeom>
          <a:noFill/>
        </p:spPr>
      </p:pic>
    </p:spTree>
    <p:extLst>
      <p:ext uri="{BB962C8B-B14F-4D97-AF65-F5344CB8AC3E}">
        <p14:creationId xmlns:p14="http://schemas.microsoft.com/office/powerpoint/2010/main" val="359138427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Session-2</Template>
  <TotalTime>1153</TotalTime>
  <Words>1010</Words>
  <Application>Microsoft Office PowerPoint</Application>
  <PresentationFormat>Widescreen</PresentationFormat>
  <Paragraphs>104</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Gill Sans MT</vt:lpstr>
      <vt:lpstr>Lato</vt:lpstr>
      <vt:lpstr>Poppins</vt:lpstr>
      <vt:lpstr>Times New Roman</vt:lpstr>
      <vt:lpstr>Gallery</vt:lpstr>
      <vt:lpstr>Department of CSIT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Abhishek Guru</dc:creator>
  <cp:lastModifiedBy>Lavanya Susanna</cp:lastModifiedBy>
  <cp:revision>130</cp:revision>
  <dcterms:created xsi:type="dcterms:W3CDTF">2023-05-02T16:26:00Z</dcterms:created>
  <dcterms:modified xsi:type="dcterms:W3CDTF">2026-02-17T07:25:14Z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9D92E8B3CCDD4F159E81FC5DAC5EB7AA_13</vt:lpwstr>
  </property>
  <property fmtid="{D5CDD505-2E9C-101B-9397-08002B2CF9AE}" pid="3" name="KSOProductBuildVer">
    <vt:lpwstr>1033-12.2.0.17119</vt:lpwstr>
  </property>
</Properties>
</file>