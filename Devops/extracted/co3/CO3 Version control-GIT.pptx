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33"/>
  </p:notesMasterIdLst>
  <p:handoutMasterIdLst>
    <p:handoutMasterId r:id="rId34"/>
  </p:handoutMasterIdLst>
  <p:sldIdLst>
    <p:sldId id="268" r:id="rId2"/>
    <p:sldId id="328" r:id="rId3"/>
    <p:sldId id="330" r:id="rId4"/>
    <p:sldId id="331" r:id="rId5"/>
    <p:sldId id="332" r:id="rId6"/>
    <p:sldId id="343" r:id="rId7"/>
    <p:sldId id="336" r:id="rId8"/>
    <p:sldId id="334" r:id="rId9"/>
    <p:sldId id="339" r:id="rId10"/>
    <p:sldId id="341" r:id="rId11"/>
    <p:sldId id="342" r:id="rId12"/>
    <p:sldId id="344" r:id="rId13"/>
    <p:sldId id="345" r:id="rId14"/>
    <p:sldId id="346" r:id="rId15"/>
    <p:sldId id="347" r:id="rId16"/>
    <p:sldId id="348" r:id="rId17"/>
    <p:sldId id="349" r:id="rId18"/>
    <p:sldId id="350" r:id="rId19"/>
    <p:sldId id="351" r:id="rId20"/>
    <p:sldId id="352" r:id="rId21"/>
    <p:sldId id="354" r:id="rId22"/>
    <p:sldId id="353" r:id="rId23"/>
    <p:sldId id="356" r:id="rId24"/>
    <p:sldId id="357" r:id="rId25"/>
    <p:sldId id="358" r:id="rId26"/>
    <p:sldId id="359" r:id="rId27"/>
    <p:sldId id="360" r:id="rId28"/>
    <p:sldId id="361" r:id="rId29"/>
    <p:sldId id="362" r:id="rId30"/>
    <p:sldId id="355" r:id="rId31"/>
    <p:sldId id="272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Course Title, Topic Name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75D750-AD1D-4C03-A026-1768137CC901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College of Engineering, KONERU LAKSHMAIAH EDUCATION FOUNDATION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4566E6-FD90-4AE7-9488-620D46A968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5795830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Course Title, Topic Name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26BB4A-8EA9-40D4-95BF-21E04B247614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College of Engineering, KONERU LAKSHMAIAH EDUCATION FOUNDATION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3BDDA1-7BB7-447A-97DE-AE5425C8F2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2635897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IN"/>
              <a:t>Course Title, Topic Name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College of Engineering, KONERU LAKSHMAIAH EDUCATION FOUNDATION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3BDDA1-7BB7-447A-97DE-AE5425C8F2AD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64940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IN"/>
              <a:t>Course Title, Topic Name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College of Engineering, KONERU LAKSHMAIAH EDUCATION FOUNDATION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3BDDA1-7BB7-447A-97DE-AE5425C8F2AD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56782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IN"/>
              <a:t>Course Title, Topic Name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College of Engineering, KONERU LAKSHMAIAH EDUCATION FOUNDATION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3BDDA1-7BB7-447A-97DE-AE5425C8F2AD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88497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IN"/>
              <a:t>Course Title, Topic Name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College of Engineering, KONERU LAKSHMAIAH EDUCATION FOUNDATION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3BDDA1-7BB7-447A-97DE-AE5425C8F2AD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94418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IN"/>
              <a:t>Course Title, Topic Name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College of Engineering, KONERU LAKSHMAIAH EDUCATION FOUNDATION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3BDDA1-7BB7-447A-97DE-AE5425C8F2AD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83760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IN"/>
              <a:t>Course Title, Topic Name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College of Engineering, KONERU LAKSHMAIAH EDUCATION FOUNDATION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3BDDA1-7BB7-447A-97DE-AE5425C8F2AD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51308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IN"/>
              <a:t>Course Title, Topic Name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College of Engineering, KONERU LAKSHMAIAH EDUCATION FOUNDATION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3BDDA1-7BB7-447A-97DE-AE5425C8F2AD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81111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IN"/>
              <a:t>Course Title, Topic Name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College of Engineering, KONERU LAKSHMAIAH EDUCATION FOUNDATION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3BDDA1-7BB7-447A-97DE-AE5425C8F2AD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32206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IN"/>
              <a:t>Course Title, Topic Name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College of Engineering, KONERU LAKSHMAIAH EDUCATION FOUNDATION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3BDDA1-7BB7-447A-97DE-AE5425C8F2AD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17678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9" y="379083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690490" y="6291139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ctr">
              <a:defRPr sz="2200">
                <a:solidFill>
                  <a:schemeClr val="accent1"/>
                </a:solidFill>
              </a:defRPr>
            </a:lvl1pPr>
          </a:lstStyle>
          <a:p>
            <a:fld id="{CBABCCC1-BF11-4F37-963E-1BCD5B23FD72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Icon&#10;&#10;Description automatically generated with medium confidence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44" y="32699"/>
            <a:ext cx="1218935" cy="50098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 userDrawn="1"/>
        </p:nvPicPr>
        <p:blipFill rotWithShape="1"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60" t="18054" b="50110"/>
          <a:stretch>
            <a:fillRect/>
          </a:stretch>
        </p:blipFill>
        <p:spPr>
          <a:xfrm>
            <a:off x="1451579" y="6373097"/>
            <a:ext cx="2912198" cy="351077"/>
          </a:xfrm>
          <a:prstGeom prst="rect">
            <a:avLst/>
          </a:prstGeom>
        </p:spPr>
      </p:pic>
      <p:pic>
        <p:nvPicPr>
          <p:cNvPr id="14" name="Picture 13" descr="Text&#10;&#10;Description automatically generated with medium confidence"/>
          <p:cNvPicPr>
            <a:picLocks noChangeAspect="1"/>
          </p:cNvPicPr>
          <p:nvPr userDrawn="1"/>
        </p:nvPicPr>
        <p:blipFill rotWithShape="1"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957" r="20929" b="13232"/>
          <a:stretch>
            <a:fillRect/>
          </a:stretch>
        </p:blipFill>
        <p:spPr>
          <a:xfrm>
            <a:off x="8825503" y="6373097"/>
            <a:ext cx="2229351" cy="335027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464;p16"/>
          <p:cNvPicPr preferRelativeResize="0"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28" y="356260"/>
            <a:ext cx="5545776" cy="5684061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475;p16"/>
          <p:cNvSpPr txBox="1">
            <a:spLocks noGrp="1"/>
          </p:cNvSpPr>
          <p:nvPr>
            <p:ph type="ctrTitle"/>
          </p:nvPr>
        </p:nvSpPr>
        <p:spPr>
          <a:xfrm>
            <a:off x="4039419" y="557484"/>
            <a:ext cx="8637073" cy="480091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CSIT</a:t>
            </a:r>
          </a:p>
        </p:txBody>
      </p:sp>
      <p:sp>
        <p:nvSpPr>
          <p:cNvPr id="6" name="Google Shape;476;p16"/>
          <p:cNvSpPr txBox="1"/>
          <p:nvPr/>
        </p:nvSpPr>
        <p:spPr>
          <a:xfrm>
            <a:off x="4819387" y="1203208"/>
            <a:ext cx="7077136" cy="4524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sz="2400" b="1" cap="all" dirty="0">
                <a:ln/>
                <a:latin typeface="Times New Roman" panose="02020603050405020304" pitchFamily="18" charset="0"/>
                <a:cs typeface="Times New Roman" panose="02020603050405020304" pitchFamily="18" charset="0"/>
                <a:sym typeface="BioRhyme ExtraBold"/>
              </a:rPr>
              <a:t>COURSE NAME </a:t>
            </a:r>
            <a:endParaRPr lang="en-IN" dirty="0"/>
          </a:p>
          <a:p>
            <a:pPr algn="ctr"/>
            <a:r>
              <a:rPr lang="en-US" dirty="0"/>
              <a:t> </a:t>
            </a:r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FOUNDATIONS OF CLOUD-NATIVE COMPUTING &amp; DEVOPS</a:t>
            </a:r>
            <a:r>
              <a:rPr lang="en-US" dirty="0"/>
              <a:t>	</a:t>
            </a:r>
          </a:p>
          <a:p>
            <a:pPr marR="0" lvl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400" b="1" cap="all" dirty="0">
              <a:ln/>
              <a:latin typeface="Times New Roman" panose="02020603050405020304" pitchFamily="18" charset="0"/>
              <a:cs typeface="Times New Roman" panose="02020603050405020304" pitchFamily="18" charset="0"/>
              <a:sym typeface="BioRhyme ExtraBold"/>
            </a:endParaRPr>
          </a:p>
          <a:p>
            <a:pPr algn="ctr"/>
            <a:r>
              <a:rPr lang="en-US" sz="2400" b="1" cap="all" dirty="0">
                <a:ln/>
                <a:latin typeface="Times New Roman" panose="02020603050405020304" pitchFamily="18" charset="0"/>
                <a:cs typeface="Times New Roman" panose="02020603050405020304" pitchFamily="18" charset="0"/>
                <a:sym typeface="BioRhyme ExtraBold"/>
              </a:rPr>
              <a:t>COURSE CODE </a:t>
            </a:r>
            <a:r>
              <a:rPr lang="en-US" sz="2400" b="1" cap="all" dirty="0">
                <a:ln/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BioRhyme ExtraBold"/>
              </a:rPr>
              <a:t>–</a:t>
            </a:r>
            <a:r>
              <a:rPr lang="en-IN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24CS2260F</a:t>
            </a:r>
            <a:r>
              <a:rPr lang="en-IN" dirty="0"/>
              <a:t>	</a:t>
            </a:r>
          </a:p>
          <a:p>
            <a:pPr marR="0" lvl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sz="2400" b="1" dirty="0">
              <a:solidFill>
                <a:srgbClr val="C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BioRhyme ExtraBold"/>
                <a:cs typeface="Times New Roman" panose="02020603050405020304" pitchFamily="18" charset="0"/>
                <a:sym typeface="BioRhyme ExtraBold"/>
              </a:rPr>
              <a:t>Topic: </a:t>
            </a:r>
          </a:p>
          <a:p>
            <a:pPr algn="ctr">
              <a:lnSpc>
                <a:spcPct val="150000"/>
              </a:lnSpc>
            </a:pPr>
            <a:r>
              <a:rPr lang="en-IN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 branching strategy</a:t>
            </a:r>
          </a:p>
          <a:p>
            <a:pPr algn="ctr">
              <a:lnSpc>
                <a:spcPct val="150000"/>
              </a:lnSpc>
            </a:pP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Google Shape;502;p17">
            <a:extLst>
              <a:ext uri="{FF2B5EF4-FFF2-40B4-BE49-F238E27FC236}">
                <a16:creationId xmlns:a16="http://schemas.microsoft.com/office/drawing/2014/main" id="{7153E61F-4441-DBE3-3DFF-6E9EF6C48D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46108" y="3791480"/>
            <a:ext cx="2161309" cy="544625"/>
          </a:xfrm>
          <a:prstGeom prst="roundRect">
            <a:avLst>
              <a:gd name="adj" fmla="val 35613"/>
            </a:avLst>
          </a:prstGeom>
          <a:solidFill>
            <a:srgbClr val="C00000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lt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Session - </a:t>
            </a:r>
            <a:endParaRPr sz="2400" b="1" dirty="0">
              <a:solidFill>
                <a:schemeClr val="lt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205133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24D03-84E3-C20F-CFFC-447EA8890E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 of  Version control systems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CAEEA4-CD16-32D7-F6FE-926F11CC30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0042" y="2015732"/>
            <a:ext cx="9798518" cy="3951931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Version control is a system that records changes to a file or set of files over time so that specific versions can be recalled later. It is essential in managing project files in software development</a:t>
            </a:r>
          </a:p>
          <a:p>
            <a:pPr algn="just">
              <a:lnSpc>
                <a:spcPct val="150000"/>
              </a:lnSpc>
            </a:pPr>
            <a:r>
              <a:rPr lang="en-US" sz="2400" b="0" i="0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By integrating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Version control system</a:t>
            </a:r>
            <a:r>
              <a:rPr lang="en-US" sz="2400" b="0" i="0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into DevOps practices, teams can achieve higher efficiency, better collaboration, and more reliable software delivery.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30F8EE-F4D2-DCFB-39AB-19CF45075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24190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720D6-9AC9-E3E5-6B3A-595537BA2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80" y="966497"/>
            <a:ext cx="9603275" cy="1049235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functionalities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5BBBA4-572E-1EA3-6951-0501D6AE5F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7399" y="2015732"/>
            <a:ext cx="10217456" cy="3450613"/>
          </a:xfrm>
        </p:spPr>
        <p:txBody>
          <a:bodyPr>
            <a:noAutofit/>
          </a:bodyPr>
          <a:lstStyle/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Repository Management: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involves storing and managing code in a central location, enabling multiple users to collaborate and operate on a project.</a:t>
            </a:r>
          </a:p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Branching and merging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 Allows developers to create separate line of development, manage changes in isolation and integrate them back to main codebase without conflicts.</a:t>
            </a:r>
          </a:p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Change Tracking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Keeps a history of all the changes made to codebase, helping to understand what modifications are done by whom and when they were done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11133E-E725-A79C-8E13-620B7247C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53340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EE099CE-D186-B611-A3C1-24DFBF775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4</a:t>
            </a:fld>
            <a:endParaRPr lang="en-IN"/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DDCC966E-EFFE-7443-2B72-48EFDB0B732F}"/>
              </a:ext>
            </a:extLst>
          </p:cNvPr>
          <p:cNvSpPr txBox="1"/>
          <p:nvPr/>
        </p:nvSpPr>
        <p:spPr>
          <a:xfrm>
            <a:off x="1036320" y="1062807"/>
            <a:ext cx="11155680" cy="4732386"/>
          </a:xfrm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L="409575" indent="-397510">
              <a:lnSpc>
                <a:spcPct val="150000"/>
              </a:lnSpc>
              <a:spcBef>
                <a:spcPts val="560"/>
              </a:spcBef>
              <a:buFont typeface="Tahoma"/>
              <a:buChar char="●"/>
              <a:tabLst>
                <a:tab pos="409575" algn="l"/>
                <a:tab pos="410209" algn="l"/>
              </a:tabLst>
            </a:pPr>
            <a:r>
              <a:rPr lang="en-IN"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a 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Version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en-IN"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which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66775" lvl="1" indent="-367030">
              <a:lnSpc>
                <a:spcPct val="150000"/>
              </a:lnSpc>
              <a:spcBef>
                <a:spcPts val="375"/>
              </a:spcBef>
              <a:buFont typeface="Tahoma"/>
              <a:buChar char="○"/>
              <a:tabLst>
                <a:tab pos="866775" algn="l"/>
                <a:tab pos="867410" algn="l"/>
              </a:tabLst>
            </a:pP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Keep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careful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changes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your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ﬁles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66775" lvl="1" indent="-367030">
              <a:lnSpc>
                <a:spcPct val="150000"/>
              </a:lnSpc>
              <a:spcBef>
                <a:spcPts val="315"/>
              </a:spcBef>
              <a:buFont typeface="Tahoma"/>
              <a:buChar char="○"/>
              <a:tabLst>
                <a:tab pos="866775" algn="l"/>
                <a:tab pos="867410" algn="l"/>
              </a:tabLst>
            </a:pP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Collaborate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others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your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projects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easily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66775" lvl="1" indent="-367030">
              <a:lnSpc>
                <a:spcPct val="150000"/>
              </a:lnSpc>
              <a:spcBef>
                <a:spcPts val="315"/>
              </a:spcBef>
              <a:buFont typeface="Tahoma"/>
              <a:buChar char="○"/>
              <a:tabLst>
                <a:tab pos="866775" algn="l"/>
                <a:tab pos="867410" algn="l"/>
              </a:tabLst>
            </a:pPr>
            <a:r>
              <a:rPr sz="24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changes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without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losing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original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versions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66775" lvl="1" indent="-367030">
              <a:lnSpc>
                <a:spcPct val="150000"/>
              </a:lnSpc>
              <a:spcBef>
                <a:spcPts val="315"/>
              </a:spcBef>
              <a:buFont typeface="Tahoma"/>
              <a:buChar char="○"/>
              <a:tabLst>
                <a:tab pos="866775" algn="l"/>
                <a:tab pos="867410" algn="l"/>
              </a:tabLst>
            </a:pP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Revert back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older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versions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when/if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needed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9575" indent="-397510">
              <a:lnSpc>
                <a:spcPct val="150000"/>
              </a:lnSpc>
              <a:spcBef>
                <a:spcPts val="300"/>
              </a:spcBef>
              <a:buFont typeface="Tahoma"/>
              <a:buChar char="●"/>
              <a:tabLst>
                <a:tab pos="409575" algn="l"/>
                <a:tab pos="410209" algn="l"/>
              </a:tabLst>
            </a:pP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GitHub: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web-based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hosting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66775" lvl="1" indent="-367030">
              <a:lnSpc>
                <a:spcPct val="150000"/>
              </a:lnSpc>
              <a:spcBef>
                <a:spcPts val="375"/>
              </a:spcBef>
              <a:buFont typeface="Tahoma"/>
              <a:buChar char="○"/>
              <a:tabLst>
                <a:tab pos="866775" algn="l"/>
                <a:tab pos="867410" algn="l"/>
              </a:tabLst>
            </a:pP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"remote"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location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storing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your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workspaces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66775" lvl="1" indent="-367030">
              <a:lnSpc>
                <a:spcPct val="150000"/>
              </a:lnSpc>
              <a:spcBef>
                <a:spcPts val="315"/>
              </a:spcBef>
              <a:buFont typeface="Tahoma"/>
              <a:buChar char="○"/>
              <a:tabLst>
                <a:tab pos="866775" algn="l"/>
                <a:tab pos="867410" algn="l"/>
              </a:tabLst>
            </a:pP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Useful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lose/break </a:t>
            </a:r>
            <a:r>
              <a:rPr sz="24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your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computer,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etc</a:t>
            </a:r>
            <a:r>
              <a:rPr sz="1800" spc="-10" dirty="0">
                <a:latin typeface="Roboto"/>
                <a:cs typeface="Roboto"/>
              </a:rPr>
              <a:t>.</a:t>
            </a:r>
            <a:endParaRPr sz="1800" dirty="0">
              <a:latin typeface="Roboto"/>
              <a:cs typeface="Roboto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8B2C5-4B95-A2F0-76C9-0951ADC82F1C}"/>
              </a:ext>
            </a:extLst>
          </p:cNvPr>
          <p:cNvSpPr txBox="1">
            <a:spLocks/>
          </p:cNvSpPr>
          <p:nvPr/>
        </p:nvSpPr>
        <p:spPr>
          <a:xfrm>
            <a:off x="1518956" y="544608"/>
            <a:ext cx="9603275" cy="104923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Git</a:t>
            </a:r>
            <a:r>
              <a:rPr lang="en-IN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0658425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A7D025D-C929-36D3-C74B-CCA3D26A1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5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A186B5-6011-E5DB-4AA5-C50777074B42}"/>
              </a:ext>
            </a:extLst>
          </p:cNvPr>
          <p:cNvSpPr txBox="1"/>
          <p:nvPr/>
        </p:nvSpPr>
        <p:spPr>
          <a:xfrm>
            <a:off x="346509" y="278812"/>
            <a:ext cx="11802175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065" algn="ctr">
              <a:lnSpc>
                <a:spcPct val="100000"/>
              </a:lnSpc>
              <a:spcBef>
                <a:spcPts val="680"/>
              </a:spcBef>
              <a:buSzPct val="118181"/>
              <a:tabLst>
                <a:tab pos="440055" algn="l"/>
                <a:tab pos="440690" algn="l"/>
              </a:tabLst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</a:t>
            </a:r>
            <a:r>
              <a:rPr lang="en-US" sz="2400" b="1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lang="en-US" sz="2400" b="1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works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+mj-lt"/>
              <a:buAutoNum type="arabicPeriod"/>
            </a:pPr>
            <a:r>
              <a:rPr lang="en-US" sz="2300" b="1" i="0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Initializing a Repository</a:t>
            </a:r>
            <a:r>
              <a:rPr lang="en-US" sz="2300" b="0" i="0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When you initialize a folder with Git, it becomes a repository. Git logs all changes made to a hidden folder within that repository</a:t>
            </a:r>
          </a:p>
          <a:p>
            <a:pPr algn="just">
              <a:buFont typeface="+mj-lt"/>
              <a:buAutoNum type="arabicPeriod"/>
            </a:pPr>
            <a:r>
              <a:rPr lang="en-US" sz="2300" b="1" i="0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Staging Changes</a:t>
            </a:r>
            <a:r>
              <a:rPr lang="en-US" sz="2300" b="0" i="0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Git marks modified files as "staged." Staging prepares changes for a snapshot you want to keep</a:t>
            </a:r>
          </a:p>
          <a:p>
            <a:pPr algn="just">
              <a:buFont typeface="+mj-lt"/>
              <a:buAutoNum type="arabicPeriod"/>
            </a:pPr>
            <a:r>
              <a:rPr lang="en-US" sz="2300" b="1" i="0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Committing Changes</a:t>
            </a:r>
            <a:r>
              <a:rPr lang="en-US" sz="2300" b="0" i="0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Once staged changes are satisfactory, you commit them. Git maintains a complete record of each commit</a:t>
            </a:r>
          </a:p>
          <a:p>
            <a:pPr algn="just">
              <a:buFont typeface="+mj-lt"/>
              <a:buAutoNum type="arabicPeriod"/>
            </a:pPr>
            <a:r>
              <a:rPr lang="en-US" sz="2300" b="1" i="0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Branching and Merging</a:t>
            </a:r>
            <a:r>
              <a:rPr lang="en-US" sz="2300" b="0" i="0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Git allows you to create branches to work on different features or fixes independently. Once the work is complete, you can merge these branches back into the main branch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280D051-4C3D-3207-867D-5B26B6910B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941" y="3840781"/>
            <a:ext cx="12062059" cy="2953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57770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D3E716F-B661-423F-376B-FD1E2D830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6</a:t>
            </a:fld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F7B6807-E8BB-14B2-C32A-10C29908A3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9746" y="159980"/>
            <a:ext cx="9381454" cy="5983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58574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8FC3392-72E9-C3A6-4CF6-3DE8817D7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7</a:t>
            </a:fld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2A869F-BCCA-F553-F9EA-5979C8748EBA}"/>
              </a:ext>
            </a:extLst>
          </p:cNvPr>
          <p:cNvSpPr txBox="1"/>
          <p:nvPr/>
        </p:nvSpPr>
        <p:spPr>
          <a:xfrm>
            <a:off x="770021" y="618042"/>
            <a:ext cx="61024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	clone	&lt;</a:t>
            </a: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url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F701B2-EFE9-8410-0DCF-0C5494DC5D10}"/>
              </a:ext>
            </a:extLst>
          </p:cNvPr>
          <p:cNvSpPr txBox="1"/>
          <p:nvPr/>
        </p:nvSpPr>
        <p:spPr>
          <a:xfrm>
            <a:off x="1857675" y="1283394"/>
            <a:ext cx="6102416" cy="12516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09575" indent="-397510">
              <a:lnSpc>
                <a:spcPct val="100000"/>
              </a:lnSpc>
              <a:spcBef>
                <a:spcPts val="459"/>
              </a:spcBef>
              <a:buFont typeface="Tahoma"/>
              <a:buChar char="●"/>
              <a:tabLst>
                <a:tab pos="409575" algn="l"/>
                <a:tab pos="410209" algn="l"/>
              </a:tabLst>
            </a:pPr>
            <a:r>
              <a:rPr lang="en-US"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Downloads</a:t>
            </a:r>
            <a:r>
              <a:rPr lang="en-US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</a:t>
            </a:r>
            <a:r>
              <a:rPr lang="en-US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</a:t>
            </a:r>
            <a:r>
              <a:rPr lang="en-US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repository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US"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9575" indent="-397510">
              <a:lnSpc>
                <a:spcPct val="100000"/>
              </a:lnSpc>
              <a:spcBef>
                <a:spcPts val="359"/>
              </a:spcBef>
              <a:buFont typeface="Tahoma"/>
              <a:buChar char="●"/>
              <a:tabLst>
                <a:tab pos="409575" algn="l"/>
                <a:tab pos="410209" algn="l"/>
              </a:tabLst>
            </a:pPr>
            <a:r>
              <a:rPr lang="en-US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Creates</a:t>
            </a:r>
            <a:r>
              <a:rPr lang="en-US"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synced,</a:t>
            </a:r>
            <a:r>
              <a:rPr lang="en-US"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 </a:t>
            </a:r>
            <a:r>
              <a:rPr lang="en-US"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copy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044266-6083-C98C-53A8-CF81EBF935C8}"/>
              </a:ext>
            </a:extLst>
          </p:cNvPr>
          <p:cNvSpPr txBox="1"/>
          <p:nvPr/>
        </p:nvSpPr>
        <p:spPr>
          <a:xfrm>
            <a:off x="770021" y="2738706"/>
            <a:ext cx="61024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	add  &lt;filename&gt;</a:t>
            </a:r>
          </a:p>
        </p:txBody>
      </p:sp>
      <p:sp>
        <p:nvSpPr>
          <p:cNvPr id="7" name="object 2">
            <a:extLst>
              <a:ext uri="{FF2B5EF4-FFF2-40B4-BE49-F238E27FC236}">
                <a16:creationId xmlns:a16="http://schemas.microsoft.com/office/drawing/2014/main" id="{67BED450-4238-A0A5-0B21-7A515FD41F84}"/>
              </a:ext>
            </a:extLst>
          </p:cNvPr>
          <p:cNvSpPr txBox="1"/>
          <p:nvPr/>
        </p:nvSpPr>
        <p:spPr>
          <a:xfrm>
            <a:off x="2040557" y="3200371"/>
            <a:ext cx="9173138" cy="274209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9575" marR="334010" indent="-397510" algn="just">
              <a:lnSpc>
                <a:spcPct val="150000"/>
              </a:lnSpc>
              <a:spcBef>
                <a:spcPts val="100"/>
              </a:spcBef>
              <a:buFont typeface="Tahoma"/>
              <a:buChar char="●"/>
              <a:tabLst>
                <a:tab pos="409575" algn="l"/>
                <a:tab pos="410209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you create new files and/or folders, they are not tracked by Git unless you ask it to do so</a:t>
            </a:r>
            <a:endParaRPr lang="en-US" sz="2400" spc="-3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9575" marR="334010" indent="-397510" algn="just">
              <a:lnSpc>
                <a:spcPct val="150000"/>
              </a:lnSpc>
              <a:spcBef>
                <a:spcPts val="100"/>
              </a:spcBef>
              <a:buFont typeface="Tahoma"/>
              <a:buChar char="●"/>
              <a:tabLst>
                <a:tab pos="409575" algn="l"/>
                <a:tab pos="410209" algn="l"/>
              </a:tabLst>
            </a:pPr>
            <a:r>
              <a:rPr lang="en-US" sz="2400" b="1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 add- </a:t>
            </a:r>
            <a:r>
              <a:rPr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Signals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speciﬁed ﬁle 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should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 </a:t>
            </a:r>
            <a:r>
              <a:rPr sz="24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“tracked”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sz="2400" spc="-5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changes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Places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modiﬁed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ﬁle(s) </a:t>
            </a:r>
            <a:r>
              <a:rPr sz="24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“staging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area”</a:t>
            </a:r>
            <a:endParaRPr lang="en-IN" sz="2400" spc="-4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9575" marR="334010" indent="-397510" algn="just">
              <a:lnSpc>
                <a:spcPct val="150000"/>
              </a:lnSpc>
              <a:spcBef>
                <a:spcPts val="100"/>
              </a:spcBef>
              <a:buFont typeface="Tahoma"/>
              <a:buChar char="●"/>
              <a:tabLst>
                <a:tab pos="409575" algn="l"/>
                <a:tab pos="410209" algn="l"/>
              </a:tabLst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 add .   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add all the untracked files in the list in one go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E55B43-EEFA-5204-C13D-F21B54B4EBBE}"/>
              </a:ext>
            </a:extLst>
          </p:cNvPr>
          <p:cNvSpPr txBox="1"/>
          <p:nvPr/>
        </p:nvSpPr>
        <p:spPr>
          <a:xfrm>
            <a:off x="4793381" y="63283"/>
            <a:ext cx="61024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 commands</a:t>
            </a:r>
          </a:p>
        </p:txBody>
      </p:sp>
    </p:spTree>
    <p:extLst>
      <p:ext uri="{BB962C8B-B14F-4D97-AF65-F5344CB8AC3E}">
        <p14:creationId xmlns:p14="http://schemas.microsoft.com/office/powerpoint/2010/main" val="1225185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4EF618D-BBD0-EEDD-7F4C-6781CFB19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8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0DD445-51A4-DC88-0973-C7D2AB0C6594}"/>
              </a:ext>
            </a:extLst>
          </p:cNvPr>
          <p:cNvSpPr txBox="1"/>
          <p:nvPr/>
        </p:nvSpPr>
        <p:spPr>
          <a:xfrm>
            <a:off x="565217" y="1156254"/>
            <a:ext cx="61024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 commit -m "message"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5B7BC7-DAAC-32D1-4128-A0FC009AF209}"/>
              </a:ext>
            </a:extLst>
          </p:cNvPr>
          <p:cNvSpPr txBox="1"/>
          <p:nvPr/>
        </p:nvSpPr>
        <p:spPr>
          <a:xfrm>
            <a:off x="1144337" y="1617919"/>
            <a:ext cx="10424159" cy="3349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commit is when you tell git that a change (or addition) you have made is ready to be included in the project.</a:t>
            </a:r>
            <a:endParaRPr lang="en-US" sz="2400" b="0" i="0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Takes a "snapshot" of all files currently on the staging area and commits it to git's memory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"snapshot" is captioned with the given message as a brief </a:t>
            </a:r>
            <a:r>
              <a:rPr lang="en-IN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 for the commit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72991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22AB26F-CB92-4C4F-6691-64F95E774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9</a:t>
            </a:fld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ADEF8D-7CE8-B7CD-D091-7CEFD1752C00}"/>
              </a:ext>
            </a:extLst>
          </p:cNvPr>
          <p:cNvSpPr txBox="1"/>
          <p:nvPr/>
        </p:nvSpPr>
        <p:spPr>
          <a:xfrm>
            <a:off x="519763" y="132110"/>
            <a:ext cx="1149256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 status</a:t>
            </a:r>
          </a:p>
          <a:p>
            <a:pPr algn="ctr"/>
            <a:endParaRPr lang="en-US" sz="2400" b="0" i="0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useful information about your repository (e.g., current branch, tracked/untracked files, differences between local and </a:t>
            </a:r>
            <a:r>
              <a:rPr lang="en-IN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remote versions)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23624FF-54CF-63FB-242F-A09E37A537DC}"/>
              </a:ext>
            </a:extLst>
          </p:cNvPr>
          <p:cNvSpPr txBox="1"/>
          <p:nvPr/>
        </p:nvSpPr>
        <p:spPr>
          <a:xfrm>
            <a:off x="707456" y="1701770"/>
            <a:ext cx="1111717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 push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sz="2400" b="0" i="0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Uploads local commits to the remote repository (i.e., from your </a:t>
            </a:r>
            <a:r>
              <a:rPr lang="en-IN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to GitHub)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D8599EF-52BE-3405-DB7D-8C974A6CCD16}"/>
              </a:ext>
            </a:extLst>
          </p:cNvPr>
          <p:cNvSpPr txBox="1"/>
          <p:nvPr/>
        </p:nvSpPr>
        <p:spPr>
          <a:xfrm>
            <a:off x="546323" y="2994431"/>
            <a:ext cx="1127831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800" b="0" i="0" u="none" strike="noStrike" baseline="0" dirty="0">
              <a:latin typeface="Roboto-Regular"/>
            </a:endParaRPr>
          </a:p>
          <a:p>
            <a:pPr algn="ctr"/>
            <a:r>
              <a:rPr lang="en-IN" sz="24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 pull</a:t>
            </a:r>
          </a:p>
          <a:p>
            <a:pPr algn="ctr"/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Downloads remote commits to the local repository (i.e., from </a:t>
            </a:r>
            <a:r>
              <a:rPr lang="en-IN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 to your computer)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33EEFD-B1D4-2A79-09D2-54DCA5922BB4}"/>
              </a:ext>
            </a:extLst>
          </p:cNvPr>
          <p:cNvSpPr txBox="1"/>
          <p:nvPr/>
        </p:nvSpPr>
        <p:spPr>
          <a:xfrm>
            <a:off x="707456" y="4827451"/>
            <a:ext cx="10915048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 log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sz="1800" b="0" i="0" u="none" strike="noStrike" baseline="0" dirty="0">
              <a:latin typeface="Roboto-Regular"/>
            </a:endParaRPr>
          </a:p>
          <a:p>
            <a:pPr algn="l"/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history of commits made in the repository from </a:t>
            </a:r>
            <a:r>
              <a:rPr lang="en-IN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newest to oldest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61768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2398256-086D-DB97-E5DA-7EAFEEB0B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10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2C92B8-CDF6-BA2E-1CE4-AD26571A7CC1}"/>
              </a:ext>
            </a:extLst>
          </p:cNvPr>
          <p:cNvSpPr txBox="1"/>
          <p:nvPr/>
        </p:nvSpPr>
        <p:spPr>
          <a:xfrm>
            <a:off x="2935707" y="133472"/>
            <a:ext cx="61024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Branching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14A102-A234-3540-BFD7-184F7FB8C518}"/>
              </a:ext>
            </a:extLst>
          </p:cNvPr>
          <p:cNvSpPr txBox="1"/>
          <p:nvPr/>
        </p:nvSpPr>
        <p:spPr>
          <a:xfrm>
            <a:off x="624037" y="755512"/>
            <a:ext cx="10943924" cy="16879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repository by default has a "master" branch where all your </a:t>
            </a:r>
            <a:r>
              <a:rPr lang="en-IN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 lives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Sometimes useful to create separate branches in your repository (to test new features, separate work among </a:t>
            </a:r>
            <a:r>
              <a:rPr lang="en-IN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collaborators, etc.)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A7775BE-4540-ECE7-B622-DFD0F46BCA12}"/>
              </a:ext>
            </a:extLst>
          </p:cNvPr>
          <p:cNvSpPr txBox="1"/>
          <p:nvPr/>
        </p:nvSpPr>
        <p:spPr>
          <a:xfrm>
            <a:off x="433760" y="2358909"/>
            <a:ext cx="11324478" cy="39039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default, lists all of the branches in your repository, but has 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few other variations: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 branch &lt;branch&gt;</a:t>
            </a:r>
          </a:p>
          <a:p>
            <a:pPr lvl="3">
              <a:lnSpc>
                <a:spcPct val="150000"/>
              </a:lnSpc>
            </a:pP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○ Creates a new branch with the given name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git branch -d &lt;branch&gt;</a:t>
            </a:r>
          </a:p>
          <a:p>
            <a:pPr lvl="3">
              <a:lnSpc>
                <a:spcPct val="150000"/>
              </a:lnSpc>
            </a:pPr>
            <a:r>
              <a:rPr lang="en-IN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○ Deletes the specified branch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git checkout &lt;branch&gt;</a:t>
            </a:r>
          </a:p>
          <a:p>
            <a:pPr lvl="1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Switches from the current branch to the specified branch (must </a:t>
            </a:r>
            <a:r>
              <a:rPr lang="en-IN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already exist</a:t>
            </a:r>
            <a:r>
              <a:rPr lang="en-IN" b="0" i="0" u="none" strike="noStrike" baseline="0" dirty="0">
                <a:latin typeface="Roboto-Regular"/>
              </a:rPr>
              <a:t>)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7107688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F5910F9-A904-0C28-627A-4F23EBD9F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11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E2630C-8F07-C449-D73A-9BA93B1BB892}"/>
              </a:ext>
            </a:extLst>
          </p:cNvPr>
          <p:cNvSpPr txBox="1"/>
          <p:nvPr/>
        </p:nvSpPr>
        <p:spPr>
          <a:xfrm>
            <a:off x="625642" y="955927"/>
            <a:ext cx="10674417" cy="39039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 checkout -b &lt;branch&gt;</a:t>
            </a:r>
          </a:p>
          <a:p>
            <a:pPr algn="l">
              <a:lnSpc>
                <a:spcPct val="150000"/>
              </a:lnSpc>
            </a:pP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First creates a new branch with the given name, then switches </a:t>
            </a:r>
            <a:r>
              <a:rPr lang="en-IN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it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 merge &lt;branch&gt;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Merges the specified branch to the current branch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Merging is the process of combining changes from one branch into another. To merge changes, switch to the branch you want to merge into and use the `git merge`.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84441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2A45A6C-87E6-021F-2879-7F11B172C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12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3420EC-D710-A7F5-3926-B9A80FA416E7}"/>
              </a:ext>
            </a:extLst>
          </p:cNvPr>
          <p:cNvSpPr txBox="1"/>
          <p:nvPr/>
        </p:nvSpPr>
        <p:spPr>
          <a:xfrm>
            <a:off x="1046480" y="260479"/>
            <a:ext cx="10322560" cy="57506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 branching strategy</a:t>
            </a:r>
          </a:p>
          <a:p>
            <a:pPr algn="ctr">
              <a:buNone/>
            </a:pP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following are different branching strategies:</a:t>
            </a:r>
            <a:endParaRPr lang="en-IN" sz="2400" b="1" dirty="0"/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 Flow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Ideal for projects with fixed release cycles and multiple releases (e.g., enterprise apps).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 Flow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Best for continuous delivery environments and small teams working on quick, iterative updates.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GitLab Flow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good middle ground for teams that need flexibility, such as managing production and staging environments.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Trunk-Based Development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Ideal for teams practicing continuous integration and delivery with frequent releases.</a:t>
            </a:r>
          </a:p>
        </p:txBody>
      </p:sp>
    </p:spTree>
    <p:extLst>
      <p:ext uri="{BB962C8B-B14F-4D97-AF65-F5344CB8AC3E}">
        <p14:creationId xmlns:p14="http://schemas.microsoft.com/office/powerpoint/2010/main" val="12642437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FC1CEA5-39A1-55C4-A7A4-1EB46EEAA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13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12C6E7-AA13-B46D-CB87-48F13F8B9870}"/>
              </a:ext>
            </a:extLst>
          </p:cNvPr>
          <p:cNvSpPr txBox="1"/>
          <p:nvPr/>
        </p:nvSpPr>
        <p:spPr>
          <a:xfrm>
            <a:off x="400428" y="711815"/>
            <a:ext cx="11629012" cy="5201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Git Flow </a:t>
            </a:r>
            <a:r>
              <a:rPr lang="en-IN" b="1" dirty="0"/>
              <a:t>(For Structured Releases)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Git Flow is one of the most well-known branching strategies and is often used for projects with well-defined release cycles.</a:t>
            </a:r>
          </a:p>
          <a:p>
            <a:pPr>
              <a:spcAft>
                <a:spcPts val="600"/>
              </a:spcAft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Branches:</a:t>
            </a:r>
          </a:p>
          <a:p>
            <a:pPr lvl="1">
              <a:spcAft>
                <a:spcPts val="600"/>
              </a:spcAft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Branches: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0150" lvl="2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master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Holds the production-ready code.</a:t>
            </a:r>
          </a:p>
          <a:p>
            <a:pPr marL="1200150" lvl="2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Represents the latest development changes.</a:t>
            </a:r>
          </a:p>
          <a:p>
            <a:pPr lvl="1">
              <a:spcAft>
                <a:spcPts val="600"/>
              </a:spcAft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Supporting Branches: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0150" lvl="2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feature/*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Feature branches for individual features or tasks.</a:t>
            </a:r>
          </a:p>
          <a:p>
            <a:pPr marL="1200150" lvl="2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release/*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Release branches for preparing a release.</a:t>
            </a:r>
          </a:p>
          <a:p>
            <a:pPr marL="1200150" lvl="2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hotfix/*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Branches to quickly fix production issues.</a:t>
            </a:r>
          </a:p>
          <a:p>
            <a:pPr>
              <a:spcAft>
                <a:spcPts val="600"/>
              </a:spcAft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15317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C186E82-B553-D4BF-7F77-A22135FB2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14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BC9476-0B43-9E0A-A943-0A816CE15474}"/>
              </a:ext>
            </a:extLst>
          </p:cNvPr>
          <p:cNvSpPr txBox="1"/>
          <p:nvPr/>
        </p:nvSpPr>
        <p:spPr>
          <a:xfrm>
            <a:off x="375920" y="716618"/>
            <a:ext cx="11094720" cy="3349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Workflow Example: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Developers create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feature/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xyz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branches off of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work on a new feature.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ready, a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release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branch is created from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finalize new features and perform testing.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critical bugs arise in production,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hotfix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branches are created from master to address them</a:t>
            </a:r>
          </a:p>
        </p:txBody>
      </p:sp>
    </p:spTree>
    <p:extLst>
      <p:ext uri="{BB962C8B-B14F-4D97-AF65-F5344CB8AC3E}">
        <p14:creationId xmlns:p14="http://schemas.microsoft.com/office/powerpoint/2010/main" val="22250805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8259251-0313-B0F7-856A-462199282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15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F7727F-3595-2B49-3D88-50EA29E35EF9}"/>
              </a:ext>
            </a:extLst>
          </p:cNvPr>
          <p:cNvSpPr txBox="1"/>
          <p:nvPr/>
        </p:nvSpPr>
        <p:spPr>
          <a:xfrm>
            <a:off x="71120" y="401029"/>
            <a:ext cx="11755120" cy="579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 Workflow for Developing a Feature and Merging It into the Develop Branch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5FDF46-D471-5293-3BE7-EBD805C8C38B}"/>
              </a:ext>
            </a:extLst>
          </p:cNvPr>
          <p:cNvSpPr txBox="1"/>
          <p:nvPr/>
        </p:nvSpPr>
        <p:spPr>
          <a:xfrm>
            <a:off x="337820" y="1163214"/>
            <a:ext cx="11661140" cy="52937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Procedure:</a:t>
            </a:r>
          </a:p>
          <a:p>
            <a:pPr marL="342900" indent="-342900">
              <a:spcAft>
                <a:spcPts val="600"/>
              </a:spcAft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Switch to the Develop Branch</a:t>
            </a:r>
          </a:p>
          <a:p>
            <a:pPr>
              <a:spcAft>
                <a:spcPts val="60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Command- </a:t>
            </a:r>
          </a:p>
          <a:p>
            <a:pPr>
              <a:spcAft>
                <a:spcPts val="600"/>
              </a:spcAft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 checkout develop</a:t>
            </a:r>
          </a:p>
          <a:p>
            <a:pPr>
              <a:spcAft>
                <a:spcPts val="60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 New Feature Branch</a:t>
            </a:r>
          </a:p>
          <a:p>
            <a:pPr>
              <a:spcAft>
                <a:spcPts val="60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Command-</a:t>
            </a:r>
          </a:p>
          <a:p>
            <a:pPr>
              <a:spcAft>
                <a:spcPts val="600"/>
              </a:spcAft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 checkout -b feature/new-feature</a:t>
            </a:r>
          </a:p>
          <a:p>
            <a:pPr>
              <a:spcAft>
                <a:spcPts val="60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creates a new branch named feature/new-feature from the current branch (develop).</a:t>
            </a:r>
          </a:p>
          <a:p>
            <a:pPr>
              <a:spcAft>
                <a:spcPts val="600"/>
              </a:spcAft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Complete the Feature Development</a:t>
            </a:r>
          </a:p>
          <a:p>
            <a:pPr>
              <a:spcAft>
                <a:spcPts val="60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(Your development work would take place here, but no specific command is needed for this step. It's where you implement your feature.)</a:t>
            </a:r>
          </a:p>
          <a:p>
            <a:pPr>
              <a:spcAft>
                <a:spcPts val="600"/>
              </a:spcAft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29682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9F5C0F3-2E8D-C36E-D673-6B4346F408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16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30A81A-170E-9C4E-3A37-FFD090A1DBDD}"/>
              </a:ext>
            </a:extLst>
          </p:cNvPr>
          <p:cNvSpPr txBox="1"/>
          <p:nvPr/>
        </p:nvSpPr>
        <p:spPr>
          <a:xfrm>
            <a:off x="400428" y="816094"/>
            <a:ext cx="11263251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Switch Back to the Develop Branch</a:t>
            </a:r>
          </a:p>
          <a:p>
            <a:pPr>
              <a:spcAft>
                <a:spcPts val="60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Command-</a:t>
            </a:r>
          </a:p>
          <a:p>
            <a:pPr>
              <a:spcAft>
                <a:spcPts val="600"/>
              </a:spcAft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IN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 checkout develop</a:t>
            </a:r>
          </a:p>
          <a:p>
            <a:pPr>
              <a:spcAft>
                <a:spcPts val="60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finishing the feature, you switch back to 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branch to prepare for merging the changes.</a:t>
            </a:r>
          </a:p>
          <a:p>
            <a:pPr>
              <a:spcAft>
                <a:spcPts val="60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Merge the Feature Branch into Develop</a:t>
            </a:r>
          </a:p>
          <a:p>
            <a:pPr>
              <a:spcAft>
                <a:spcPts val="60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Command-</a:t>
            </a:r>
          </a:p>
          <a:p>
            <a:pPr>
              <a:spcAft>
                <a:spcPts val="600"/>
              </a:spcAft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IN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 merge feature/new-feature</a:t>
            </a:r>
          </a:p>
          <a:p>
            <a:pPr>
              <a:spcAft>
                <a:spcPts val="60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command merges the changes from the feature/new-feature branch into 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branch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53544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17E7B4-32B2-F987-DCBB-4FB3C591E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17</a:t>
            </a:fld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FDC7BF-E6ED-7B3A-DE9B-3B6A81152994}"/>
              </a:ext>
            </a:extLst>
          </p:cNvPr>
          <p:cNvSpPr txBox="1"/>
          <p:nvPr/>
        </p:nvSpPr>
        <p:spPr>
          <a:xfrm>
            <a:off x="492759" y="858302"/>
            <a:ext cx="11206480" cy="5139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GitHub Flow </a:t>
            </a:r>
            <a:r>
              <a:rPr lang="en-IN" b="1" dirty="0"/>
              <a:t>(Recommended for Modern Teams) 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Aft>
                <a:spcPts val="600"/>
              </a:spcAft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GitHub Flow is a simpler workflow than Git Flow, designed for continuous deployment (CD) environments where features are deployed as soon as they are merged.</a:t>
            </a:r>
          </a:p>
          <a:p>
            <a:pPr algn="just">
              <a:spcAft>
                <a:spcPts val="600"/>
              </a:spcAft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Branches: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Production-ready code.</a:t>
            </a:r>
          </a:p>
          <a:p>
            <a:pPr marL="800100" lvl="1" indent="-3429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feature/*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Temporary branches for individual features or fixes.</a:t>
            </a:r>
          </a:p>
          <a:p>
            <a:pPr algn="just">
              <a:spcAft>
                <a:spcPts val="600"/>
              </a:spcAft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Workflow Example: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Developers create a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feature/*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branch off main to work on a feature.</a:t>
            </a:r>
          </a:p>
          <a:p>
            <a:pPr marL="800100" lvl="1" indent="-3429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Once completed, they create a pull request (PR) to merge the feature branch into main.</a:t>
            </a:r>
          </a:p>
          <a:p>
            <a:pPr marL="800100" lvl="1" indent="-3429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CI/CD runs tests and if everything is fine, the PR is merged, and the feature is deployed immediately</a:t>
            </a:r>
          </a:p>
        </p:txBody>
      </p:sp>
    </p:spTree>
    <p:extLst>
      <p:ext uri="{BB962C8B-B14F-4D97-AF65-F5344CB8AC3E}">
        <p14:creationId xmlns:p14="http://schemas.microsoft.com/office/powerpoint/2010/main" val="30876490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82D44B4-3001-1AF8-2F24-5A8607CAF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18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F9000C-09A3-C59A-7300-747D35C360F0}"/>
              </a:ext>
            </a:extLst>
          </p:cNvPr>
          <p:cNvSpPr txBox="1"/>
          <p:nvPr/>
        </p:nvSpPr>
        <p:spPr>
          <a:xfrm>
            <a:off x="372934" y="657275"/>
            <a:ext cx="11446131" cy="6771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 workflow for developing a feature in a separate branch and merging it into the main branch using a pull request on GitHub</a:t>
            </a:r>
          </a:p>
          <a:p>
            <a:pPr>
              <a:spcAft>
                <a:spcPts val="600"/>
              </a:spcAft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Procedure:</a:t>
            </a:r>
          </a:p>
          <a:p>
            <a:pPr marL="457200" indent="-457200">
              <a:spcAft>
                <a:spcPts val="600"/>
              </a:spcAft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Switch to the Main Branch</a:t>
            </a:r>
          </a:p>
          <a:p>
            <a:pPr>
              <a:spcAft>
                <a:spcPts val="60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Command-</a:t>
            </a:r>
          </a:p>
          <a:p>
            <a:pPr>
              <a:spcAft>
                <a:spcPts val="60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 checkout main</a:t>
            </a:r>
          </a:p>
          <a:p>
            <a:pPr>
              <a:spcAft>
                <a:spcPts val="600"/>
              </a:spcAft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Create and Switch to a New Feature Branch</a:t>
            </a:r>
          </a:p>
          <a:p>
            <a:pPr>
              <a:spcAft>
                <a:spcPts val="60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Command-</a:t>
            </a:r>
          </a:p>
          <a:p>
            <a:pPr>
              <a:spcAft>
                <a:spcPts val="60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 checkout -b feature/awesome-feature</a:t>
            </a:r>
          </a:p>
          <a:p>
            <a:pPr>
              <a:spcAft>
                <a:spcPts val="600"/>
              </a:spcAft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Push the Feature Branch to the Remote Repository</a:t>
            </a:r>
          </a:p>
          <a:p>
            <a:pPr>
              <a:spcAft>
                <a:spcPts val="60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Command-</a:t>
            </a:r>
          </a:p>
          <a:p>
            <a:pPr>
              <a:spcAft>
                <a:spcPts val="60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 push origin feature/awesome-feature</a:t>
            </a: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AutoNum type="arabicPeriod"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63331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FF61963-9E6D-6AB1-EEBE-B9EA07B3A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19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B99BCD-AE66-F93A-7260-E0B77A4AC820}"/>
              </a:ext>
            </a:extLst>
          </p:cNvPr>
          <p:cNvSpPr txBox="1"/>
          <p:nvPr/>
        </p:nvSpPr>
        <p:spPr>
          <a:xfrm>
            <a:off x="400428" y="723037"/>
            <a:ext cx="10775571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Create a Pull Request (PR) on GitHub</a:t>
            </a:r>
          </a:p>
          <a:p>
            <a:pPr algn="just">
              <a:lnSpc>
                <a:spcPct val="150000"/>
              </a:lnSpc>
              <a:buNone/>
            </a:pP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not a Git command, but a GitHub action: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pushing the branch, go to GitHub (or your Git hosting platform) and create a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Pull Request (PR)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merge your changes into main. This allows team members to review the changes before merging.</a:t>
            </a:r>
          </a:p>
          <a:p>
            <a:pPr algn="just"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Merge the Feature Branch into Main</a:t>
            </a:r>
          </a:p>
          <a:p>
            <a:pPr algn="just">
              <a:lnSpc>
                <a:spcPct val="150000"/>
              </a:lnSpc>
            </a:pP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GitHub or your Git platform interface: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Once the PR is reviewed and approved, merge the feature branch (feature/awesome-feature) into main, incorporating the changes into the stable production code.</a:t>
            </a:r>
          </a:p>
          <a:p>
            <a:pPr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83426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3E30A75-D798-545B-A9B6-7B9794D7E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20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A0CB97-A73B-B14D-9238-4D7625F06370}"/>
              </a:ext>
            </a:extLst>
          </p:cNvPr>
          <p:cNvSpPr txBox="1"/>
          <p:nvPr/>
        </p:nvSpPr>
        <p:spPr>
          <a:xfrm>
            <a:off x="325120" y="671681"/>
            <a:ext cx="11216640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Trunk-Based Development (TBD) :</a:t>
            </a:r>
          </a:p>
          <a:p>
            <a:pPr algn="just">
              <a:spcAft>
                <a:spcPts val="600"/>
              </a:spcAft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In Trunk-Based Development (TBD), developers work with a single main branch (called "trunk" or main) and frequently merge changes into it. This approach emphasizes continuous integration, and all work is integrated frequently.</a:t>
            </a:r>
          </a:p>
          <a:p>
            <a:pPr algn="just">
              <a:spcAft>
                <a:spcPts val="600"/>
              </a:spcAft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Branches: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Always holds the latest code.</a:t>
            </a:r>
          </a:p>
          <a:p>
            <a:pPr marL="800100" lvl="1" indent="-3429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feature/*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(short-lived branches): Temporary feature branches used for a few days.</a:t>
            </a:r>
          </a:p>
          <a:p>
            <a:pPr algn="just">
              <a:spcAft>
                <a:spcPts val="600"/>
              </a:spcAft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Workflow Example: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Developers work in short-lived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feature/*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branches or directly on main.</a:t>
            </a:r>
          </a:p>
          <a:p>
            <a:pPr marL="800100" lvl="1" indent="-3429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 integration tools run tests on each commit.</a:t>
            </a:r>
          </a:p>
          <a:p>
            <a:pPr marL="800100" lvl="1" indent="-3429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Developers integrate their changes into main at least once a day.</a:t>
            </a:r>
          </a:p>
        </p:txBody>
      </p:sp>
    </p:spTree>
    <p:extLst>
      <p:ext uri="{BB962C8B-B14F-4D97-AF65-F5344CB8AC3E}">
        <p14:creationId xmlns:p14="http://schemas.microsoft.com/office/powerpoint/2010/main" val="42708880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E752585-865E-8E0B-89FF-86458420E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21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A46B0F-DFB3-BB5A-8C0C-09E37CFA8CEC}"/>
              </a:ext>
            </a:extLst>
          </p:cNvPr>
          <p:cNvSpPr txBox="1"/>
          <p:nvPr/>
        </p:nvSpPr>
        <p:spPr>
          <a:xfrm>
            <a:off x="3172460" y="2685534"/>
            <a:ext cx="61010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Pull Request (PR) checks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5923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CE322E7-4176-84AF-8315-C0913C3B8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22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C2D8EB-4D51-2D0A-5974-791A7685A39B}"/>
              </a:ext>
            </a:extLst>
          </p:cNvPr>
          <p:cNvSpPr txBox="1"/>
          <p:nvPr/>
        </p:nvSpPr>
        <p:spPr>
          <a:xfrm>
            <a:off x="879512" y="997565"/>
            <a:ext cx="10809384" cy="4862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 checks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ensure your code is high quality, bug-free, secure, and meets the project's standards.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checks are mostly automated and Common PR checks are as below: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review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(manual).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tests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(CI checks).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linting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(style and formatting checks).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checks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(ensuring the code can be compiled).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scanning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(checking for vulnerabilities).</a:t>
            </a:r>
          </a:p>
          <a:p>
            <a:pPr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checks help teams maintain the quality and security of the codebase and prevent breaking the main branch.</a:t>
            </a:r>
          </a:p>
        </p:txBody>
      </p:sp>
    </p:spTree>
    <p:extLst>
      <p:ext uri="{BB962C8B-B14F-4D97-AF65-F5344CB8AC3E}">
        <p14:creationId xmlns:p14="http://schemas.microsoft.com/office/powerpoint/2010/main" val="29811180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CCFFD8B-1F14-4BBF-2125-C48BCC250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23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28801D-00E5-5BE2-C0E2-1739C31353A9}"/>
              </a:ext>
            </a:extLst>
          </p:cNvPr>
          <p:cNvSpPr txBox="1"/>
          <p:nvPr/>
        </p:nvSpPr>
        <p:spPr>
          <a:xfrm>
            <a:off x="398164" y="947694"/>
            <a:ext cx="11610955" cy="5011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Code Review (Manual Check)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it is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team member (or multiple people) reviews the code to ensure it follows best practices, is well-structured, and doesn't introduce bugs or security issues.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it works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After submitting a PR, reviewers go through the changes, leave comments, and approve or suggest changes.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create a feature that adds a login form.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Your team member reviews the code, checks if the logic is correct, asks for comments on some functions, and suggests renaming a variable for clarity.</a:t>
            </a:r>
          </a:p>
        </p:txBody>
      </p:sp>
    </p:spTree>
    <p:extLst>
      <p:ext uri="{BB962C8B-B14F-4D97-AF65-F5344CB8AC3E}">
        <p14:creationId xmlns:p14="http://schemas.microsoft.com/office/powerpoint/2010/main" val="35355297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842B0FE-89CF-BAC9-CEE8-9C4602C27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24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EC2D96-7DC1-B349-473E-AF1085B9FEC9}"/>
              </a:ext>
            </a:extLst>
          </p:cNvPr>
          <p:cNvSpPr txBox="1"/>
          <p:nvPr/>
        </p:nvSpPr>
        <p:spPr>
          <a:xfrm>
            <a:off x="369432" y="751344"/>
            <a:ext cx="11223128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Continuous Integration (CI) Tests</a:t>
            </a:r>
          </a:p>
          <a:p>
            <a:pPr marL="800100" lvl="1" indent="-3429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it is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tools like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 Actions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Jenkins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or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Travis CI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automatically run tests to ensure your code works as expected and doesn't break existing functionality. These tests can include unit tests, integration tests, and linting checks.</a:t>
            </a:r>
          </a:p>
          <a:p>
            <a:pPr marL="800100" lvl="1" indent="-3429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it works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When you create a PR, the CI tool runs the automated tests defined for the repository. If any test fails, the PR will be marked with a failed check, and you must fix the issue before merging.</a:t>
            </a:r>
          </a:p>
          <a:p>
            <a:pPr>
              <a:spcAft>
                <a:spcPts val="600"/>
              </a:spcAft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add a new function to validate email addresses.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CI runs unit tests to ensure that the email validation function works as expected (e.g., handling valid and invalid email formats).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tests pass, the PR shows a "green checkmark." If they fail, the PR shows a "red X" and you’ll need to fix the test failures.</a:t>
            </a:r>
          </a:p>
        </p:txBody>
      </p:sp>
    </p:spTree>
    <p:extLst>
      <p:ext uri="{BB962C8B-B14F-4D97-AF65-F5344CB8AC3E}">
        <p14:creationId xmlns:p14="http://schemas.microsoft.com/office/powerpoint/2010/main" val="18495401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1B77E9E-4445-E7AA-DB00-8DF2F6A2D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25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0CA6E1-03D9-7C95-6838-A36D74A2F2E9}"/>
              </a:ext>
            </a:extLst>
          </p:cNvPr>
          <p:cNvSpPr txBox="1"/>
          <p:nvPr/>
        </p:nvSpPr>
        <p:spPr>
          <a:xfrm>
            <a:off x="471032" y="782455"/>
            <a:ext cx="11182488" cy="52937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Code Linting (Static Analysis)</a:t>
            </a:r>
          </a:p>
          <a:p>
            <a:pPr marL="285750" indent="-28575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it is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Linting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tools like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ESLint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Prettier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or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Pylint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automatically analyze your code for style issues and potential errors, such as missing semicolons, improper indentation, or unused variables.</a:t>
            </a:r>
          </a:p>
          <a:p>
            <a:pPr marL="285750" indent="-28575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it works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Linting tools are often configured to run automatically during a PR. If your code doesn’t meet the style rules defined for the project, the PR will show a linting error.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742950" lvl="1" indent="-28575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submit a PR where you forgot to add a semicolon at the end of a line of JavaScript code.</a:t>
            </a:r>
          </a:p>
          <a:p>
            <a:pPr marL="742950" lvl="1" indent="-28575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linting check will highlight this as a style issue, and you’ll need to fix it before merging.</a:t>
            </a:r>
          </a:p>
        </p:txBody>
      </p:sp>
    </p:spTree>
    <p:extLst>
      <p:ext uri="{BB962C8B-B14F-4D97-AF65-F5344CB8AC3E}">
        <p14:creationId xmlns:p14="http://schemas.microsoft.com/office/powerpoint/2010/main" val="21613711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19AE39B-8243-0031-C58F-94795F2D2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26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BF74D6-FCC2-9E1D-BAAA-2E43A0BFDDB2}"/>
              </a:ext>
            </a:extLst>
          </p:cNvPr>
          <p:cNvSpPr txBox="1"/>
          <p:nvPr/>
        </p:nvSpPr>
        <p:spPr>
          <a:xfrm>
            <a:off x="398165" y="831562"/>
            <a:ext cx="11336636" cy="52937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Build Status (Build Check)</a:t>
            </a:r>
          </a:p>
          <a:p>
            <a:pPr marL="800100" lvl="1" indent="-34290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it is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This check ensures that 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process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successful after your changes are merged. A failing build means the code cannot be compiled or packaged into a usable product.</a:t>
            </a:r>
          </a:p>
          <a:p>
            <a:pPr marL="800100" lvl="1" indent="-34290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it works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CI pipeline typically includes a build step that compiles the project. If the build fails (for example, due to missing dependencies or broken code), the PR will not be merged.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742950" lvl="1" indent="-28575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make a change to the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package.json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file in a Node.js project, but you accidentally remove a required dependency.</a:t>
            </a:r>
          </a:p>
          <a:p>
            <a:pPr marL="742950" lvl="1" indent="-28575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build step will fail because the necessary dependency isn’t installed, and the PR won’t merge until you fix the issue.</a:t>
            </a:r>
          </a:p>
        </p:txBody>
      </p:sp>
    </p:spTree>
    <p:extLst>
      <p:ext uri="{BB962C8B-B14F-4D97-AF65-F5344CB8AC3E}">
        <p14:creationId xmlns:p14="http://schemas.microsoft.com/office/powerpoint/2010/main" val="31122850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F0383E5-36E0-ACC3-9344-2C129DDE3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27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7BE270-57CE-6335-85B0-82FB885B2E9A}"/>
              </a:ext>
            </a:extLst>
          </p:cNvPr>
          <p:cNvSpPr txBox="1"/>
          <p:nvPr/>
        </p:nvSpPr>
        <p:spPr>
          <a:xfrm>
            <a:off x="491352" y="887795"/>
            <a:ext cx="10948808" cy="45550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Security Scanning</a:t>
            </a:r>
          </a:p>
          <a:p>
            <a:pPr marL="285750" indent="-28575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it is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Some repositories use automated tools (like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Dependabot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Snyk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or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GitHub’s secret scanning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to scan for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vulnerabilities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the code.</a:t>
            </a:r>
          </a:p>
          <a:p>
            <a:pPr marL="285750" indent="-28575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it works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system checks for things like insecure dependencies, exposed API keys, or known security vulnerabilities in your code. If it detects any issues, it flags them as a security risk.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742950" lvl="1" indent="-28575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accidentally add a private API key to your codebase in the PR.</a:t>
            </a:r>
          </a:p>
          <a:p>
            <a:pPr marL="742950" lvl="1" indent="-28575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security check flags the PR because it detects a secret key, and you'll need to remove it or replace it with a secure method (like environment variables).</a:t>
            </a:r>
          </a:p>
        </p:txBody>
      </p:sp>
    </p:spTree>
    <p:extLst>
      <p:ext uri="{BB962C8B-B14F-4D97-AF65-F5344CB8AC3E}">
        <p14:creationId xmlns:p14="http://schemas.microsoft.com/office/powerpoint/2010/main" val="22742906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CDA9A22-D7B8-7551-C131-9AD3C2B7A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28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AEACF6-346D-4C28-7452-088C634DE322}"/>
              </a:ext>
            </a:extLst>
          </p:cNvPr>
          <p:cNvSpPr txBox="1"/>
          <p:nvPr/>
        </p:nvSpPr>
        <p:spPr>
          <a:xfrm>
            <a:off x="694552" y="910794"/>
            <a:ext cx="11294248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Approval and Merging Permissions</a:t>
            </a:r>
          </a:p>
          <a:p>
            <a:pPr marL="342900" indent="-34290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it is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Some repositories require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approvals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one or more team members before merging a PR.</a:t>
            </a:r>
          </a:p>
          <a:p>
            <a:pPr marL="342900" indent="-34290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it works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Even if all the checks pass, the PR may need to be approved by a designated person (e.g., the project owner or lead developer). This ensures that at least one person reviews the code before it’s merged.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742950" lvl="1" indent="-28575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create a feature, and once all checks pass (tests, linting, etc.), a reviewer (who is set as an approver) approves the PR, and then you can merge the PR into the main branch.</a:t>
            </a:r>
          </a:p>
        </p:txBody>
      </p:sp>
    </p:spTree>
    <p:extLst>
      <p:ext uri="{BB962C8B-B14F-4D97-AF65-F5344CB8AC3E}">
        <p14:creationId xmlns:p14="http://schemas.microsoft.com/office/powerpoint/2010/main" val="180140903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4051DEB-6220-6A0B-294A-D8671D893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29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F9A1F9-CDE2-5986-51DD-C0CE369748F7}"/>
              </a:ext>
            </a:extLst>
          </p:cNvPr>
          <p:cNvSpPr txBox="1"/>
          <p:nvPr/>
        </p:nvSpPr>
        <p:spPr>
          <a:xfrm>
            <a:off x="398164" y="833255"/>
            <a:ext cx="11265516" cy="5011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Dependency Check (Optional)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it is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Some repositories check for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dependency updates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ensure that there are no outdated or insecure dependencies in the code.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it works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This check makes sure that the PR doesn’t introduce any outdated libraries that could cause compatibility issues or security vulnerabilities.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Your PR includes an update to a library (e.g., upgrading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a newer version).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dependency check ensures that the update doesn’t conflict with other parts of the project, and the CI tools verify that the system still works as expected.</a:t>
            </a:r>
          </a:p>
        </p:txBody>
      </p:sp>
    </p:spTree>
    <p:extLst>
      <p:ext uri="{BB962C8B-B14F-4D97-AF65-F5344CB8AC3E}">
        <p14:creationId xmlns:p14="http://schemas.microsoft.com/office/powerpoint/2010/main" val="284830318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52AD3AE-B59A-1F84-6A46-C85B20EE6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30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6D5D7B-1431-EEBE-A677-843BC2C01139}"/>
              </a:ext>
            </a:extLst>
          </p:cNvPr>
          <p:cNvSpPr txBox="1"/>
          <p:nvPr/>
        </p:nvSpPr>
        <p:spPr>
          <a:xfrm>
            <a:off x="815247" y="974447"/>
            <a:ext cx="10521109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PR Checks are Shown on GitHub:</a:t>
            </a:r>
          </a:p>
          <a:p>
            <a:pPr marL="342900" indent="-34290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you create or update a PR, you'll see the status of each check in 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"Checks"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tab on GitHub.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example:</a:t>
            </a:r>
          </a:p>
          <a:p>
            <a:pPr marL="742950" lvl="1" indent="-28575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"CI Tests Passed"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Shows a green checkmark if all automated tests passed.</a:t>
            </a:r>
          </a:p>
          <a:p>
            <a:pPr marL="742950" lvl="1" indent="-28575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"Build Failed"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red X indicates that the build process failed.</a:t>
            </a:r>
          </a:p>
          <a:p>
            <a:pPr marL="742950" lvl="1" indent="-28575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"Pending Review"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label indicating that the PR still needs manual review and approval.</a:t>
            </a:r>
          </a:p>
          <a:p>
            <a:pPr marL="742950" lvl="1" indent="-28575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"Security Alert"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If there is a detected security vulnerability.</a:t>
            </a:r>
          </a:p>
        </p:txBody>
      </p:sp>
    </p:spTree>
    <p:extLst>
      <p:ext uri="{BB962C8B-B14F-4D97-AF65-F5344CB8AC3E}">
        <p14:creationId xmlns:p14="http://schemas.microsoft.com/office/powerpoint/2010/main" val="256650469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792BE84-3448-2348-B352-CD5BC083E5FD}"/>
              </a:ext>
            </a:extLst>
          </p:cNvPr>
          <p:cNvSpPr/>
          <p:nvPr/>
        </p:nvSpPr>
        <p:spPr>
          <a:xfrm>
            <a:off x="2524146" y="1595121"/>
            <a:ext cx="7920111" cy="3158754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b="1" dirty="0">
              <a:latin typeface="Poppins" pitchFamily="2" charset="77"/>
              <a:cs typeface="Poppins" pitchFamily="2" charset="77"/>
            </a:endParaRPr>
          </a:p>
          <a:p>
            <a:pPr algn="ctr"/>
            <a:r>
              <a:rPr lang="en-US" sz="2400" b="1" dirty="0">
                <a:latin typeface="Poppins" pitchFamily="2" charset="77"/>
                <a:cs typeface="Poppins" pitchFamily="2" charset="77"/>
              </a:rPr>
              <a:t>THANK YOU</a:t>
            </a:r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b="1" dirty="0">
              <a:latin typeface="Poppins" pitchFamily="2" charset="77"/>
              <a:cs typeface="Poppins" pitchFamily="2" charset="77"/>
            </a:endParaRPr>
          </a:p>
          <a:p>
            <a:pPr algn="ctr"/>
            <a:r>
              <a:rPr lang="en-US" sz="2400" b="1" dirty="0">
                <a:latin typeface="Poppins" pitchFamily="2" charset="77"/>
                <a:cs typeface="Poppins" pitchFamily="2" charset="77"/>
              </a:rPr>
              <a:t>Team –</a:t>
            </a:r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Foundations Of Cloud-native Computing &amp; </a:t>
            </a:r>
            <a:r>
              <a:rPr lang="en-US" sz="2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Devops</a:t>
            </a:r>
            <a:r>
              <a:rPr lang="en-US" sz="2800" dirty="0">
                <a:solidFill>
                  <a:schemeClr val="bg1"/>
                </a:solidFill>
              </a:rPr>
              <a:t>	</a:t>
            </a: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6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92614" y="2235201"/>
            <a:ext cx="3235570" cy="108321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591384277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Session-2</Template>
  <TotalTime>758</TotalTime>
  <Words>2786</Words>
  <Application>Microsoft Office PowerPoint</Application>
  <PresentationFormat>Widescreen</PresentationFormat>
  <Paragraphs>270</Paragraphs>
  <Slides>31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40" baseType="lpstr">
      <vt:lpstr>Arial</vt:lpstr>
      <vt:lpstr>Calibri</vt:lpstr>
      <vt:lpstr>Gill Sans MT</vt:lpstr>
      <vt:lpstr>Poppins</vt:lpstr>
      <vt:lpstr>Roboto</vt:lpstr>
      <vt:lpstr>Roboto-Regular</vt:lpstr>
      <vt:lpstr>Tahoma</vt:lpstr>
      <vt:lpstr>Times New Roman</vt:lpstr>
      <vt:lpstr>Gallery</vt:lpstr>
      <vt:lpstr>Department of CSIT</vt:lpstr>
      <vt:lpstr>Overview of  Version control systems</vt:lpstr>
      <vt:lpstr>Core functionalities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 Abhishek Guru</dc:creator>
  <cp:lastModifiedBy>Lavanya Susanna</cp:lastModifiedBy>
  <cp:revision>103</cp:revision>
  <dcterms:created xsi:type="dcterms:W3CDTF">2023-05-02T16:26:00Z</dcterms:created>
  <dcterms:modified xsi:type="dcterms:W3CDTF">2026-01-30T05:54:02Z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9D92E8B3CCDD4F159E81FC5DAC5EB7AA_13</vt:lpwstr>
  </property>
  <property fmtid="{D5CDD505-2E9C-101B-9397-08002B2CF9AE}" pid="3" name="KSOProductBuildVer">
    <vt:lpwstr>1033-12.2.0.17119</vt:lpwstr>
  </property>
</Properties>
</file>